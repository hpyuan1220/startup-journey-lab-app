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f5d9354414536" /><Relationship Type="http://schemas.openxmlformats.org/officeDocument/2006/relationships/extended-properties" Target="/docProps/app.xml" Id="Rf856161ce8a34f66" /><Relationship Type="http://schemas.openxmlformats.org/officeDocument/2006/relationships/officeDocument" Target="/ppt/presentation.xml" Id="R2303d7e0b8d2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bea61050bd492b"/>
  </p:sldMasterIdLst>
  <p:notesMasterIdLst>
    <p:notesMasterId xmlns:r="http://schemas.openxmlformats.org/officeDocument/2006/relationships" r:id="Rea91fd8c65384d2f"/>
  </p:notesMasterIdLst>
  <p:sldIdLst>
    <p:sldId xmlns:r="http://schemas.openxmlformats.org/officeDocument/2006/relationships" id="256" r:id="R10b6c848619f4f73"/>
    <p:sldId xmlns:r="http://schemas.openxmlformats.org/officeDocument/2006/relationships" id="257" r:id="Rf17ad9119e25453c"/>
    <p:sldId xmlns:r="http://schemas.openxmlformats.org/officeDocument/2006/relationships" id="258" r:id="Rc8499e191f6b4ca4"/>
    <p:sldId xmlns:r="http://schemas.openxmlformats.org/officeDocument/2006/relationships" id="259" r:id="Rc637b847c29749bb"/>
    <p:sldId xmlns:r="http://schemas.openxmlformats.org/officeDocument/2006/relationships" id="260" r:id="R7fc93a36c2d74dd5"/>
    <p:sldId xmlns:r="http://schemas.openxmlformats.org/officeDocument/2006/relationships" id="261" r:id="R799b759a79ba42b0"/>
    <p:sldId xmlns:r="http://schemas.openxmlformats.org/officeDocument/2006/relationships" id="262" r:id="R9c62f9b73ab04991"/>
    <p:sldId xmlns:r="http://schemas.openxmlformats.org/officeDocument/2006/relationships" id="263" r:id="Rd050c02edf304cc8"/>
    <p:sldId xmlns:r="http://schemas.openxmlformats.org/officeDocument/2006/relationships" id="264" r:id="Rc1ccff6540084b9f"/>
    <p:sldId xmlns:r="http://schemas.openxmlformats.org/officeDocument/2006/relationships" id="265" r:id="R1bb42e6996004fec"/>
    <p:sldId xmlns:r="http://schemas.openxmlformats.org/officeDocument/2006/relationships" id="266" r:id="Rbe4d9e19255e4382"/>
    <p:sldId xmlns:r="http://schemas.openxmlformats.org/officeDocument/2006/relationships" id="267" r:id="Rfe163b9c65234b94"/>
    <p:sldId xmlns:r="http://schemas.openxmlformats.org/officeDocument/2006/relationships" id="268" r:id="R82d203bf56354e7e"/>
    <p:sldId xmlns:r="http://schemas.openxmlformats.org/officeDocument/2006/relationships" id="269" r:id="R44354097a5374082"/>
    <p:sldId xmlns:r="http://schemas.openxmlformats.org/officeDocument/2006/relationships" id="270" r:id="R884623fdd4e3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b8a77e641a4f2c" /><Relationship Type="http://schemas.openxmlformats.org/officeDocument/2006/relationships/slideMaster" Target="/ppt/slideMasters/slideMaster1.xml" Id="R4ebea61050bd492b" /><Relationship Type="http://schemas.openxmlformats.org/officeDocument/2006/relationships/notesMaster" Target="/ppt/notesMasters/notesMaster1.xml" Id="Rea91fd8c65384d2f" /><Relationship Type="http://schemas.openxmlformats.org/officeDocument/2006/relationships/presProps" Target="/ppt/presProps.xml" Id="R297e984a03ce4785" /><Relationship Type="http://schemas.openxmlformats.org/officeDocument/2006/relationships/tableStyles" Target="/ppt/tableStyles.xml" Id="R6d265feffc8f4624" /><Relationship Type="http://schemas.openxmlformats.org/officeDocument/2006/relationships/slide" Target="/ppt/slides/slide1.xml" Id="R10b6c848619f4f73" /><Relationship Type="http://schemas.openxmlformats.org/officeDocument/2006/relationships/slide" Target="/ppt/slides/slide2.xml" Id="Rf17ad9119e25453c" /><Relationship Type="http://schemas.openxmlformats.org/officeDocument/2006/relationships/slide" Target="/ppt/slides/slide3.xml" Id="Rc8499e191f6b4ca4" /><Relationship Type="http://schemas.openxmlformats.org/officeDocument/2006/relationships/slide" Target="/ppt/slides/slide4.xml" Id="Rc637b847c29749bb" /><Relationship Type="http://schemas.openxmlformats.org/officeDocument/2006/relationships/slide" Target="/ppt/slides/slide5.xml" Id="R7fc93a36c2d74dd5" /><Relationship Type="http://schemas.openxmlformats.org/officeDocument/2006/relationships/slide" Target="/ppt/slides/slide6.xml" Id="R799b759a79ba42b0" /><Relationship Type="http://schemas.openxmlformats.org/officeDocument/2006/relationships/slide" Target="/ppt/slides/slide7.xml" Id="R9c62f9b73ab04991" /><Relationship Type="http://schemas.openxmlformats.org/officeDocument/2006/relationships/slide" Target="/ppt/slides/slide8.xml" Id="Rd050c02edf304cc8" /><Relationship Type="http://schemas.openxmlformats.org/officeDocument/2006/relationships/slide" Target="/ppt/slides/slide9.xml" Id="Rc1ccff6540084b9f" /><Relationship Type="http://schemas.openxmlformats.org/officeDocument/2006/relationships/slide" Target="/ppt/slides/slide10.xml" Id="R1bb42e6996004fec" /><Relationship Type="http://schemas.openxmlformats.org/officeDocument/2006/relationships/slide" Target="/ppt/slides/slide11.xml" Id="Rbe4d9e19255e4382" /><Relationship Type="http://schemas.openxmlformats.org/officeDocument/2006/relationships/slide" Target="/ppt/slides/slide12.xml" Id="Rfe163b9c65234b94" /><Relationship Type="http://schemas.openxmlformats.org/officeDocument/2006/relationships/slide" Target="/ppt/slides/slide13.xml" Id="R82d203bf56354e7e" /><Relationship Type="http://schemas.openxmlformats.org/officeDocument/2006/relationships/slide" Target="/ppt/slides/slide14.xml" Id="R44354097a5374082" /><Relationship Type="http://schemas.openxmlformats.org/officeDocument/2006/relationships/slide" Target="/ppt/slides/slide15.xml" Id="R884623fdd4e3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cb9e30f7c84b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002d0d5554e98" /><Relationship Type="http://schemas.openxmlformats.org/officeDocument/2006/relationships/notesMaster" Target="/ppt/notesMasters/notesMaster1.xml" Id="R9e0dbb76fdf642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0c2eb1f8ed4ccd" /><Relationship Type="http://schemas.openxmlformats.org/officeDocument/2006/relationships/notesMaster" Target="/ppt/notesMasters/notesMaster1.xml" Id="R96225d769bb44b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7785c9a6774993" /><Relationship Type="http://schemas.openxmlformats.org/officeDocument/2006/relationships/notesMaster" Target="/ppt/notesMasters/notesMaster1.xml" Id="R894835050def4e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dbcf00161541cc" /><Relationship Type="http://schemas.openxmlformats.org/officeDocument/2006/relationships/notesMaster" Target="/ppt/notesMasters/notesMaster1.xml" Id="Rca4cc9f5e9534c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9e06008d6f4a26" /><Relationship Type="http://schemas.openxmlformats.org/officeDocument/2006/relationships/notesMaster" Target="/ppt/notesMasters/notesMaster1.xml" Id="Rf0db50c4bcd8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b8b335dc72451d" /><Relationship Type="http://schemas.openxmlformats.org/officeDocument/2006/relationships/notesMaster" Target="/ppt/notesMasters/notesMaster1.xml" Id="R155376b248ee44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a930eda2b84f14" /><Relationship Type="http://schemas.openxmlformats.org/officeDocument/2006/relationships/notesMaster" Target="/ppt/notesMasters/notesMaster1.xml" Id="Rd52ab873fdd6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888fc9696d4dc2" /><Relationship Type="http://schemas.openxmlformats.org/officeDocument/2006/relationships/notesMaster" Target="/ppt/notesMasters/notesMaster1.xml" Id="R1c24bb05101e49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78a533a7e4015" /><Relationship Type="http://schemas.openxmlformats.org/officeDocument/2006/relationships/notesMaster" Target="/ppt/notesMasters/notesMaster1.xml" Id="Ra3f71d24f7f64f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f2eed9c584b48" /><Relationship Type="http://schemas.openxmlformats.org/officeDocument/2006/relationships/notesMaster" Target="/ppt/notesMasters/notesMaster1.xml" Id="Rc4950bd809534a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b74719e4a149c0" /><Relationship Type="http://schemas.openxmlformats.org/officeDocument/2006/relationships/notesMaster" Target="/ppt/notesMasters/notesMaster1.xml" Id="Rbbeb3d8d905544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0b10d0723a41df" /><Relationship Type="http://schemas.openxmlformats.org/officeDocument/2006/relationships/notesMaster" Target="/ppt/notesMasters/notesMaster1.xml" Id="R6f17f5e60b004b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318c11691047da" /><Relationship Type="http://schemas.openxmlformats.org/officeDocument/2006/relationships/notesMaster" Target="/ppt/notesMasters/notesMaster1.xml" Id="R1a0aedeeac3440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bfc91d764a446b" /><Relationship Type="http://schemas.openxmlformats.org/officeDocument/2006/relationships/notesMaster" Target="/ppt/notesMasters/notesMaster1.xml" Id="R7abdebfe3d9841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9c02e4f4dc4f69" /><Relationship Type="http://schemas.openxmlformats.org/officeDocument/2006/relationships/notesMaster" Target="/ppt/notesMasters/notesMaster1.xml" Id="R1517a1df5540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開場：本週不需要立即決定創業題目，也不需要提出產品或商業模式。先找到你願意持續理解的真實問題。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請同學想一個自己的校園經驗。示例人物與場景來自指南，不是實測研究資料。先描述發生了什麼。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以五項學習成果說明本週進度。創業題目、產品與商業模式不屬於本週提交要求。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影片連結：https://www.youtube.com/watch?v=BUE-icVYRFU</a:t>
            </a:r>
          </a:p>
          <a:p xmlns:a="http://schemas.openxmlformats.org/drawingml/2006/main">
            <a:r>
              <a:t>這三點是學習指南的教學整理，不是影片逐字引言。播放影片後，引導學生連回自己的經驗。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帶學生循序完成三段記錄。若不知道發生頻率，不必猜測，先寫待確認。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本頁原句與學生回答均為指南教學示例，非實測資料。請同學先自行思考，再和同伴分享自己的回答。自己的感受是線索；</a:t>
            </a:r>
          </a:p>
          <a:p xmlns:a="http://schemas.openxmlformats.org/drawingml/2006/main">
            <a:r>
              <a:t>其他人的經驗仍要了解。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本頁原句與學生回答均為指南教學示例，非實測資料。請同學先自行思考，再和同伴分享自己的回答。把原句與自己的解讀分開。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本頁原句與學生回答均為指南教學示例，非實測資料。請同學先自行思考，再和同伴分享自己的回答。約 20 人排隊，</a:t>
            </a:r>
          </a:p>
          <a:p xmlns:a="http://schemas.openxmlformats.org/drawingml/2006/main">
            <a:r>
              <a:t>不等於每個人等了 20 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本頁原句與學生回答均為指南教學示例，非實測資料。請同學先自行思考，再和同伴分享自己的回答。願意提前選餐，</a:t>
            </a:r>
          </a:p>
          <a:p xmlns:a="http://schemas.openxmlformats.org/drawingml/2006/main">
            <a:r>
              <a:t>目前仍是待驗證的假設。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左右兩欄為指南教學示例。請學生說明每個事實的觀察來源，再將還未確認的內容留在假設欄。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範例摘自指南；人物條件、20分鐘等數字不是實測結論。發生頻率若尚未觀察，就寫待確認。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請學生填寫自己的個人起點卡前四欄。投影片欄位是可編輯文字與線條；課堂提交依網站與老師指定方式進行。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確認第8欄包含期待與擔心兩項。完成後，請同伴協助檢查事實與假設有沒有混在一起。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這是配合指南目標新增的延伸提問示例。下週將從多個問題中挑選一個值得深入研究的方向；保留本週觀察，作為訪談與測試的起點。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不自行添加截止時間或網站網址。請依老師指定的網站與提交方式操作。最後確認學生已保存資料並檢查完成度。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6c493a39744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47ed36741c4033" /><Relationship Type="http://schemas.openxmlformats.org/officeDocument/2006/relationships/slideLayout" Target="/ppt/slideLayouts/slideLayout1.xml" Id="R032bb4cae2bb48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bb4cae2bb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fe3ca53524f52" /><Relationship Type="http://schemas.openxmlformats.org/officeDocument/2006/relationships/notesSlide" Target="/ppt/notesSlides/notesSlide1.xml" Id="R19cc57f36b8e45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6e2eb8ee4d5d" /><Relationship Type="http://schemas.openxmlformats.org/officeDocument/2006/relationships/notesSlide" Target="/ppt/notesSlides/notesSlide2.xml" Id="R335df71911da4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af7aa4511420b" /><Relationship Type="http://schemas.openxmlformats.org/officeDocument/2006/relationships/notesSlide" Target="/ppt/notesSlides/notesSlide3.xml" Id="Rd02e4000e399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be9427764466a" /><Relationship Type="http://schemas.openxmlformats.org/officeDocument/2006/relationships/notesSlide" Target="/ppt/notesSlides/notesSlide4.xml" Id="R6c16bddeac7e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928ee769845d8" /><Relationship Type="http://schemas.openxmlformats.org/officeDocument/2006/relationships/notesSlide" Target="/ppt/notesSlides/notesSlide5.xml" Id="Rad8a827ff569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ade04ef854109" /><Relationship Type="http://schemas.openxmlformats.org/officeDocument/2006/relationships/notesSlide" Target="/ppt/notesSlides/notesSlide6.xml" Id="Re7eebe3475df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7fe688c7242de" /><Relationship Type="http://schemas.openxmlformats.org/officeDocument/2006/relationships/notesSlide" Target="/ppt/notesSlides/notesSlide7.xml" Id="R882ca999841d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990b7dd2f418c" /><Relationship Type="http://schemas.openxmlformats.org/officeDocument/2006/relationships/notesSlide" Target="/ppt/notesSlides/notesSlide8.xml" Id="R5f4d466134964b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079ff0c9d4338" /><Relationship Type="http://schemas.openxmlformats.org/officeDocument/2006/relationships/notesSlide" Target="/ppt/notesSlides/notesSlide9.xml" Id="R1aa0a51e139f43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ae5b6497c4e82" /><Relationship Type="http://schemas.openxmlformats.org/officeDocument/2006/relationships/notesSlide" Target="/ppt/notesSlides/notesSlide10.xml" Id="Rbc973bb0302449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f2427a857444b" /><Relationship Type="http://schemas.openxmlformats.org/officeDocument/2006/relationships/notesSlide" Target="/ppt/notesSlides/notesSlide11.xml" Id="R2937f07ffe0148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35d2e12645d5" /><Relationship Type="http://schemas.openxmlformats.org/officeDocument/2006/relationships/notesSlide" Target="/ppt/notesSlides/notesSlide12.xml" Id="R8f2567fa7d2648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0d6895630497b" /><Relationship Type="http://schemas.openxmlformats.org/officeDocument/2006/relationships/notesSlide" Target="/ppt/notesSlides/notesSlide13.xml" Id="Re0615c96120043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83c88f114430e" /><Relationship Type="http://schemas.openxmlformats.org/officeDocument/2006/relationships/notesSlide" Target="/ppt/notesSlides/notesSlide14.xml" Id="Rcea4dd5c8b4140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573531eca4918" /><Relationship Type="http://schemas.openxmlformats.org/officeDocument/2006/relationships/notesSlide" Target="/ppt/notesSlides/notesSlide15.xml" Id="R94b882ecf8ad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1  /  Should You Start A Startup?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Should You Start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 Startup?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從你親身看見的問題開始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本週任務：記下一個值得理解的生活困擾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192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4B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00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57275"/>
            <a:ext cx="1143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9524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635BE-3EC3-46CF-8521-D60667B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校園情境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C87ED-DFF8-45BD-AB94-149DA64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午餐排隊，為什麼讓人這麼困擾？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B84B-9BC9-4C52-A25B-2F1FF44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先看見一個具體現場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3D2D0-F2B6-4AEA-9D63-2E807A9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693C-BC4D-46F8-BE93-FD68E474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81695-5675-4D2C-A0AD-57CB062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E9758-1074-4800-BC68-A8EA754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9246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3A0D5-2350-4792-9DCE-EFB72089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51EDB-7E14-4C4F-B67B-5D5501C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6229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「我又要遲到了，</a:t>
            </a:r>
          </a:p>
          <a:p xmlns:a="http://schemas.openxmlformats.org/drawingml/2006/main">
            <a:pPr>
              <a:def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午餐排隊根本來不及。」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5FBF1-E297-4C20-A32E-F2F959A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615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星期三中午  /  校園餐廳外  /  同學小芸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DC5E7-8CDE-4F33-92F6-656640C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71775"/>
            <a:ext cx="3305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DE6FE-4084-4883-825E-FECA9C4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校園餐廳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AD12A-7A09-46C5-996C-CEFF3D7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0AC28-8FB7-4957-A9C4-85B7860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CC67B-F573-4E95-AD9C-24E912E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BA32B-F350-4B1F-AF92-2DAB162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B3D5E-3E31-46DE-8AA8-7D8C218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4CD36-EC97-485D-92FD-6C37088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7CC69-72DE-4E07-878B-3ECE8A5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9A704-B3C7-4122-8AA3-C065310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CD60C-D707-4FC2-BE2F-55B296BD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458D7-8388-4F60-B024-A8249B1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7161A-F112-4D15-A01F-1AA4C30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60602-FDDD-401C-9ACA-59F2625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23766-27D3-4D4D-BFE5-010DE82E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6150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9209A-0562-4EAE-B62C-A545A6E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6385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FC0D9-77BD-448C-B77B-E04A3351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8766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B356F-5F7B-4013-B995-09FAE01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29200"/>
            <a:ext cx="3495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E11BE-F545-4D47-A7F8-F63D275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你最近聽到的抱怨，發生在哪個現場？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47F41-F816-4276-ABEC-7015C8FD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8162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教學示例</a:t>
            </a:r>
          </a:p>
        </p:txBody>
      </p:sp>
    </p:spTree>
    <p:extLst>
      <p:ext uri="{BB962C8B-B14F-4D97-AF65-F5344CB8AC3E}">
        <p14:creationId xmlns:p14="http://schemas.microsoft.com/office/powerpoint/2010/main" val="55228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9112B-AF49-4586-9131-83605F2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學習目標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81EBE-4B96-455F-82DC-5C98324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本週完成五件事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2160-BDA4-4FAA-BDED-9C0B2FFF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把生活中的困擾，記成可以追問的觀察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2D190-0077-4042-95AB-07791A1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E1B35-3DCA-4E0A-B4A3-1122D58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C003F-1A5D-4AA1-926C-22C4C0DB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207E2-193A-4E03-AB6E-2237DBF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4566E-A6F3-4925-84AC-96F8CFE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45BDF-C77C-4A9F-9FA8-803082A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說出為何要從真實問題與使用者開始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A1C7-4208-48A0-9D4E-29C4759A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2417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91A01-EB57-49D8-9BBE-3FCEA17D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7EF0-505D-4AD9-971A-E8FDA31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DC3D4-0D4C-464F-A013-A471C5F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記下一句親耳聽到或親身經歷的抱怨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C0E7E-6F84-4C90-A68C-645818E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6FA28-F89E-4384-9A74-EE4157B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82C62-A964-48F0-BBB7-4654FB3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C8157-5EED-4972-84FA-3405219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說清楚時間、地點、人物與情境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3D928-9103-48FE-BEB9-AAB525A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910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0CAE7-2608-421F-AC71-1C3BD9D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ACF16-432E-46DF-87CC-6636218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7A801-4ABA-4B34-BD43-FC43FB3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分開「已知事實」與「待驗證假設」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CCA0F-4155-48B3-A5CC-FFF42E1F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D5A3E-E75B-40B7-AAB1-3CE42A6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F3A3C-87F9-4C2A-9441-2C7823A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53A51-FB7E-4696-B708-F309D4B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寫下下週最想問使用者的一題</a:t>
            </a:r>
          </a:p>
        </p:txBody>
      </p:sp>
    </p:spTree>
    <p:extLst>
      <p:ext uri="{BB962C8B-B14F-4D97-AF65-F5344CB8AC3E}">
        <p14:creationId xmlns:p14="http://schemas.microsoft.com/office/powerpoint/2010/main" val="744320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51CBA-82C8-49B5-A679-27E21DDA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課堂影片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C9374-2343-4BE3-AE6F-481B7C3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影片重點：你願意持續理解什麼問題？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6ED46-4B5C-4DE7-94D9-EF51017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Should You Start A Startup?｜YC Startup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743C-E6CE-49C9-BD81-75FB94AC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1E72-43CF-4ECE-A142-A56C8C1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9966-2A99-4B30-A195-E662ECAA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6F5E4-C3D8-4E4D-8F60-4C7501D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E7AC2-3FA7-4FF0-91BB-4CE9E08D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7D7B0-EB44-4452-8EC9-27585F6E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F5000-F6DE-4B6B-AB29-8976DBD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你真正關心什麼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69BBE-5B34-47BC-AC81-43C2149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留意自己願意持續</a:t>
            </a:r>
          </a:p>
          <a:p xmlns:a="http://schemas.openxmlformats.org/drawingml/2006/main">
            <a:pPr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探索的生活問題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711E8-48F8-4470-B2F2-9B9309AA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2E1C9-ED85-4072-8D04-16B70667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DF27D-3C58-4069-AC3A-1DFF4E8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AED7C-4A37-439A-AD2D-EC14CC7F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先理解人與問題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30F38-691F-4AD4-AB4F-B49E192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從真實情境出發，</a:t>
            </a:r>
          </a:p>
          <a:p xmlns:a="http://schemas.openxmlformats.org/drawingml/2006/main">
            <a:pPr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了解使用者的困擾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8B680-9E4E-4BFF-81B0-EC04CA5C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C8991-0650-474B-940A-AE6FFAE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F71F3-B5CE-448C-A307-D2AC2F3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6F892-140A-4F15-A4D1-276CA717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接受不確定與修改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64BC5-91BD-4DD7-9BF4-DE15765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探索過程中，</a:t>
            </a:r>
          </a:p>
          <a:p xmlns:a="http://schemas.openxmlformats.org/drawingml/2006/main">
            <a:pPr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持續學習與調整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80CEC-8842-4BB2-942D-C861E4E0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重點依本週學習指南整理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F63D8-2087-40C4-9F97-289B055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影片：youtube.com/watch?v=BUE-icVYRFU</a:t>
            </a:r>
          </a:p>
        </p:txBody>
      </p:sp>
    </p:spTree>
    <p:extLst>
      <p:ext uri="{BB962C8B-B14F-4D97-AF65-F5344CB8AC3E}">
        <p14:creationId xmlns:p14="http://schemas.microsoft.com/office/powerpoint/2010/main" val="1121047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練習流程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三段痛點發現練習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原句與現場 → 痛點輪廓 → 事實與未知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原句與現場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誰說的？何時？在哪裡？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保留一句沒有修飾的抱怨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痛點輪廓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8140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誰常遇到？多久一次？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5765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影響是什麼？現在怎麼處理？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9105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事實與未知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815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看見什麼？猜測什麼？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578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下週最想追問哪一題？</a:t>
            </a:r>
          </a:p>
        </p:txBody>
      </p:sp>
    </p:spTree>
    <p:extLst>
      <p:ext uri="{BB962C8B-B14F-4D97-AF65-F5344CB8AC3E}">
        <p14:creationId xmlns:p14="http://schemas.microsoft.com/office/powerpoint/2010/main" val="1180707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8D3BC-6F9C-4FF6-9408-22B5502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討論 1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E94B8-638C-45EE-88C9-E792C8F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我為什麼關心這個問題？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ACF9F-5FEB-48CE-B65C-931C791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把個人經驗與生活影響說清楚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8BBCC-0F37-4529-8B9C-0F6B5AD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C4C18-141E-42C6-965D-54526F9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9D397-E385-497D-A18F-C21B86E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E61CC-952C-4C65-A7AE-3F92086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147BF-0043-4F18-8B38-7B983C2F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12AE4-051D-4B58-90C9-DD2C0CD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E2415-B7F2-46A0-ABCC-812EFEF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我常因午餐排隊太久，</a:t>
            </a:r>
          </a:p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吃得很趕，</a:t>
            </a:r>
          </a:p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下午上課也很累。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99F11-198E-4930-97B7-EF417B4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198EC-FC68-4F5C-B41F-E58C672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哪段經驗讓你在意？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E6F1-EA1D-4F56-BAA8-5C25D5B6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13E54-D23D-4157-9535-75F603A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它如何影響你的生活？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1BAE5-9506-44AE-9F47-956A8D56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自己的感受是線索；其他人的經驗仍要了解。</a:t>
            </a:r>
          </a:p>
        </p:txBody>
      </p:sp>
    </p:spTree>
    <p:extLst>
      <p:ext uri="{BB962C8B-B14F-4D97-AF65-F5344CB8AC3E}">
        <p14:creationId xmlns:p14="http://schemas.microsoft.com/office/powerpoint/2010/main" val="110252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2CC10-49A9-4B2F-A703-CFEEA17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討論 2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271D0-F42F-410F-8C54-D04BF509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我聽到或看到的原句是什麼？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9C021-668F-4EC2-B07A-968DC09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保留當事人的說法，再補上現場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32BB0-E85A-4B0B-9ED0-9F8DA0A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9744F-70CA-4C57-B905-36B2B11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F4AE-5BC6-4D0B-9AEF-89BB493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C16C1-4F34-4C61-A4CE-D19D4A8D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92AF1-462B-4BBA-9616-A393CA3B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52D7E-E401-4F1A-912A-DD72A31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59FCB-3F76-4A54-B0C6-739F0F74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「我又要遲到了，</a:t>
            </a:r>
          </a:p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午餐排隊根本來不及。」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8F928-A58F-4CEC-B00E-8B67AEC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61E7D-3F50-4CDF-BA4D-9BDCEA0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人物：同學小芸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6E7C0-AA95-4301-9EC4-3A9BBA3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F70FB-348E-42A6-8EB7-2452D5ED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時間與地點：</a:t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星期三中午，校園餐廳外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9EBA7-F7A6-4CBC-8E46-A7A6B88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把原句與自己的解讀分開。</a:t>
            </a:r>
          </a:p>
        </p:txBody>
      </p:sp>
    </p:spTree>
    <p:extLst>
      <p:ext uri="{BB962C8B-B14F-4D97-AF65-F5344CB8AC3E}">
        <p14:creationId xmlns:p14="http://schemas.microsoft.com/office/powerpoint/2010/main" val="1195954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AF06B-144A-4A96-B49C-2E71E3D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討論 3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BC339-A0B6-42D3-8A8E-4305C418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哪些是事實？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A7BF4-4954-413B-8C5B-7EE13B29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寫下可以交代時間、地點與觀察的內容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CCA24-C90C-4AC9-B08C-76D9915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0C966-124B-4D5C-8E84-C7D0796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4A360-A1BF-4395-9A63-31FDBD9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A2FF7-5422-4527-9283-E7FB9EC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F40A1-F748-4CD6-8C45-46E4FB9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F9EB-35F8-4D32-8ACF-9021618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CEFE7-8FAF-4F0E-A3B3-5D63468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星期三 12:10 至 12:30，</a:t>
            </a:r>
          </a:p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我看到餐廳外</a:t>
            </a:r>
          </a:p>
          <a:p xmlns:a="http://schemas.openxmlformats.org/drawingml/2006/main">
            <a:pPr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約 20 人排隊。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51824-B881-4CAE-80DB-01C0CCF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116C6-1E98-4F6C-AD27-375E1B7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什麼時候？在哪裡？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B4C04-78D1-4EFC-9323-45BC7D6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94763-1F7F-43DA-81BE-D51ECFE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你實際看到什麼？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2092A-4D51-4639-9619-2FF162B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約 20 人排隊，不等於每個人等了 20 分鐘。</a:t>
            </a:r>
          </a:p>
        </p:txBody>
      </p:sp>
    </p:spTree>
    <p:extLst>
      <p:ext uri="{BB962C8B-B14F-4D97-AF65-F5344CB8AC3E}">
        <p14:creationId xmlns:p14="http://schemas.microsoft.com/office/powerpoint/2010/main" val="1045349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28F05-7C65-4498-B38D-E705A99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1  /  討論 4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577F5-BFBD-4B0C-9DC2-8068A841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哪些還不知道？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7C534-3C74-43B6-913C-16C1246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把猜測寫成待確認的問題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1133-4200-4B6F-9CEE-5722164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F5D04-D424-463C-A3C0-24F671A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82062-99BC-4CC4-96B2-29A7201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09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AA4CA-17E2-4DD5-B9C6-C1A6B9B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16438-45F4-42A9-9F1D-A85AC0AE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8CDEF-17FE-4567-8A90-8165A12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9A299-D7C3-4772-9E83-544E07D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我不知道學生是否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願意提前選餐，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換取較短的等待時間。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B7223-C1B6-443D-A09E-BC25CA8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B3A6D-F741-4453-8E90-956BE00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其他人也有相同困擾嗎？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E581B-F7EA-41C0-933A-86CADDD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8E166-5CED-4A9A-A28D-4B61ECE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現在如何處理？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願意改變習慣嗎？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55943-4972-48DF-9A48-1C155A9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願意提前選餐，目前仍是待驗證的假設。</a:t>
            </a:r>
          </a:p>
        </p:txBody>
      </p:sp>
    </p:spTree>
    <p:extLst>
      <p:ext uri="{BB962C8B-B14F-4D97-AF65-F5344CB8AC3E}">
        <p14:creationId xmlns:p14="http://schemas.microsoft.com/office/powerpoint/2010/main" val="112115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辨識證據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事實與假設，分開寫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已經看見的，與仍需確認的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479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事實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67075"/>
            <a:ext cx="4886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星期三 12:10–12:30，</a:t>
            </a:r>
          </a:p>
          <a:p xmlns:a="http://schemas.openxmlformats.org/drawingml/2006/main">
            <a:pPr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餐廳外約 20 人排隊。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57725"/>
            <a:ext cx="488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這次現場觀察到了什麼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372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3721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假設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67075"/>
            <a:ext cx="4886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學生願意提前選餐，</a:t>
            </a:r>
          </a:p>
          <a:p xmlns:a="http://schemas.openxmlformats.org/drawingml/2006/main">
            <a:pPr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換取較短的等待時間。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57725"/>
            <a:ext cx="488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這個想法尚待確認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有排隊現象，不代表預約取餐就是需要的解法</a:t>
            </a:r>
          </a:p>
        </p:txBody>
      </p:sp>
    </p:spTree>
    <p:extLst>
      <p:ext uri="{BB962C8B-B14F-4D97-AF65-F5344CB8AC3E}">
        <p14:creationId xmlns:p14="http://schemas.microsoft.com/office/powerpoint/2010/main" val="19064308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758EE-CD86-48B7-9528-D7F1ABB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教學示例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8B2D-B5A5-4C29-AC67-4F609BC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把痛點輪廓補完整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344C-5FEC-4E4B-ADC7-6A1F81F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了解受影響的人，也記錄他們現在怎麼處理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DA960-2142-4AA8-995C-CA83244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1B358-EF55-433A-8C01-0CA7654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8098-6BDA-42DF-A127-0FA3683F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7CC-9AE6-46B1-9743-23518AD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4A629-9C9A-413E-B4D0-4A97011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受影響的人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1B910-5196-43A9-BEA5-4EEAB468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38400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中午只有 50 分鐘空檔的學生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A165C-D9D7-43F9-ACA1-D8242F9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2895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C1EEE-5161-4193-8F3E-7037FA3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4F02C-5EE6-4782-B407-6B2ECB4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發生的情境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D529-F489-4B5D-89AC-1E01DFEC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09925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午餐尖峰時段排隊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FCBDC-21FE-44B9-894A-F61DFD2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00475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E1DD2-4CD5-4252-ABCC-53AC0262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A06E9-B0C2-4FDE-90A6-C2391F0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生活中的影響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CEE49-84FB-4548-8DE8-7C47D42C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81450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吃得很趕，甚至不吃午餐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18B70-D194-4C9C-8FE3-6F5886E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0C033-9B59-4F45-B65B-E28E242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17F3F-EA23-412B-8332-A63CBF0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目前的做法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E5E0B-8F52-432E-AB48-77C1222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52975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提早 20 分鐘排隊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F7644-0D00-471F-B615-B1B17A0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55734-41A4-4D8E-AB83-784EDE4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待確認：發生頻率，以及其他學生是否有相同經驗</a:t>
            </a:r>
          </a:p>
        </p:txBody>
      </p:sp>
    </p:spTree>
    <p:extLst>
      <p:ext uri="{BB962C8B-B14F-4D97-AF65-F5344CB8AC3E}">
        <p14:creationId xmlns:p14="http://schemas.microsoft.com/office/powerpoint/2010/main" val="1083329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本週產出 1 /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個人起點卡｜先記下觀察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用你自己的真實經驗填寫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一句原話或親身的抱怨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保留原意，寫下具體說法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發生的情境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時間、地點、人物與當時發生的事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受到影響的人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誰遇到這個困擾？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生活不便的描述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它如何影響日常生活？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FA8C43-4D14-4E8C-855D-2889AFA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本週產出 2 /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9ED36-4AA3-4F9F-9C60-211D2D8A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個人起點卡｜再寫下未知與期待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A5486-E8D9-4987-855E-C6CD366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先分清證據，再留下下週要追問的方向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4BA38-8990-412B-9C1D-0A8E390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4054D-90AA-4ABA-B0B0-B3C720B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A8A27-4E4A-4434-B71C-4B3B7CA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D3F80-E2AD-43FA-9AFB-1FBFA3C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9ABDC-4359-4ED4-BB66-A1ED698C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DD043-484B-4C4A-B588-72EC2FA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F8BC1-6030-49A9-A850-933F9CE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目前知道的事實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C1FD6-4D57-4EE3-9121-C6B9E154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記錄看見或聽到的內容與情境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2CB0C-DADA-4EF6-9188-22027D6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3E805-98A1-43EE-8DF6-38C4DB29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94AED-AC06-4358-BA1C-DF61F51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15D75-B599-4B34-AA8C-DABD956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9139F-08DB-4996-BDAA-D6A9B34A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仍待驗證的假設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AF7D7-1561-488C-94AC-F6C0FDB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哪些還是猜測？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9A6C0-5AB0-423D-BB2B-D84337A1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CEDE4-238E-4285-93C9-C6D5E45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9DA36-489E-40FA-AA2C-1E1024E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A975C-BB8D-4E24-9AD9-B9306A4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CD130-7FBF-4137-A50A-C8E9AA79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下週最想問的一題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EB1A9-C2E4-4B8F-BA67-C669AF3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先了解使用者的真實經驗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D0B71-E992-4185-9356-2C5A207D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16008-54D5-4AF7-AF78-8DEDE60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4CA82-DE00-48D0-9AB8-9C49637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2A4D8-F5BC-4374-83B4-B3FE8D20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1134F-C9C8-44DF-9CAB-24A00222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最期待與最擔心的事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8F6E3-4705-46D0-A1EC-BB3B66B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期待：＿＿＿＿　擔心：＿＿＿＿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E9309-FE12-4B5B-83F7-C857AF7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27401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1  /  準備訪談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下週，我想問使用者什麼？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先了解最近一次真實經驗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0287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「你最近一次午餐排隊，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從開始排到吃完，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發生了什麼事？」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可以追問：當時怎麼處理？造成什麼困擾？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延伸提問示例｜請換成你想了解的問題與情境</a:t>
            </a:r>
          </a:p>
        </p:txBody>
      </p:sp>
    </p:spTree>
    <p:extLst>
      <p:ext uri="{BB962C8B-B14F-4D97-AF65-F5344CB8AC3E}">
        <p14:creationId xmlns:p14="http://schemas.microsoft.com/office/powerpoint/2010/main" val="1456207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本週完成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離堂前提交清單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保存、確認，再依老師指定方式繳交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383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原話、情境、受影響的人與生活不便已填寫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已分開目前事實與待驗證假設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已寫下下週最想問使用者的一題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已寫下最期待與最擔心的事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9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已在網站保存資料，並確認完成度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9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已依老師指定方式繳交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25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保留本週觀察，帶到下週。</a:t>
            </a:r>
          </a:p>
        </p:txBody>
      </p:sp>
    </p:spTree>
    <p:extLst>
      <p:ext uri="{BB962C8B-B14F-4D97-AF65-F5344CB8AC3E}">
        <p14:creationId xmlns:p14="http://schemas.microsoft.com/office/powerpoint/2010/main" val="1481128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2026-09-11T12:37:25.8320000Z</dcterms:created>
  <dcterms:modified xsi:type="dcterms:W3CDTF">2026-09-11T12:37:25.8320000Z</dcterms:modified>
</coreProperties>
</file>