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a2c494ff6534158" Type="http://schemas.openxmlformats.org/package/2006/relationships/metadata/core-properties" Target="docProps/core.xml"/><Relationship Id="Rd7e0ccb774ee4da3" Type="http://schemas.openxmlformats.org/officeDocument/2006/relationships/officeDocument" Target="ppt/presentation.xml"/><Relationship Id="Red5eaeb31f1f489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d81ccdc3d4373"/>
  </p:sldMasterIdLst>
  <p:notesMasterIdLst>
    <p:notesMasterId xmlns:r="http://schemas.openxmlformats.org/officeDocument/2006/relationships" r:id="Rae5565e222f94311"/>
  </p:notesMasterIdLst>
  <p:sldIdLst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  <p:sldId xmlns:ns0="http://schemas.openxmlformats.org/officeDocument/2006/relationships" id="295" ns0:id="rId45"/>
    <p:sldId xmlns:ns0="http://schemas.openxmlformats.org/officeDocument/2006/relationships" id="296" ns0:id="rId46"/>
    <p:sldId xmlns:ns0="http://schemas.openxmlformats.org/officeDocument/2006/relationships" id="297" ns0:id="rId47"/>
    <p:sldId xmlns:ns0="http://schemas.openxmlformats.org/officeDocument/2006/relationships" id="298" ns0:id="rId48"/>
    <p:sldId xmlns:ns0="http://schemas.openxmlformats.org/officeDocument/2006/relationships" id="299" ns0:id="rId49"/>
    <p:sldId xmlns:ns0="http://schemas.openxmlformats.org/officeDocument/2006/relationships" id="300" ns0:id="rId50"/>
    <p:sldId xmlns:ns0="http://schemas.openxmlformats.org/officeDocument/2006/relationships" id="301" ns0:id="rId51"/>
    <p:sldId xmlns:ns0="http://schemas.openxmlformats.org/officeDocument/2006/relationships" id="302" ns0:id="rId52"/>
    <p:sldId xmlns:ns0="http://schemas.openxmlformats.org/officeDocument/2006/relationships" id="303" ns0:id="rId53"/>
    <p:sldId xmlns:ns0="http://schemas.openxmlformats.org/officeDocument/2006/relationships" id="304" ns0:id="rId54"/>
    <p:sldId xmlns:ns0="http://schemas.openxmlformats.org/officeDocument/2006/relationships" id="305" ns0:id="rId55"/>
    <p:sldId xmlns:ns0="http://schemas.openxmlformats.org/officeDocument/2006/relationships" id="306" ns0:id="rId56"/>
    <p:sldId xmlns:ns0="http://schemas.openxmlformats.org/officeDocument/2006/relationships" id="307" ns0:id="rId57"/>
    <p:sldId xmlns:ns0="http://schemas.openxmlformats.org/officeDocument/2006/relationships" id="308" ns0:id="rId58"/>
    <p:sldId xmlns:ns0="http://schemas.openxmlformats.org/officeDocument/2006/relationships" id="309" ns0:id="rId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f9775db36e4347" Type="http://schemas.openxmlformats.org/officeDocument/2006/relationships/theme" Target="theme/theme1.xml"/><Relationship Id="R209d81ccdc3d4373" Type="http://schemas.openxmlformats.org/officeDocument/2006/relationships/slideMaster" Target="slideMasters/slideMaster1.xml"/><Relationship Id="Rae5565e222f94311" Type="http://schemas.openxmlformats.org/officeDocument/2006/relationships/notesMaster" Target="notesMasters/notesMaster1.xml"/><Relationship Id="Rc3130170706542df" Type="http://schemas.openxmlformats.org/officeDocument/2006/relationships/presProps" Target="presProps.xml"/><Relationship Id="Rdae1bc0b7b5049c6" Type="http://schemas.openxmlformats.org/officeDocument/2006/relationships/tableStyles" Target="tableStyles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4636b259947a4c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21de335dda5480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00e1906020446b" Type="http://schemas.openxmlformats.org/officeDocument/2006/relationships/slideLayout" Target="../slideLayouts/slideLayout1.xml"/><Relationship Id="R42e31e3cb9d9443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0e1906020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3" name="">
            <a:extLst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29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8096250" cy="1866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問題探索與選題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857250" cy="666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兩個候選痛點，選一個方向驗證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9525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本週任務：準備三位受訪者與兩個訪談問題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noGrp="1"/>
          </p:cNvSpPr>
          <p:nvPr/>
        </p:nvSpPr>
        <p:spPr>
          <a:xfrm>
            <a:off x="9848850" y="1219200"/>
            <a:ext cx="1524000" cy="1524000"/>
          </a:xfrm>
          <a:prstGeom prst="ellipse">
            <a:avLst/>
          </a:prstGeom>
          <a:noFill/>
          <a:ln w="19050">
            <a:solidFill>
              <a:srgbClr val="4B4B4B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noGrp="1"/>
          </p:cNvSpPr>
          <p:nvPr/>
        </p:nvSpPr>
        <p:spPr>
          <a:xfrm>
            <a:off x="10229850" y="1600200"/>
            <a:ext cx="762000" cy="7620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noGrp="1"/>
          </p:cNvSpPr>
          <p:nvPr/>
        </p:nvSpPr>
        <p:spPr>
          <a:xfrm>
            <a:off x="10553700" y="1057275"/>
            <a:ext cx="114300" cy="184785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24050" cy="1143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">
            <a:extLst>
              <a:ext uri="{FF2B5EF4-FFF2-40B4-BE49-F238E27FC236}">
                <a16:creationId xmlns:a16="http://schemas.microsoft.com/office/drawing/2014/main" id="{F3FCDF75-2150-48E4-B56F-54EE85CB8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62117E7-3FEE-4F02-9D1B-FE1381C7397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B93369F-C690-4E39-99F1-43A84D86102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本週共同成果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723C0CB-9629-42A9-BAD8-A6072603103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50 位學生各自留下觀察，Week 5 再選小組 MVP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CDD7C55-A052-46C0-87AF-EC4BB7EE358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49BDE64-B47E-4B0D-A413-005295AA6EA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8BF7E24-C488-4726-A5FF-321EE84BADC9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29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95D2251-FE5C-4EEC-A522-725F6A0A6105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1432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2 個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8D357CF-B3B1-4D53-8508-4A38FEEE02DE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候選痛點，一個暫定方向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05E5CF5-D6FE-490E-B9A5-6F8A95CD06B6}"/>
              </a:ext>
            </a:extLst>
          </p:cNvPr>
          <p:cNvSpPr>
            <a:spLocks noGrp="1"/>
          </p:cNvSpPr>
          <p:nvPr/>
        </p:nvSpPr>
        <p:spPr>
          <a:xfrm>
            <a:off x="4333875" y="2476500"/>
            <a:ext cx="57150" cy="276225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F9524EDB-3A59-47EA-BB11-2F0D55356ABC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取回 Week 1 起點卡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D7FCDB6-2A20-44EC-BA71-2375E21CE9DB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6191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未提交者先補交；已提交者可查看與修訂，保留原始紀錄。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4DED09D-724E-4EDF-A764-092D4FEF1F7C}"/>
              </a:ext>
            </a:extLst>
          </p:cNvPr>
          <p:cNvSpPr>
            <a:spLocks noGrp="1"/>
          </p:cNvSpPr>
          <p:nvPr/>
        </p:nvSpPr>
        <p:spPr>
          <a:xfrm>
            <a:off x="4762500" y="3762375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比較後說明選擇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4820CB8D-FACD-4040-B274-01B197A61A6B}"/>
              </a:ext>
            </a:extLst>
          </p:cNvPr>
          <p:cNvSpPr>
            <a:spLocks noGrp="1"/>
          </p:cNvSpPr>
          <p:nvPr/>
        </p:nvSpPr>
        <p:spPr>
          <a:xfrm>
            <a:off x="4762500" y="4200525"/>
            <a:ext cx="619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記下人物、情境、阻礙、頻率、代價、替代方法、證據與假設。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455EB71-7177-43A7-83A1-197F8F1C670B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準備接觸真實使用者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BCD5218-7EF4-4D85-AB21-A2BF59B8C003}"/>
              </a:ext>
            </a:extLst>
          </p:cNvPr>
          <p:cNvSpPr>
            <a:spLocks noGrp="1"/>
          </p:cNvSpPr>
          <p:nvPr/>
        </p:nvSpPr>
        <p:spPr>
          <a:xfrm>
            <a:off x="4762500" y="5391150"/>
            <a:ext cx="6191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每人列出三位受訪者與兩題問題；Week 5 組隊最多三人。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">
            <a:extLst>
              <a:ext uri="{FF2B5EF4-FFF2-40B4-BE49-F238E27FC236}">
                <a16:creationId xmlns:a16="http://schemas.microsoft.com/office/drawing/2014/main" id="{5531F714-86A9-41DF-AD33-70581D9C9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6B808D6-018D-47D8-9ED1-E258414C863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BFC5E8F-C9C1-4177-B8F6-345D5EAE0A5D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120 分鐘課堂流程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2E84BB7-4F61-40AE-A611-46F8EFD8B6C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先取回觀察，再比較候選痛點，最後修訂與提交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57C7377-C278-49DF-BE76-49263FE104B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11D6D99-8225-4FBC-9CA5-6628D9A8E51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5ED00B1-C76C-4031-9373-985BE7591EA6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29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7B5694A-186D-4385-8D67-2E07E7CE303F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0–25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A1E3B43-C9CB-4B29-80A2-6C96B832E5B3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381250" cy="66675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79F13F-07E9-48B5-BE87-307165CEAF2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回顧與影片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ACA1704-15B0-460F-9117-A5F2DBF2B37C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0–10 取回起點卡與回饋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10–25 影片重點導讀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74765FF-AABC-4783-A111-0B879A99DC27}"/>
              </a:ext>
            </a:extLst>
          </p:cNvPr>
          <p:cNvSpPr>
            <a:spLocks noGrp="1"/>
          </p:cNvSpPr>
          <p:nvPr/>
        </p:nvSpPr>
        <p:spPr>
          <a:xfrm>
            <a:off x="33528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25–55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CD84D9D-1D7F-49AA-A3C8-C262DFA0BF81}"/>
              </a:ext>
            </a:extLst>
          </p:cNvPr>
          <p:cNvSpPr>
            <a:spLocks noGrp="1"/>
          </p:cNvSpPr>
          <p:nvPr/>
        </p:nvSpPr>
        <p:spPr>
          <a:xfrm>
            <a:off x="3352800" y="3028950"/>
            <a:ext cx="2381250" cy="66675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7B89E0-6965-4B71-9EAD-C9AC5A3753A0}"/>
              </a:ext>
            </a:extLst>
          </p:cNvPr>
          <p:cNvSpPr>
            <a:spLocks noGrp="1"/>
          </p:cNvSpPr>
          <p:nvPr/>
        </p:nvSpPr>
        <p:spPr>
          <a:xfrm>
            <a:off x="33528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案例與示範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88ADD9B-7BEF-4514-8B56-96583D3706AF}"/>
              </a:ext>
            </a:extLst>
          </p:cNvPr>
          <p:cNvSpPr>
            <a:spLocks noGrp="1"/>
          </p:cNvSpPr>
          <p:nvPr/>
        </p:nvSpPr>
        <p:spPr>
          <a:xfrm>
            <a:off x="33528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25–45 痛點與解法案例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45–55 三種路徑示範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E6CEEB3-3205-4A53-B9AC-D7B5700A7E9F}"/>
              </a:ext>
            </a:extLst>
          </p:cNvPr>
          <p:cNvSpPr>
            <a:spLocks noGrp="1"/>
          </p:cNvSpPr>
          <p:nvPr/>
        </p:nvSpPr>
        <p:spPr>
          <a:xfrm>
            <a:off x="60960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rPr>
              <a:t>55–100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DC319AD-69AD-479E-B19E-FBD96DD46C11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2381250" cy="66675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54D6ADA-B64A-4DA4-8783-D3D9E9761224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探索與互評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0BADEF1-F633-46E5-8E61-6A281FD20719}"/>
              </a:ext>
            </a:extLst>
          </p:cNvPr>
          <p:cNvSpPr>
            <a:spLocks noGrp="1"/>
          </p:cNvSpPr>
          <p:nvPr/>
        </p:nvSpPr>
        <p:spPr>
          <a:xfrm>
            <a:off x="60960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55–65 休息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65–85 探索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85–100 同儕檢核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3E1DDD8-EC9C-418F-BCD1-ADF0F0A2639A}"/>
              </a:ext>
            </a:extLst>
          </p:cNvPr>
          <p:cNvSpPr>
            <a:spLocks noGrp="1"/>
          </p:cNvSpPr>
          <p:nvPr/>
        </p:nvSpPr>
        <p:spPr>
          <a:xfrm>
            <a:off x="88392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100–120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09E56B5-E7B9-4A5E-A980-C3280EEB9076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381250" cy="66675"/>
          </a:xfrm>
          <a:prstGeom prst="rect">
            <a:avLst/>
          </a:prstGeom>
          <a:solidFill>
            <a:srgbClr val="121212"/>
          </a:solidFill>
          <a:ln w="9525">
            <a:solidFill>
              <a:srgbClr val="121212"/>
            </a:solidFill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8C8F516-616B-4DBB-8CDA-B91EFD22AB35}"/>
              </a:ext>
            </a:extLst>
          </p:cNvPr>
          <p:cNvSpPr>
            <a:spLocks noGrp="1"/>
          </p:cNvSpPr>
          <p:nvPr/>
        </p:nvSpPr>
        <p:spPr>
          <a:xfrm>
            <a:off x="88392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修訂與提交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0207311-E971-4993-97A4-9C6CE29C1EB7}"/>
              </a:ext>
            </a:extLst>
          </p:cNvPr>
          <p:cNvSpPr>
            <a:spLocks noGrp="1"/>
          </p:cNvSpPr>
          <p:nvPr/>
        </p:nvSpPr>
        <p:spPr>
          <a:xfrm>
            <a:off x="88392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100–110 規則與 AI 檢查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110–120 提交、準備訪談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1E96A9-5429-4684-BD65-9D59AE5A04B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本週完成可訪談的暫定痛點；是否適合成為 MVP，要等待後續證據。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三種引導路徑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依今天需要的協助選擇，切換路徑會保留回答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29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一步一步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一次回答一題，從生活場景、最近事件與目前做法開始。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檢查想法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比較兩至三題的人物、頻率、代價、證據與可接觸性。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進階挑戰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找反例、付費者與最危險假設，練習最低成本驗證。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共同成果不變，路徑不代表能力等級；AI 不決定成績或能否提交。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兩個候選痛點的比較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以下為教學情境，請用自己的真實觀察取代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29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候選 A：午休購餐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午休空檔短的學生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排隊壓縮用餐時間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目前改買便利商店食物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頻率與代價仍需驗證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候選 B：分組約時間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課表不同的分組成員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反覆確認可開會時間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目前在群組逐一詢問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耗時與影響仍需驗證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選題理由：目前知道什麼？能接觸誰？什麼新證據會讓你改變選擇？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F77635BE-3EC3-46CF-8521-D60667B00C1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EAC87ED-DFF8-45BD-AB94-149DA64F18A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午餐排隊，困擾發生在哪裡？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138B84B-9BC9-4C52-A25B-2F1FF446588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保留原句，再補時間、地點與人物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A123D2D0-F2B6-4AEA-9D63-2E807A9450C9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BEC693C-BC4D-46F8-BE93-FD68E474CDD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9A81695-5675-4D2C-A0AD-57CB062FAA94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12E9758-1074-4800-BC68-A8EA7546338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6924675" cy="2724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FC3A0D5-2350-4792-9DCE-EFB72089E204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76200" cy="27241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8851EDB-7E14-4C4F-B67B-5D5501CA48D1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6229350" cy="1314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「我又要遲到了，</a:t>
            </a:r>
          </a:p>
          <a:p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午餐排隊根本來不及。」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F315FBF1-E297-4C20-A32E-F2F959A013CF}"/>
              </a:ext>
            </a:extLst>
          </p:cNvPr>
          <p:cNvSpPr>
            <a:spLocks noGrp="1"/>
          </p:cNvSpPr>
          <p:nvPr/>
        </p:nvSpPr>
        <p:spPr>
          <a:xfrm>
            <a:off x="952500" y="4362450"/>
            <a:ext cx="61531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星期三中午  /  校園餐廳外  /  通勤同學 A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ECDC5E7-8CDE-4F33-92F6-656640CF83CB}"/>
              </a:ext>
            </a:extLst>
          </p:cNvPr>
          <p:cNvSpPr>
            <a:spLocks noGrp="1"/>
          </p:cNvSpPr>
          <p:nvPr/>
        </p:nvSpPr>
        <p:spPr>
          <a:xfrm>
            <a:off x="8105775" y="2771775"/>
            <a:ext cx="3305175" cy="3810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92DE6FE-4084-4883-825E-FECA9C493982}"/>
              </a:ext>
            </a:extLst>
          </p:cNvPr>
          <p:cNvSpPr>
            <a:spLocks noGrp="1"/>
          </p:cNvSpPr>
          <p:nvPr/>
        </p:nvSpPr>
        <p:spPr>
          <a:xfrm>
            <a:off x="8763000" y="2800350"/>
            <a:ext cx="24288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校園餐廳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8AAD12A-7A09-46C5-996C-CEFF3D7EB20E}"/>
              </a:ext>
            </a:extLst>
          </p:cNvPr>
          <p:cNvSpPr>
            <a:spLocks noGrp="1"/>
          </p:cNvSpPr>
          <p:nvPr/>
        </p:nvSpPr>
        <p:spPr>
          <a:xfrm>
            <a:off x="8305800" y="3562350"/>
            <a:ext cx="247650" cy="24765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4770AC28-8FB7-4957-A9C4-85B78606117F}"/>
              </a:ext>
            </a:extLst>
          </p:cNvPr>
          <p:cNvSpPr>
            <a:spLocks noGrp="1"/>
          </p:cNvSpPr>
          <p:nvPr/>
        </p:nvSpPr>
        <p:spPr>
          <a:xfrm>
            <a:off x="8191500" y="3886200"/>
            <a:ext cx="476250" cy="609600"/>
          </a:xfrm>
          <a:prstGeom prst="roundRect">
            <a:avLst>
              <a:gd name="adj" fmla="val 16000"/>
            </a:avLst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6CCC67B-F573-4E95-AD9C-24E912E9E0E2}"/>
              </a:ext>
            </a:extLst>
          </p:cNvPr>
          <p:cNvSpPr>
            <a:spLocks noGrp="1"/>
          </p:cNvSpPr>
          <p:nvPr/>
        </p:nvSpPr>
        <p:spPr>
          <a:xfrm>
            <a:off x="823912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A1BA32B-F350-4B1F-AF92-2DAB16270BE2}"/>
              </a:ext>
            </a:extLst>
          </p:cNvPr>
          <p:cNvSpPr>
            <a:spLocks noGrp="1"/>
          </p:cNvSpPr>
          <p:nvPr/>
        </p:nvSpPr>
        <p:spPr>
          <a:xfrm>
            <a:off x="848677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9B7B3D5E-3E31-46DE-8AA8-7D8C218371D7}"/>
              </a:ext>
            </a:extLst>
          </p:cNvPr>
          <p:cNvSpPr>
            <a:spLocks noGrp="1"/>
          </p:cNvSpPr>
          <p:nvPr/>
        </p:nvSpPr>
        <p:spPr>
          <a:xfrm>
            <a:off x="8991600" y="3562350"/>
            <a:ext cx="247650" cy="24765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7A4CD36-EC97-485D-92FD-6C370881848C}"/>
              </a:ext>
            </a:extLst>
          </p:cNvPr>
          <p:cNvSpPr>
            <a:spLocks noGrp="1"/>
          </p:cNvSpPr>
          <p:nvPr/>
        </p:nvSpPr>
        <p:spPr>
          <a:xfrm>
            <a:off x="8877300" y="3886200"/>
            <a:ext cx="476250" cy="609600"/>
          </a:xfrm>
          <a:prstGeom prst="roundRect">
            <a:avLst>
              <a:gd name="adj" fmla="val 16000"/>
            </a:avLst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A227CC69-72DE-4E07-878B-3ECE8A596053}"/>
              </a:ext>
            </a:extLst>
          </p:cNvPr>
          <p:cNvSpPr>
            <a:spLocks noGrp="1"/>
          </p:cNvSpPr>
          <p:nvPr/>
        </p:nvSpPr>
        <p:spPr>
          <a:xfrm>
            <a:off x="892492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BD89A704-B3C7-4122-8AA3-C065310F3D59}"/>
              </a:ext>
            </a:extLst>
          </p:cNvPr>
          <p:cNvSpPr>
            <a:spLocks noGrp="1"/>
          </p:cNvSpPr>
          <p:nvPr/>
        </p:nvSpPr>
        <p:spPr>
          <a:xfrm>
            <a:off x="917257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15ECD60C-D707-4FC2-BE2F-55B296BD0CCD}"/>
              </a:ext>
            </a:extLst>
          </p:cNvPr>
          <p:cNvSpPr>
            <a:spLocks noGrp="1"/>
          </p:cNvSpPr>
          <p:nvPr/>
        </p:nvSpPr>
        <p:spPr>
          <a:xfrm>
            <a:off x="9677400" y="3562350"/>
            <a:ext cx="247650" cy="24765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2F2458D7-8388-4F60-B024-A8249B1BECF6}"/>
              </a:ext>
            </a:extLst>
          </p:cNvPr>
          <p:cNvSpPr>
            <a:spLocks noGrp="1"/>
          </p:cNvSpPr>
          <p:nvPr/>
        </p:nvSpPr>
        <p:spPr>
          <a:xfrm>
            <a:off x="9563100" y="3886200"/>
            <a:ext cx="476250" cy="6096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0E7161A-F112-4D15-A01F-1AA4C300DA56}"/>
              </a:ext>
            </a:extLst>
          </p:cNvPr>
          <p:cNvSpPr>
            <a:spLocks noGrp="1"/>
          </p:cNvSpPr>
          <p:nvPr/>
        </p:nvSpPr>
        <p:spPr>
          <a:xfrm>
            <a:off x="9610725" y="4419600"/>
            <a:ext cx="133350" cy="4000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4D060602-FDDD-401C-9ACA-59F2625BE2F3}"/>
              </a:ext>
            </a:extLst>
          </p:cNvPr>
          <p:cNvSpPr>
            <a:spLocks noGrp="1"/>
          </p:cNvSpPr>
          <p:nvPr/>
        </p:nvSpPr>
        <p:spPr>
          <a:xfrm>
            <a:off x="9858375" y="4419600"/>
            <a:ext cx="133350" cy="4000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2D23766-27D3-4D4D-BFE5-010DE82E5098}"/>
              </a:ext>
            </a:extLst>
          </p:cNvPr>
          <p:cNvSpPr>
            <a:spLocks noGrp="1"/>
          </p:cNvSpPr>
          <p:nvPr/>
        </p:nvSpPr>
        <p:spPr>
          <a:xfrm>
            <a:off x="10477500" y="3486150"/>
            <a:ext cx="742950" cy="742950"/>
          </a:xfrm>
          <a:prstGeom prst="ellipse">
            <a:avLst/>
          </a:prstGeom>
          <a:noFill/>
          <a:ln w="19050">
            <a:solidFill>
              <a:srgbClr val="121212"/>
            </a:solidFill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9999209A-0562-4EAE-B62C-A545A6EA2460}"/>
              </a:ext>
            </a:extLst>
          </p:cNvPr>
          <p:cNvSpPr>
            <a:spLocks noGrp="1"/>
          </p:cNvSpPr>
          <p:nvPr/>
        </p:nvSpPr>
        <p:spPr>
          <a:xfrm>
            <a:off x="10829925" y="3638550"/>
            <a:ext cx="38100" cy="2667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2F6FC0D9-77BD-448C-B77B-E04A3351E19D}"/>
              </a:ext>
            </a:extLst>
          </p:cNvPr>
          <p:cNvSpPr>
            <a:spLocks noGrp="1"/>
          </p:cNvSpPr>
          <p:nvPr/>
        </p:nvSpPr>
        <p:spPr>
          <a:xfrm>
            <a:off x="10829925" y="3876675"/>
            <a:ext cx="209550" cy="381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0D1B356F-5F7B-4013-B995-09FAE01A0616}"/>
              </a:ext>
            </a:extLst>
          </p:cNvPr>
          <p:cNvSpPr>
            <a:spLocks noGrp="1"/>
          </p:cNvSpPr>
          <p:nvPr/>
        </p:nvSpPr>
        <p:spPr>
          <a:xfrm>
            <a:off x="7981950" y="5029200"/>
            <a:ext cx="3495675" cy="19050"/>
          </a:xfrm>
          <a:prstGeom prst="rect">
            <a:avLst/>
          </a:prstGeom>
          <a:solidFill>
            <a:srgbClr val="626262"/>
          </a:solidFill>
          <a:ln w="0">
            <a:noFill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35E11BE-F545-4D47-A7F8-F63D275278A4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待驗證：排隊、距離、價格，哪一項才是主要困擾？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91647F41-F816-4276-ABEC-7015C8FDB299}"/>
              </a:ext>
            </a:extLst>
          </p:cNvPr>
          <p:cNvSpPr>
            <a:spLocks noGrp="1"/>
          </p:cNvSpPr>
          <p:nvPr/>
        </p:nvSpPr>
        <p:spPr>
          <a:xfrm>
            <a:off x="9906000" y="5381625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假設教學情境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6" name="">
            <a:extLst>
              <a:ext uri="{FF2B5EF4-FFF2-40B4-BE49-F238E27FC236}">
                <a16:creationId xmlns:a16="http://schemas.microsoft.com/office/drawing/2014/main" id="{5CE9112B-AF49-4586-9131-83605F2001E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BB81EBE-4B96-455F-82DC-5C98324B78C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影片的九個選題提醒（前五個）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8E2160-BDA4-4FAA-BDED-9C0B2FFF3D5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How to Get and Evaluate Startup Ideas · 第 6–9 個在第 14–17 頁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7B2D190-0077-4042-95AB-07791A1C780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A9E1B35-3DCA-4E0A-B4A3-1122D584974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4C003F-1A5D-4AA1-926C-22C4C0DBD2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82207E2-193A-4E03-AB6E-2237DBF9FACF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594566E-A6F3-4925-84AC-96F8CFEAE9B5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0045BDF-C77C-4A9F-9FA8-803082AA31D8}"/>
              </a:ext>
            </a:extLst>
          </p:cNvPr>
          <p:cNvSpPr>
            <a:spLocks noGrp="1"/>
          </p:cNvSpPr>
          <p:nvPr/>
        </p:nvSpPr>
        <p:spPr>
          <a:xfrm>
            <a:off x="1314450" y="23241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從熟悉領域與真實問題找起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8DCA1C7-4208-48A0-9D4E-29C4759ACBD1}"/>
              </a:ext>
            </a:extLst>
          </p:cNvPr>
          <p:cNvSpPr>
            <a:spLocks noGrp="1"/>
          </p:cNvSpPr>
          <p:nvPr/>
        </p:nvSpPr>
        <p:spPr>
          <a:xfrm>
            <a:off x="1314450" y="2924175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4991A01-EB57-49D8-9BBE-3FCEA17DEC54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12027EF0-505D-4AD9-971A-E8FDA3173F00}"/>
              </a:ext>
            </a:extLst>
          </p:cNvPr>
          <p:cNvSpPr>
            <a:spLocks noGrp="1"/>
          </p:cNvSpPr>
          <p:nvPr/>
        </p:nvSpPr>
        <p:spPr>
          <a:xfrm>
            <a:off x="704850" y="3076575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CBDC3D4-0D4C-464F-A013-A471C5F5DB4E}"/>
              </a:ext>
            </a:extLst>
          </p:cNvPr>
          <p:cNvSpPr>
            <a:spLocks noGrp="1"/>
          </p:cNvSpPr>
          <p:nvPr/>
        </p:nvSpPr>
        <p:spPr>
          <a:xfrm>
            <a:off x="1314450" y="305752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避免先愛上解法，再替它找問題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7A7C0E7E-6F84-4C90-A68C-645818E93D9A}"/>
              </a:ext>
            </a:extLst>
          </p:cNvPr>
          <p:cNvSpPr>
            <a:spLocks noGrp="1"/>
          </p:cNvSpPr>
          <p:nvPr/>
        </p:nvSpPr>
        <p:spPr>
          <a:xfrm>
            <a:off x="1314450" y="3657600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F606FA28-F89E-4384-9A74-EE4157BC4042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7182C62-A964-48F0-BBB7-4654FB345667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D2C8157-5EED-4972-84FA-3405219937E2}"/>
              </a:ext>
            </a:extLst>
          </p:cNvPr>
          <p:cNvSpPr>
            <a:spLocks noGrp="1"/>
          </p:cNvSpPr>
          <p:nvPr/>
        </p:nvSpPr>
        <p:spPr>
          <a:xfrm>
            <a:off x="1314450" y="379095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檢查自己的理解與接觸使用者的優勢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EB3D928-9103-48FE-BEB9-AAB525A3D489}"/>
              </a:ext>
            </a:extLst>
          </p:cNvPr>
          <p:cNvSpPr>
            <a:spLocks noGrp="1"/>
          </p:cNvSpPr>
          <p:nvPr/>
        </p:nvSpPr>
        <p:spPr>
          <a:xfrm>
            <a:off x="1314450" y="4391025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4F0CAE7-2608-421F-AC71-1C3BD9D7FAC5}"/>
              </a:ext>
            </a:extLst>
          </p:cNvPr>
          <p:cNvSpPr>
            <a:spLocks noGrp="1"/>
          </p:cNvSpPr>
          <p:nvPr/>
        </p:nvSpPr>
        <p:spPr>
          <a:xfrm>
            <a:off x="609600" y="4505325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E18ACF16-432E-46DF-87CC-66362180CB2E}"/>
              </a:ext>
            </a:extLst>
          </p:cNvPr>
          <p:cNvSpPr>
            <a:spLocks noGrp="1"/>
          </p:cNvSpPr>
          <p:nvPr/>
        </p:nvSpPr>
        <p:spPr>
          <a:xfrm>
            <a:off x="704850" y="4543425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B137A801-4ABA-4B34-BD43-FC43FB34239B}"/>
              </a:ext>
            </a:extLst>
          </p:cNvPr>
          <p:cNvSpPr>
            <a:spLocks noGrp="1"/>
          </p:cNvSpPr>
          <p:nvPr/>
        </p:nvSpPr>
        <p:spPr>
          <a:xfrm>
            <a:off x="1314450" y="45243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了解既有替代方式與競爭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60CCA0F-4155-48B3-A5CC-FFF42E1F5ED8}"/>
              </a:ext>
            </a:extLst>
          </p:cNvPr>
          <p:cNvSpPr>
            <a:spLocks noGrp="1"/>
          </p:cNvSpPr>
          <p:nvPr/>
        </p:nvSpPr>
        <p:spPr>
          <a:xfrm>
            <a:off x="1314450" y="5124450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E6D5A3E-E75B-40B7-AAB1-3CE42A6B2414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8ADF3A3C-87F9-4C2A-9441-2C7823A33019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E853A51-FB7E-4696-B708-F309D4B83B99}"/>
              </a:ext>
            </a:extLst>
          </p:cNvPr>
          <p:cNvSpPr>
            <a:spLocks noGrp="1"/>
          </p:cNvSpPr>
          <p:nvPr/>
        </p:nvSpPr>
        <p:spPr>
          <a:xfrm>
            <a:off x="1314450" y="52578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先選暫定方向，隨新證據調整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1FE51CBA-82C8-49B5-A679-27E21DDAE24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FDC9374-2343-4BE3-AE6F-481B7C3116E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 YC 影片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0D6ED46-4B5C-4DE7-94D9-EF51017D381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How to Get and Evaluate Startup Ideas · Jared Friedman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BF0743C-E6CE-49C9-BD81-75FB94AC203F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2741E72-43CF-4ECE-A142-A56C8C16A79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A909966-2A99-4B30-A195-E662ECAA9CF2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8D6F5E4-C3D8-4E4D-8F60-4C7501DE174A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3505200" cy="26765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F8E7AC2-3FA7-4FF0-91BB-4CE9E08D13CC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3505200" cy="762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DA7D7B0-EB44-4452-8EC9-27585F6E47B1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D9F5000-F6DE-4B6B-AB29-8976DBD31B28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3143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我的觀察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8A69BBE-5B34-47BC-AC81-43C21498524C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314325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哪一個問題來自</a:t>
            </a:r>
          </a:p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自己的真實經驗？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01711E8-48F8-4470-B2F2-9B9309AA6BE1}"/>
              </a:ext>
            </a:extLst>
          </p:cNvPr>
          <p:cNvSpPr>
            <a:spLocks noGrp="1"/>
          </p:cNvSpPr>
          <p:nvPr/>
        </p:nvSpPr>
        <p:spPr>
          <a:xfrm>
            <a:off x="4343400" y="2438400"/>
            <a:ext cx="3505200" cy="26765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D202E1C9-ED85-4072-8D04-16B70667772A}"/>
              </a:ext>
            </a:extLst>
          </p:cNvPr>
          <p:cNvSpPr>
            <a:spLocks noGrp="1"/>
          </p:cNvSpPr>
          <p:nvPr/>
        </p:nvSpPr>
        <p:spPr>
          <a:xfrm>
            <a:off x="4343400" y="2438400"/>
            <a:ext cx="3505200" cy="76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98DDF27D-3C58-4069-AC3A-1DFF4E82671E}"/>
              </a:ext>
            </a:extLst>
          </p:cNvPr>
          <p:cNvSpPr>
            <a:spLocks noGrp="1"/>
          </p:cNvSpPr>
          <p:nvPr/>
        </p:nvSpPr>
        <p:spPr>
          <a:xfrm>
            <a:off x="4572000" y="267652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B3AED7C-4A37-439A-AD2D-EC14CC7FB342}"/>
              </a:ext>
            </a:extLst>
          </p:cNvPr>
          <p:cNvSpPr>
            <a:spLocks noGrp="1"/>
          </p:cNvSpPr>
          <p:nvPr/>
        </p:nvSpPr>
        <p:spPr>
          <a:xfrm>
            <a:off x="4572000" y="3333750"/>
            <a:ext cx="3143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我的未知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7B30F38-691F-4AD4-AB4F-B49E192938DB}"/>
              </a:ext>
            </a:extLst>
          </p:cNvPr>
          <p:cNvSpPr>
            <a:spLocks noGrp="1"/>
          </p:cNvSpPr>
          <p:nvPr/>
        </p:nvSpPr>
        <p:spPr>
          <a:xfrm>
            <a:off x="4572000" y="4057650"/>
            <a:ext cx="314325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哪些只是推測，</a:t>
            </a:r>
          </a:p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還要問使用者？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C638B680-9E4E-4BFF-81B0-EC04CA5C0FE8}"/>
              </a:ext>
            </a:extLst>
          </p:cNvPr>
          <p:cNvSpPr>
            <a:spLocks noGrp="1"/>
          </p:cNvSpPr>
          <p:nvPr/>
        </p:nvSpPr>
        <p:spPr>
          <a:xfrm>
            <a:off x="8077200" y="2438400"/>
            <a:ext cx="3505200" cy="26765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564C8991-0650-474B-940A-AE6FFAE52AE6}"/>
              </a:ext>
            </a:extLst>
          </p:cNvPr>
          <p:cNvSpPr>
            <a:spLocks noGrp="1"/>
          </p:cNvSpPr>
          <p:nvPr/>
        </p:nvSpPr>
        <p:spPr>
          <a:xfrm>
            <a:off x="8077200" y="2438400"/>
            <a:ext cx="3505200" cy="762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FC8F71F3-B5CE-448C-A307-D2AC2F350248}"/>
              </a:ext>
            </a:extLst>
          </p:cNvPr>
          <p:cNvSpPr>
            <a:spLocks noGrp="1"/>
          </p:cNvSpPr>
          <p:nvPr/>
        </p:nvSpPr>
        <p:spPr>
          <a:xfrm>
            <a:off x="8305800" y="267652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6B6F892-140A-4F15-A4D1-276CA717B15B}"/>
              </a:ext>
            </a:extLst>
          </p:cNvPr>
          <p:cNvSpPr>
            <a:spLocks noGrp="1"/>
          </p:cNvSpPr>
          <p:nvPr/>
        </p:nvSpPr>
        <p:spPr>
          <a:xfrm>
            <a:off x="8305800" y="3333750"/>
            <a:ext cx="3143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我的下一步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94E64BC5-91BD-4DD7-9BF4-DE15765BA019}"/>
              </a:ext>
            </a:extLst>
          </p:cNvPr>
          <p:cNvSpPr>
            <a:spLocks noGrp="1"/>
          </p:cNvSpPr>
          <p:nvPr/>
        </p:nvSpPr>
        <p:spPr>
          <a:xfrm>
            <a:off x="8305800" y="4057650"/>
            <a:ext cx="314325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能接觸誰，</a:t>
            </a:r>
          </a:p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取得什麼證據？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7E80CEC-8842-4BB2-942D-C861E4E0C9E3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YC Startup School 2022 系列；本課採用選題框架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84F63D8-2087-40C4-9F97-289B0558993C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影片：youtube.com/watch?v=Th8JoIan4dg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1：熟悉領域與真實問題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09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深入工作與生活經驗，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更容易注意到真正未被滿足的需要。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從你能描述、能查證的事件找起。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熟悉情境有助於發現問題，仍要驗證。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本課例子：打工交班時，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漏記缺貨品項，下一班又重新盤點。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填「已有觀察與來源」及「受到影響的人」。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記下最近一次事件，未知之處列為假設。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2：避免解法先行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先想用 AI 做什麼，再硬找問題，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容易選到使用者其實不在意的困擾。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先確認誰想完成什麼、卡在哪裡。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能做出功能，不等於有人需要它。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本課例子：先記錄買餐等候的事件，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不要只寫「我要做 AI 訂餐 App」。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填「想完成的事情」與「遇到的阻礙」。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拿掉產品名稱，檢查困擾能否說清楚。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3：團隊與問題的適配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Founder–market fit：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團隊的經驗與能力是否適合處理此題？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選擇自己有理解基礎的方向。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若不認識需要它的人，就先去接觸使用者。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本課例子：有排班經驗的打工學生，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較容易理解換班流程與相關角色。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填「選題理由」與受訪者的角色、接觸方式。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三位受訪者是本課要求，並非 YC 規定。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4：競爭與既有替代方式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有競爭者不一定是壞事。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面對既有業者，需要新的理解或切入點。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別只問「別人做過嗎」。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也問現有選擇漏掉了哪些需求。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本課例子：分組已用群組與投票約時間，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仍要確認卡在回覆、時段或決策。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填「目前處理方法」及「代價或待驗證」。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記下為何仍使用它，再找尚未解決的阻礙。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5：可調整的起點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13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不要直接投入第一個念頭，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也不要一直等完美點子才開始。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先選值得探索的起點，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再隨使用者證據修正方向。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本課例子：比較排隊與約時間的困擾，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先選能接觸當事人的一題訪談。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填「會改變選擇的證據」與痛點陳述。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兩題比較、Week 5 選 MVP 都是本課安排。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6：焦油坑題目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14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看起來好做、很多人做過、都做不起來：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進去容易、出來難。例：約朋友出來玩的 App。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很多人想過的題目，先問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「為什麼現在還沒有人做成？」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本課例子：「午餐吃什麼決定不了」人人有感，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但沒人願意為它改變習慣。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「代價」要有數字；「目前處理方法」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要寫為什麼現在的方法其實還可以。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7：看起來不好、其實好的題目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很難開始（Stripe）、很無聊（Gusto 薪資）、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已有競爭者（Dropbox）——三種都可能是好題目。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題目酷不酷跟值不值得沒有關係。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無聊的領域正因為無聊才沒人認真做。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本課例子：打工交班漏記、重複盤點——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每天發生、代價明確、現在用紙本。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不要因為題目不酷就換掉；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填「頻率」與「代價」，讓數字說話。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8：評估題目的問題清單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16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團隊適不適合、市場會不會變大、問題多痛、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替代方案、有沒有競爭者、最近變了什麼。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本課「好痛點八個標準」就是它的學生版：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市場＝班上幾人遇過，替代方案＝現在怎麼辦。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本課例子：全班普查的人數就是你的市場；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「目前怎麼處理」就是你的替代方案。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對照「好痛點的 8 個標準」自評一次，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缺哪一項就去訪談補哪一項。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9：找題目的七個方法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影片觀點為意譯；校園例子與填卡方法為本課延伸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17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專長、自己的問題、希望存在的東西、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世界的改變、成功公司的變體、到現場。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好題目通常不是腦力激盪出來的，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是在某個位置待久了長出來的。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本課例子：代購＝自己遇到的；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打工排班＝自己在那個位置。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兩個候選痛點用不同方法找：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一個是自己遇到的，一個是去問別人遇到的。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頻率、代價與替代方式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不確定可標記待驗證，並說明怎麼查證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18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發生頻率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noGrp="1"/>
          </p:cNvSpPr>
          <p:nvPr/>
        </p:nvSpPr>
        <p:spPr>
          <a:xfrm>
            <a:off x="4695825" y="23812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最近一週遇到幾次？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noGrp="1"/>
          </p:cNvSpPr>
          <p:nvPr/>
        </p:nvSpPr>
        <p:spPr>
          <a:xfrm>
            <a:off x="4695825" y="28575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不知道時先標示待驗證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noGrp="1"/>
          </p:cNvSpPr>
          <p:nvPr/>
        </p:nvSpPr>
        <p:spPr>
          <a:xfrm>
            <a:off x="1381125" y="339090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noGrp="1"/>
          </p:cNvSpPr>
          <p:nvPr/>
        </p:nvSpPr>
        <p:spPr>
          <a:xfrm>
            <a:off x="704850" y="37719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造成代價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noGrp="1"/>
          </p:cNvSpPr>
          <p:nvPr/>
        </p:nvSpPr>
        <p:spPr>
          <a:xfrm>
            <a:off x="4695825" y="358140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等待多久？錯過什麼？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noGrp="1"/>
          </p:cNvSpPr>
          <p:nvPr/>
        </p:nvSpPr>
        <p:spPr>
          <a:xfrm>
            <a:off x="4695825" y="405765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也可記錄金錢、機會或情緒影響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noGrp="1"/>
          </p:cNvSpPr>
          <p:nvPr/>
        </p:nvSpPr>
        <p:spPr>
          <a:xfrm>
            <a:off x="1381125" y="459105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noGrp="1"/>
          </p:cNvSpPr>
          <p:nvPr/>
        </p:nvSpPr>
        <p:spPr>
          <a:xfrm>
            <a:off x="1381125" y="48768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目前做法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noGrp="1"/>
          </p:cNvSpPr>
          <p:nvPr/>
        </p:nvSpPr>
        <p:spPr>
          <a:xfrm>
            <a:off x="4695825" y="47815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現在怎麼處理？為何選它？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noGrp="1"/>
          </p:cNvSpPr>
          <p:nvPr/>
        </p:nvSpPr>
        <p:spPr>
          <a:xfrm>
            <a:off x="4695825" y="52578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例如改買餐點、提前出門或忍耐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5BB8D3BC-6F9C-4FF6-9408-22B5502B82D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CDE94B8-638C-45EE-88C9-E792C8FC43C7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人物與情境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ACACF9F-5FEB-48CE-B65C-931C79168A1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讓同學知道下週要找誰訪談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B18BBCC-0F37-4529-8B9C-0F6B5ADCE38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7DC4C18-141E-42C6-965D-54526F9A5CB3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B279D397-E385-497D-A18F-C21B86E8D38A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19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FE61CC-952C-4C65-A7AE-3F920868120B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87147BF-0043-4F18-8B38-7B983C2F57C9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8612AE4-051D-4B58-90C9-DD2C0CD26416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假設教學情境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E7E2415-B7F2-46A0-ABCC-812EFEFB1908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中午兩堂課間隔很短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的通勤學生，在餐廳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排隊時來不及吃飯。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4799F11-198E-4930-97B7-EF417B4A782E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5A198EC-FC68-4F5C-B41F-E58C672D19AA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什麼時候？在哪裡？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964E6F1-EA1D-4F56-BAA8-5C25D5B60944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1313E54-D23D-4157-9535-75F603A09CB7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哪類學生真的遇過？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E31BAE5-9506-44AE-9F47-956A8D560815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「所有學生」太廣；先描述可接觸、有相同情境的對象。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FAD2CC10-49A9-4B2F-A703-CFEEA174490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D6271D0-F42F-410F-8C54-D04BF509A81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問題與產品構想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CF9C021-668F-4EC2-B07A-968DC09FE65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先描述目前發生的阻礙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B432BB0-E85A-4B0B-9ED0-9F8DA0A12774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F79744F-70CA-4C57-B905-36B2B114749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E17F4AE-5BC6-4D0B-9AEF-89BB49383766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20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50C16C1-4F34-4C61-A4CE-D19D4A8D8522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EF92AF1-462B-4BBA-9616-A393CA3B2934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1A52D7E-E401-4F1A-912A-DD72A311A838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解法先行的例子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2659FCB-3F76-4A54-B0C6-739F0F74006E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「我要做一個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訂餐 App。」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C18F928-A58F-4CEC-B00E-8B67AECA04F5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A261E7D-3F50-4CDF-BA4D-9BDCEA023C9F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使用者想完成什麼？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9D6E7C0-AA95-4301-9EC4-3A9BBA345C59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BF70FB-348E-42A6-8EB7-2452D5ED2731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拿掉 App 名稱，</a:t>
            </a:r>
          </a:p>
          <a:p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遇到的阻礙還是什麼？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9399EBA7-F7A6-4CBC-8E46-A7A6B884886E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可以有產品想法，但需要先找真實問題與使用者證據。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927AF06B-144A-4A96-B49C-2E71E3D53E0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D6FBC339-A0B6-42D3-8A8E-4305C418BFC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事實與觀察來源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72A7BF4-4954-413B-8C5B-7EE13B29FAC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交代真實事件、時間及資料來源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2FCCA24-C90C-4AC9-B08C-76D9915DECFE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4B0C966-124B-4D5C-8E84-C7D079648C4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14A360-A1BF-4395-9A63-31FDBD9D79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21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47A2FF7-5422-4527-9283-E7FB9ECD502D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2CF40A1-F748-4CD6-8C45-46E4FB90A8FF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921BF9EB-35F8-4D32-8ACF-902161895E6B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假設教學情境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BCCEFE7-8FAF-4F0E-A3B3-5D634686D008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我在星期三中午，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記錄自己在餐廳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開始與結束等候的時間。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6251824-B881-4CAE-80DB-01C0CCF17778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13116C6-1E98-4F6C-AD27-375E1B72F6EF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哪些是親身觀察？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5B4C04-78D1-4EFC-9323-45BC7D6278FB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D794763-1F7F-43DA-81BE-D51ECFE8DB39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哪些來自他人原話？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A72092A-4D51-4639-9619-2FF162B051F0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一次個人觀察，不能直接推論全班或全校都遇到同樣問題。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D1F28F05-7C65-4498-B38D-E705A99AD54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4F577F5-BFBD-4B0C-9DC2-8068A84186A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假設與可能的反例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9F7C534-3C74-43B6-913C-16C124618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寫下會使你改變選擇的證據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E5A1133-4200-4B6F-9CEE-5722164331F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EDF5D04-D424-463C-A3C0-24F671ACC65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D382062-99BC-4CC4-96B2-29A72019897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22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EDAA4CA-17E2-4DD5-B9C6-C1A6B9B08067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242424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D316438-45F4-42A9-9F1D-A85AC0AE668F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FE28CDEF-17FE-4567-8A90-8165A121B6C0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仍待驗證的想法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739A299-D7C3-4772-9E83-544E07DA1D98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我猜其他通勤同學</a:t>
            </a:r>
          </a:p>
          <a:p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也常因排隊太久，</a:t>
            </a:r>
          </a:p>
          <a:p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來不及吃完午餐。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BAB7223-C1B6-443D-A09E-BC25CA8A4617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B07B3A6D-F741-4453-8E90-956BE00FA916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誰沒有這個困擾？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A9DE581B-F7EA-41C0-933A-86CADDDAB0AD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F5F8E166-5CED-4A9A-A28D-4B61ECEBD9D2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如果大家更在意價格，</a:t>
            </a:r>
          </a:p>
          <a:p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我會如何調整題目？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3555943-4972-48DF-9A48-1C155A9226C5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AI 提出的方向與模擬回答都不是使用者證據。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8" name="">
            <a:extLst>
              <a:ext uri="{FF2B5EF4-FFF2-40B4-BE49-F238E27FC236}">
                <a16:creationId xmlns:a16="http://schemas.microsoft.com/office/drawing/2014/main" id="{D1FF9B12-42DF-4CE9-BF0D-741F41A8CDF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5381029-2582-4954-BADA-5AC2133D493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兩個非引導式問題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6027C06-BE95-40B4-8221-2F0AF12260A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詢問過去真實經驗，讓使用者用自己的話回答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9C9D1FA-BBBD-4DCF-865A-F25A23A281C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0C117AE-379A-41E5-8F5C-334AB9BEFB5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A6B6E40-3AD0-44CE-BE66-94CF93864EF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23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FE5F87A7-5C09-4184-9C9E-5072096B7FFD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19235E3-A4B4-4386-9211-141AF1C6C79F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6000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97E1725-E6E1-4C0B-90A6-0AE7474D1471}"/>
              </a:ext>
            </a:extLst>
          </p:cNvPr>
          <p:cNvSpPr>
            <a:spLocks noGrp="1"/>
          </p:cNvSpPr>
          <p:nvPr/>
        </p:nvSpPr>
        <p:spPr>
          <a:xfrm>
            <a:off x="8477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可以問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9C3086-7718-47B4-AB17-A75CAE41CE55}"/>
              </a:ext>
            </a:extLst>
          </p:cNvPr>
          <p:cNvSpPr>
            <a:spLocks noGrp="1"/>
          </p:cNvSpPr>
          <p:nvPr/>
        </p:nvSpPr>
        <p:spPr>
          <a:xfrm>
            <a:off x="8477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上次午休買餐時，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發生了什麼？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3E6DD5C0-71D2-499D-BFCE-51756BB46D48}"/>
              </a:ext>
            </a:extLst>
          </p:cNvPr>
          <p:cNvSpPr>
            <a:spLocks noGrp="1"/>
          </p:cNvSpPr>
          <p:nvPr/>
        </p:nvSpPr>
        <p:spPr>
          <a:xfrm>
            <a:off x="8477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第二題：當時怎麼處理？為何選那個方法？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40365797-818B-4385-9DF7-D37377C44469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92F980E-26CA-487C-A734-C04546AC0497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6000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6C4D193-36DB-428B-98D3-173C23A294AC}"/>
              </a:ext>
            </a:extLst>
          </p:cNvPr>
          <p:cNvSpPr>
            <a:spLocks noGrp="1"/>
          </p:cNvSpPr>
          <p:nvPr/>
        </p:nvSpPr>
        <p:spPr>
          <a:xfrm>
            <a:off x="64484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需要修改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1A9483F-8891-4CB3-B394-A511CCCC90A6}"/>
              </a:ext>
            </a:extLst>
          </p:cNvPr>
          <p:cNvSpPr>
            <a:spLocks noGrp="1"/>
          </p:cNvSpPr>
          <p:nvPr/>
        </p:nvSpPr>
        <p:spPr>
          <a:xfrm>
            <a:off x="64484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你是不是也覺得排隊很糟？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你會使用我的 App 嗎？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E6C33FC-D249-4056-B1D5-01C7E06142C6}"/>
              </a:ext>
            </a:extLst>
          </p:cNvPr>
          <p:cNvSpPr>
            <a:spLocks noGrp="1"/>
          </p:cNvSpPr>
          <p:nvPr/>
        </p:nvSpPr>
        <p:spPr>
          <a:xfrm>
            <a:off x="64484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這些問法暗示答案，或要求預測未來行為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E098819-560F-4917-967E-74B954010B31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訪談前確認：沒有推銷產品，也沒有替對方決定答案。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98F758EE-CD86-48B7-9528-D7F1ABB399D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D2E08B2D-B5A5-4C29-AC67-4F609BCB09B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三位可接觸的受訪者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B5F344C-5FEC-4E4B-ADC7-6A1F81F0A05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寫角色與接觸方式，不填姓名、Email、電話或敏感資料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16DA960-2142-4AA8-995C-CA83244B7EA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491B358-EF55-433A-8C01-0CA7654E64D1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62A8098-6BDA-42DF-A127-0FA3683F919E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24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B7C57CC-9AE6-46B1-9743-23518ADF41B2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28875" cy="5715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81B4A629-9C9A-413E-B4D0-4A970115EFF4}"/>
              </a:ext>
            </a:extLst>
          </p:cNvPr>
          <p:cNvSpPr>
            <a:spLocks noGrp="1"/>
          </p:cNvSpPr>
          <p:nvPr/>
        </p:nvSpPr>
        <p:spPr>
          <a:xfrm>
            <a:off x="819150" y="2438400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A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241B910-5196-43A9-BEA5-4EEAB4686BAF}"/>
              </a:ext>
            </a:extLst>
          </p:cNvPr>
          <p:cNvSpPr>
            <a:spLocks noGrp="1"/>
          </p:cNvSpPr>
          <p:nvPr/>
        </p:nvSpPr>
        <p:spPr>
          <a:xfrm>
            <a:off x="3419475" y="2438400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通勤同學 A：下課後先詢問意願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71A165C-D9D7-43F9-ACA1-D8242F9A6C98}"/>
              </a:ext>
            </a:extLst>
          </p:cNvPr>
          <p:cNvSpPr>
            <a:spLocks noGrp="1"/>
          </p:cNvSpPr>
          <p:nvPr/>
        </p:nvSpPr>
        <p:spPr>
          <a:xfrm>
            <a:off x="3419475" y="3028950"/>
            <a:ext cx="816292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F68C1EEE-5161-4193-8F3E-7037FA3F9380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2428875" cy="5715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B164F02C-5EE6-4782-B407-6B2ECB4333DC}"/>
              </a:ext>
            </a:extLst>
          </p:cNvPr>
          <p:cNvSpPr>
            <a:spLocks noGrp="1"/>
          </p:cNvSpPr>
          <p:nvPr/>
        </p:nvSpPr>
        <p:spPr>
          <a:xfrm>
            <a:off x="819150" y="3209925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B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2AFD529-F489-4B5D-89AC-1E01DFECFA05}"/>
              </a:ext>
            </a:extLst>
          </p:cNvPr>
          <p:cNvSpPr>
            <a:spLocks noGrp="1"/>
          </p:cNvSpPr>
          <p:nvPr/>
        </p:nvSpPr>
        <p:spPr>
          <a:xfrm>
            <a:off x="3419475" y="3209925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通勤同學 B：社團活動後詢問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5EFCBDC-21FE-44B9-894A-F61DFD23B23F}"/>
              </a:ext>
            </a:extLst>
          </p:cNvPr>
          <p:cNvSpPr>
            <a:spLocks noGrp="1"/>
          </p:cNvSpPr>
          <p:nvPr/>
        </p:nvSpPr>
        <p:spPr>
          <a:xfrm>
            <a:off x="3419475" y="3800475"/>
            <a:ext cx="816292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3CE1DD2-4CD5-4252-ABCC-53AC0262A7B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28875" cy="5715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B8BA06E9-B0C2-4FDE-90A6-C2391F0F7B12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C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57ECEE49-84FB-4548-8DE8-7C47D42C59C7}"/>
              </a:ext>
            </a:extLst>
          </p:cNvPr>
          <p:cNvSpPr>
            <a:spLocks noGrp="1"/>
          </p:cNvSpPr>
          <p:nvPr/>
        </p:nvSpPr>
        <p:spPr>
          <a:xfrm>
            <a:off x="3419475" y="3981450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通勤同學 C：午休時詢問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CB118B70-D194-4C9C-8FE3-6F5886EC3491}"/>
              </a:ext>
            </a:extLst>
          </p:cNvPr>
          <p:cNvSpPr>
            <a:spLocks noGrp="1"/>
          </p:cNvSpPr>
          <p:nvPr/>
        </p:nvSpPr>
        <p:spPr>
          <a:xfrm>
            <a:off x="3419475" y="4572000"/>
            <a:ext cx="816292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890C033-9B59-4F45-B65B-E28E24252CF2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2428875" cy="5715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57917F3F-EA23-412B-8332-A63CBF0A004B}"/>
              </a:ext>
            </a:extLst>
          </p:cNvPr>
          <p:cNvSpPr>
            <a:spLocks noGrp="1"/>
          </p:cNvSpPr>
          <p:nvPr/>
        </p:nvSpPr>
        <p:spPr>
          <a:xfrm>
            <a:off x="819150" y="4752975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符合的條件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29E5E0B-8F52-432E-AB48-77C12225A4D0}"/>
              </a:ext>
            </a:extLst>
          </p:cNvPr>
          <p:cNvSpPr>
            <a:spLocks noGrp="1"/>
          </p:cNvSpPr>
          <p:nvPr/>
        </p:nvSpPr>
        <p:spPr>
          <a:xfrm>
            <a:off x="3419475" y="4752975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都曾遇過你想了解的情境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56F7644-0D00-471F-B615-B1B17A0AFAF9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72800" cy="4762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6155734-41A4-4D8E-AB83-784EDE4A2B09}"/>
              </a:ext>
            </a:extLst>
          </p:cNvPr>
          <p:cNvSpPr>
            <a:spLocks noGrp="1"/>
          </p:cNvSpPr>
          <p:nvPr/>
        </p:nvSpPr>
        <p:spPr>
          <a:xfrm>
            <a:off x="800100" y="569595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其他組同學也可以；先確認符合對象，再安排 Week 3 訪談。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同儕檢核的四個問題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每人交換自己的卡，指出一個具體缺口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25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誰、何時、何地？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例：午休空檔短的通勤同學，在餐廳排隊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最近一次發生什麼？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請描述真實事件，區分觀察與自己的解讀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代價與替代方法？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例：改買便利商店食物；耗時仍待驗證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什麼證據會推翻？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例：同學其實更在意價格，而非等候時間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72FA8C43-4D14-4E8C-855D-2889AFAB267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539ED36-4AA3-4F9F-9C60-211D2D8A5D9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進階挑戰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98A5486-E8D9-4987-855E-C6CD3661DAD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核心成果相同，額外練習尋找反證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3AD4BA38-8990-412B-9C1D-0A8E390876F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CA4054D-90AA-4ABA-B0B0-B3C720BA93A5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A8A27-4E4A-4434-B71C-4B3B7CA09E34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26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DCD3F80-E2AD-43FA-9AFB-1FBFA3C301D6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5B9ABDC-4359-4ED4-BB66-A1ED698C570D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27DD043-484B-4C4A-B588-72EC2FAFDF0D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FEF8BC1-6030-49A9-A850-933F9CEB9740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誰沒有問題？最大的反例？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855C1FD6-4D57-4EE3-9121-C6B9E154F6B6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不要只找支持自己想法的例子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B82CB0C-DADA-4EF6-9188-22027D67CE79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BA3E805-98A1-43EE-8DF6-38C4DB29C4D3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5EF94AED-AC06-4358-BA1C-DF61F5127164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59715D75-B599-4B34-AA8C-DABD95665781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1AC9139F-08DB-4996-BDAA-D6A9B34A2CF3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為何接受現在的方法？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B54AF7D7-1561-488C-94AC-F6C0FDB153BC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理解改變習慣的成本與現有方法的好處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A919A6C0-5AB0-423D-BB2B-D84337A1F9EB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F2ACEDE4-238E-4285-93C9-C6D5E45474B7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149DA36-489E-40FA-AA2C-1E1024E94201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D7A975C-BB8D-4E24-9AD9-B9306A4605CE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464CD130-7FBF-4137-A50A-C8E9AA7924A8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使用者、受益者與付費者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D8BEB1A9-C2E4-4B8F-BA67-C669AF36F53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這些角色是否相同？不要先假設會付費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9E5D0B71-E992-4185-9356-2C5A207D3E78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7E216008-54D5-4AF7-AF78-8DEDE6052BAB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8874CA82-DE00-48D0-9AB8-9C49637DB983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CE82A4D8-F5BC-4374-83B4-B3FE8D2016D5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44F1134F-C9C8-44DF-9CAB-24A002227FF9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最危險假設與最低成本測試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93F8F6E3-4705-46D0-A1EC-BB3B66B91233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哪項證據會讓你放棄或縮小這個題目？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9A1E9309-FE12-4B5B-83F7-C857AF7948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1" name="">
            <a:extLst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修訂後的痛點陳述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把情境、人物、工作、阻礙與未知連起來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27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76200" cy="1981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0287000" cy="2076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在＿＿情境中，＿＿的人想要＿＿，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但因為＿＿而遇到＿＿，目前用＿＿處理；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我仍需驗證＿＿。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noGrp="1"/>
          </p:cNvSpPr>
          <p:nvPr/>
        </p:nvSpPr>
        <p:spPr>
          <a:xfrm>
            <a:off x="914400" y="48863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選題理由：為什麼先研究這一題？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本週形成暫定方向，Week 5 再依證據選定小組 MVP。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離堂前提交清單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必要欄位通過即可提交，教師待抽查時仍可準備訪談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28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至少兩個不同候選痛點，九項核心欄位已填寫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已選一題並說明理由，以及會改變選擇的證據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已完成自己的痛點陳述，事實與假設分開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已有三位可接觸受訪者與兩個非引導式問題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已在網站保存，並看到正式提交成功訊息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如有使用 AI，保留建議與修訂，不當成真實證據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若老師要求先討論，確認安全、隱私與倫理風險後再訪談。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2  /  問題探索與選題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卡關、修訂與教師互動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無法使用或額度用完，仍可保存與提交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29 / 29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卡關時探索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noGrp="1"/>
          </p:cNvSpPr>
          <p:nvPr/>
        </p:nvSpPr>
        <p:spPr>
          <a:xfrm>
            <a:off x="4695825" y="23812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先填生活場景與一個真實事件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noGrp="1"/>
          </p:cNvSpPr>
          <p:nvPr/>
        </p:nvSpPr>
        <p:spPr>
          <a:xfrm>
            <a:off x="4695825" y="28575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最多給三個待驗證方向，不代寫作業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noGrp="1"/>
          </p:cNvSpPr>
          <p:nvPr/>
        </p:nvSpPr>
        <p:spPr>
          <a:xfrm>
            <a:off x="1381125" y="339090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noGrp="1"/>
          </p:cNvSpPr>
          <p:nvPr/>
        </p:nvSpPr>
        <p:spPr>
          <a:xfrm>
            <a:off x="704850" y="37719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檢查與修訂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noGrp="1"/>
          </p:cNvSpPr>
          <p:nvPr/>
        </p:nvSpPr>
        <p:spPr>
          <a:xfrm>
            <a:off x="4695825" y="358140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先規則檢查，再選用 AI 建議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noGrp="1"/>
          </p:cNvSpPr>
          <p:nvPr/>
        </p:nvSpPr>
        <p:spPr>
          <a:xfrm>
            <a:off x="4695825" y="405765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引導 3 次，標準／挑戰 2 次；教師可調整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noGrp="1"/>
          </p:cNvSpPr>
          <p:nvPr/>
        </p:nvSpPr>
        <p:spPr>
          <a:xfrm>
            <a:off x="1381125" y="459105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noGrp="1"/>
          </p:cNvSpPr>
          <p:nvPr/>
        </p:nvSpPr>
        <p:spPr>
          <a:xfrm>
            <a:off x="1381125" y="48768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保存與訪談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noGrp="1"/>
          </p:cNvSpPr>
          <p:nvPr/>
        </p:nvSpPr>
        <p:spPr>
          <a:xfrm>
            <a:off x="4695825" y="47815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提交後可修改，原版本會保留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noGrp="1"/>
          </p:cNvSpPr>
          <p:nvPr/>
        </p:nvSpPr>
        <p:spPr>
          <a:xfrm>
            <a:off x="4695825" y="52578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教師可確認、請修訂，或要求先討論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2026-09-28T13:12:49.7880000Z</dcterms:created>
  <dcterms:modified xsi:type="dcterms:W3CDTF">2026-09-28T13:12:49.7880000Z</dcterms:modified>
</coreProperties>
</file>