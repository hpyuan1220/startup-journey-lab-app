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dacb901f2842b0" /><Relationship Type="http://schemas.openxmlformats.org/officeDocument/2006/relationships/extended-properties" Target="/docProps/app.xml" Id="Rf5fa270c37d1447a" /><Relationship Type="http://schemas.openxmlformats.org/officeDocument/2006/relationships/officeDocument" Target="/ppt/presentation.xml" Id="Rd6117766d33343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8476b07f5c48ba"/>
  </p:sldMasterIdLst>
  <p:notesMasterIdLst>
    <p:notesMasterId xmlns:r="http://schemas.openxmlformats.org/officeDocument/2006/relationships" r:id="R51da0c614ef04c53"/>
  </p:notesMasterIdLst>
  <p:sldIdLst>
    <p:sldId xmlns:r="http://schemas.openxmlformats.org/officeDocument/2006/relationships" id="256" r:id="R5c3d6b2b300c46ca"/>
    <p:sldId xmlns:r="http://schemas.openxmlformats.org/officeDocument/2006/relationships" id="257" r:id="R98a10807fec9445f"/>
    <p:sldId xmlns:r="http://schemas.openxmlformats.org/officeDocument/2006/relationships" id="258" r:id="Rb3fd0001ae9b4523"/>
    <p:sldId xmlns:r="http://schemas.openxmlformats.org/officeDocument/2006/relationships" id="259" r:id="Rb30ec561b2ac4ac4"/>
    <p:sldId xmlns:r="http://schemas.openxmlformats.org/officeDocument/2006/relationships" id="260" r:id="R24821204dd22469a"/>
    <p:sldId xmlns:r="http://schemas.openxmlformats.org/officeDocument/2006/relationships" id="261" r:id="R2b7312ce9d8c48f2"/>
    <p:sldId xmlns:r="http://schemas.openxmlformats.org/officeDocument/2006/relationships" id="262" r:id="R2e4a4b03410f4b5c"/>
    <p:sldId xmlns:r="http://schemas.openxmlformats.org/officeDocument/2006/relationships" id="263" r:id="R67ffb48669ef4564"/>
    <p:sldId xmlns:r="http://schemas.openxmlformats.org/officeDocument/2006/relationships" id="264" r:id="Rffff26e2ef1840ee"/>
    <p:sldId xmlns:r="http://schemas.openxmlformats.org/officeDocument/2006/relationships" id="265" r:id="R16f6439223304bdf"/>
    <p:sldId xmlns:r="http://schemas.openxmlformats.org/officeDocument/2006/relationships" id="266" r:id="Rb40ca9d3c0d34aa4"/>
    <p:sldId xmlns:r="http://schemas.openxmlformats.org/officeDocument/2006/relationships" id="267" r:id="R53e223e6eecd4607"/>
    <p:sldId xmlns:r="http://schemas.openxmlformats.org/officeDocument/2006/relationships" id="268" r:id="R703549893bb54a9e"/>
    <p:sldId xmlns:r="http://schemas.openxmlformats.org/officeDocument/2006/relationships" id="269" r:id="R65593051f66a4f3e"/>
    <p:sldId xmlns:r="http://schemas.openxmlformats.org/officeDocument/2006/relationships" id="270" r:id="R3c621ab2d44b4549"/>
    <p:sldId xmlns:r="http://schemas.openxmlformats.org/officeDocument/2006/relationships" id="271" r:id="Ra07c1f76515c4cb5"/>
    <p:sldId xmlns:r="http://schemas.openxmlformats.org/officeDocument/2006/relationships" id="272" r:id="R8af9a700bc9445aa"/>
    <p:sldId xmlns:r="http://schemas.openxmlformats.org/officeDocument/2006/relationships" id="273" r:id="R2d4c3e0f81024681"/>
    <p:sldId xmlns:r="http://schemas.openxmlformats.org/officeDocument/2006/relationships" id="274" r:id="R6b7dc5dded92415e"/>
    <p:sldId xmlns:r="http://schemas.openxmlformats.org/officeDocument/2006/relationships" id="275" r:id="R27538495091046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47b2922eaf47b4" /><Relationship Type="http://schemas.openxmlformats.org/officeDocument/2006/relationships/slideMaster" Target="/ppt/slideMasters/slideMaster1.xml" Id="R358476b07f5c48ba" /><Relationship Type="http://schemas.openxmlformats.org/officeDocument/2006/relationships/notesMaster" Target="/ppt/notesMasters/notesMaster1.xml" Id="R51da0c614ef04c53" /><Relationship Type="http://schemas.openxmlformats.org/officeDocument/2006/relationships/presProps" Target="/ppt/presProps.xml" Id="Rf4f49f6863b0440f" /><Relationship Type="http://schemas.openxmlformats.org/officeDocument/2006/relationships/tableStyles" Target="/ppt/tableStyles.xml" Id="R176d9d0e03b44118" /><Relationship Type="http://schemas.openxmlformats.org/officeDocument/2006/relationships/slide" Target="/ppt/slides/slide1.xml" Id="R5c3d6b2b300c46ca" /><Relationship Type="http://schemas.openxmlformats.org/officeDocument/2006/relationships/slide" Target="/ppt/slides/slide2.xml" Id="R98a10807fec9445f" /><Relationship Type="http://schemas.openxmlformats.org/officeDocument/2006/relationships/slide" Target="/ppt/slides/slide3.xml" Id="Rb3fd0001ae9b4523" /><Relationship Type="http://schemas.openxmlformats.org/officeDocument/2006/relationships/slide" Target="/ppt/slides/slide4.xml" Id="Rb30ec561b2ac4ac4" /><Relationship Type="http://schemas.openxmlformats.org/officeDocument/2006/relationships/slide" Target="/ppt/slides/slide5.xml" Id="R24821204dd22469a" /><Relationship Type="http://schemas.openxmlformats.org/officeDocument/2006/relationships/slide" Target="/ppt/slides/slide6.xml" Id="R2b7312ce9d8c48f2" /><Relationship Type="http://schemas.openxmlformats.org/officeDocument/2006/relationships/slide" Target="/ppt/slides/slide7.xml" Id="R2e4a4b03410f4b5c" /><Relationship Type="http://schemas.openxmlformats.org/officeDocument/2006/relationships/slide" Target="/ppt/slides/slide8.xml" Id="R67ffb48669ef4564" /><Relationship Type="http://schemas.openxmlformats.org/officeDocument/2006/relationships/slide" Target="/ppt/slides/slide9.xml" Id="Rffff26e2ef1840ee" /><Relationship Type="http://schemas.openxmlformats.org/officeDocument/2006/relationships/slide" Target="/ppt/slides/slide10.xml" Id="R16f6439223304bdf" /><Relationship Type="http://schemas.openxmlformats.org/officeDocument/2006/relationships/slide" Target="/ppt/slides/slide11.xml" Id="Rb40ca9d3c0d34aa4" /><Relationship Type="http://schemas.openxmlformats.org/officeDocument/2006/relationships/slide" Target="/ppt/slides/slide12.xml" Id="R53e223e6eecd4607" /><Relationship Type="http://schemas.openxmlformats.org/officeDocument/2006/relationships/slide" Target="/ppt/slides/slide13.xml" Id="R703549893bb54a9e" /><Relationship Type="http://schemas.openxmlformats.org/officeDocument/2006/relationships/slide" Target="/ppt/slides/slide14.xml" Id="R65593051f66a4f3e" /><Relationship Type="http://schemas.openxmlformats.org/officeDocument/2006/relationships/slide" Target="/ppt/slides/slide15.xml" Id="R3c621ab2d44b4549" /><Relationship Type="http://schemas.openxmlformats.org/officeDocument/2006/relationships/slide" Target="/ppt/slides/slide16.xml" Id="Ra07c1f76515c4cb5" /><Relationship Type="http://schemas.openxmlformats.org/officeDocument/2006/relationships/slide" Target="/ppt/slides/slide17.xml" Id="R8af9a700bc9445aa" /><Relationship Type="http://schemas.openxmlformats.org/officeDocument/2006/relationships/slide" Target="/ppt/slides/slide18.xml" Id="R2d4c3e0f81024681" /><Relationship Type="http://schemas.openxmlformats.org/officeDocument/2006/relationships/slide" Target="/ppt/slides/slide19.xml" Id="R6b7dc5dded92415e" /><Relationship Type="http://schemas.openxmlformats.org/officeDocument/2006/relationships/slide" Target="/ppt/slides/slide20.xml" Id="R27538495091046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081c5667e743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4b5e56080c4c38" /><Relationship Type="http://schemas.openxmlformats.org/officeDocument/2006/relationships/notesMaster" Target="/ppt/notesMasters/notesMaster1.xml" Id="R3d506e9e3ffa40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2febebaf2a42ca" /><Relationship Type="http://schemas.openxmlformats.org/officeDocument/2006/relationships/notesMaster" Target="/ppt/notesMasters/notesMaster1.xml" Id="R5d0c57ce873743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84e3785ba84b01" /><Relationship Type="http://schemas.openxmlformats.org/officeDocument/2006/relationships/notesMaster" Target="/ppt/notesMasters/notesMaster1.xml" Id="Rb2a0beb9740e4e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1f404876a14c98" /><Relationship Type="http://schemas.openxmlformats.org/officeDocument/2006/relationships/notesMaster" Target="/ppt/notesMasters/notesMaster1.xml" Id="R208b11abe1f641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49be5583944a2c" /><Relationship Type="http://schemas.openxmlformats.org/officeDocument/2006/relationships/notesMaster" Target="/ppt/notesMasters/notesMaster1.xml" Id="R14c170b2b7e349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740f0a7d454c0a" /><Relationship Type="http://schemas.openxmlformats.org/officeDocument/2006/relationships/notesMaster" Target="/ppt/notesMasters/notesMaster1.xml" Id="Rb5a4ef09463345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6665065f2448e6" /><Relationship Type="http://schemas.openxmlformats.org/officeDocument/2006/relationships/notesMaster" Target="/ppt/notesMasters/notesMaster1.xml" Id="Ra74e6468843246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b8b629d8044d83" /><Relationship Type="http://schemas.openxmlformats.org/officeDocument/2006/relationships/notesMaster" Target="/ppt/notesMasters/notesMaster1.xml" Id="R8a535140b61b40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3ae18eabf04348" /><Relationship Type="http://schemas.openxmlformats.org/officeDocument/2006/relationships/notesMaster" Target="/ppt/notesMasters/notesMaster1.xml" Id="R8e861fc651a84d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196fd765dd4792" /><Relationship Type="http://schemas.openxmlformats.org/officeDocument/2006/relationships/notesMaster" Target="/ppt/notesMasters/notesMaster1.xml" Id="R8f2e2e54ef3845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63f2187a36411d" /><Relationship Type="http://schemas.openxmlformats.org/officeDocument/2006/relationships/notesMaster" Target="/ppt/notesMasters/notesMaster1.xml" Id="Rb814037f35ec49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5d3705e28e4f94" /><Relationship Type="http://schemas.openxmlformats.org/officeDocument/2006/relationships/notesMaster" Target="/ppt/notesMasters/notesMaster1.xml" Id="Ra685593c1b30458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91c4fb97d924d7b" /><Relationship Type="http://schemas.openxmlformats.org/officeDocument/2006/relationships/notesMaster" Target="/ppt/notesMasters/notesMaster1.xml" Id="R361dd0f5bc1e47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23d615d29534874" /><Relationship Type="http://schemas.openxmlformats.org/officeDocument/2006/relationships/notesMaster" Target="/ppt/notesMasters/notesMaster1.xml" Id="Rfae62139844d4f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581f1f13e34a56" /><Relationship Type="http://schemas.openxmlformats.org/officeDocument/2006/relationships/notesMaster" Target="/ppt/notesMasters/notesMaster1.xml" Id="R0cd89a5517654f0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d34604400054d7c" /><Relationship Type="http://schemas.openxmlformats.org/officeDocument/2006/relationships/notesMaster" Target="/ppt/notesMasters/notesMaster1.xml" Id="R0c96c84e5a0f4c7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4fb2b7e92084dfc" /><Relationship Type="http://schemas.openxmlformats.org/officeDocument/2006/relationships/notesMaster" Target="/ppt/notesMasters/notesMaster1.xml" Id="Rcd4474e916534c9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d7e486192004b27" /><Relationship Type="http://schemas.openxmlformats.org/officeDocument/2006/relationships/notesMaster" Target="/ppt/notesMasters/notesMaster1.xml" Id="R196d72f03299430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ebfcc1d37848fb" /><Relationship Type="http://schemas.openxmlformats.org/officeDocument/2006/relationships/notesMaster" Target="/ppt/notesMasters/notesMaster1.xml" Id="R29768cb4c6824ae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812cb6c026a41ae" /><Relationship Type="http://schemas.openxmlformats.org/officeDocument/2006/relationships/notesMaster" Target="/ppt/notesMasters/notesMaster1.xml" Id="R0510bcc50d92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cbe09c9da42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3a9886c4694bb0" /><Relationship Type="http://schemas.openxmlformats.org/officeDocument/2006/relationships/slideLayout" Target="/ppt/slideLayouts/slideLayout1.xml" Id="R6f6b8f14161746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6b8f14161746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880ea8eff4762" /><Relationship Type="http://schemas.openxmlformats.org/officeDocument/2006/relationships/notesSlide" Target="/ppt/notesSlides/notesSlide1.xml" Id="R34c5deae148f4c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4c6340fc94f79" /><Relationship Type="http://schemas.openxmlformats.org/officeDocument/2006/relationships/notesSlide" Target="/ppt/notesSlides/notesSlide2.xml" Id="Rb0ab23fa3a7340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0e8ddfdb44c54" /><Relationship Type="http://schemas.openxmlformats.org/officeDocument/2006/relationships/notesSlide" Target="/ppt/notesSlides/notesSlide3.xml" Id="R8002089db7b348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fc487283b4f96" /><Relationship Type="http://schemas.openxmlformats.org/officeDocument/2006/relationships/notesSlide" Target="/ppt/notesSlides/notesSlide4.xml" Id="Re5210f3e0b634c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9110bfc765489b" /><Relationship Type="http://schemas.openxmlformats.org/officeDocument/2006/relationships/notesSlide" Target="/ppt/notesSlides/notesSlide5.xml" Id="Re5494894bfb947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5772fec124c14" /><Relationship Type="http://schemas.openxmlformats.org/officeDocument/2006/relationships/notesSlide" Target="/ppt/notesSlides/notesSlide6.xml" Id="Rbaf0b158cb4a43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af7c187b94d83" /><Relationship Type="http://schemas.openxmlformats.org/officeDocument/2006/relationships/notesSlide" Target="/ppt/notesSlides/notesSlide7.xml" Id="R31cb31730ca342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9ec37c5f0445d" /><Relationship Type="http://schemas.openxmlformats.org/officeDocument/2006/relationships/notesSlide" Target="/ppt/notesSlides/notesSlide8.xml" Id="Ra07c08d67ac84a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2a6f90e744084" /><Relationship Type="http://schemas.openxmlformats.org/officeDocument/2006/relationships/notesSlide" Target="/ppt/notesSlides/notesSlide9.xml" Id="Rbe033dc26b8c45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6a9c01e4c47e2" /><Relationship Type="http://schemas.openxmlformats.org/officeDocument/2006/relationships/notesSlide" Target="/ppt/notesSlides/notesSlide10.xml" Id="Rcb765e3d746c45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1b25c89545ef" /><Relationship Type="http://schemas.openxmlformats.org/officeDocument/2006/relationships/notesSlide" Target="/ppt/notesSlides/notesSlide11.xml" Id="Re01b0024e60644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e8d92649b4cf8" /><Relationship Type="http://schemas.openxmlformats.org/officeDocument/2006/relationships/notesSlide" Target="/ppt/notesSlides/notesSlide12.xml" Id="R6ad7e5037b304d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989a8b0dd47c8" /><Relationship Type="http://schemas.openxmlformats.org/officeDocument/2006/relationships/notesSlide" Target="/ppt/notesSlides/notesSlide13.xml" Id="Rcb82b4fad8394c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306b703e945ba" /><Relationship Type="http://schemas.openxmlformats.org/officeDocument/2006/relationships/notesSlide" Target="/ppt/notesSlides/notesSlide14.xml" Id="R08f2b582d37e4b7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2eb979538436b" /><Relationship Type="http://schemas.openxmlformats.org/officeDocument/2006/relationships/notesSlide" Target="/ppt/notesSlides/notesSlide15.xml" Id="R6fdc52df7dc240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f2330263f499e" /><Relationship Type="http://schemas.openxmlformats.org/officeDocument/2006/relationships/notesSlide" Target="/ppt/notesSlides/notesSlide16.xml" Id="R1a0ab780fc374f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dee5c60234038" /><Relationship Type="http://schemas.openxmlformats.org/officeDocument/2006/relationships/notesSlide" Target="/ppt/notesSlides/notesSlide17.xml" Id="R38c69b1106694a5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59d68fcea47fd" /><Relationship Type="http://schemas.openxmlformats.org/officeDocument/2006/relationships/notesSlide" Target="/ppt/notesSlides/notesSlide18.xml" Id="Ra816f704380e4e8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95ca61ef14cf7" /><Relationship Type="http://schemas.openxmlformats.org/officeDocument/2006/relationships/notesSlide" Target="/ppt/notesSlides/notesSlide19.xml" Id="R89f568511ef047a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c5935448746bd" /><Relationship Type="http://schemas.openxmlformats.org/officeDocument/2006/relationships/notesSlide" Target="/ppt/notesSlides/notesSlide20.xml" Id="Raec39b0fb34b4a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2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8096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問題探索與選題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857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兩個候選痛點，選一個方向驗證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本週任務：準備三位受訪者與兩個訪談問題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21920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B4B4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600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057275"/>
            <a:ext cx="1143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92405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5952478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50 位學生各自留下觀察，Week 5 再選小組 MVP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2 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候選痛點，一個暫定方向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76500"/>
            <a:ext cx="571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9525">
            <a:solidFill>
              <a:srgbClr val="E6394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取回 Week 1 起點卡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未提交者先補交；已提交者可查看與修訂，保留原始紀錄。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623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比較後說明選擇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00525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記下人物、情境、阻礙、頻率、代價、替代方法、證據與假設。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準備接觸真實使用者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911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每人列出三位受訪者與兩題問題；Week 5 組隊最多三人。</a:t>
            </a:r>
          </a:p>
        </p:txBody>
      </p:sp>
    </p:spTree>
    <p:extLst>
      <p:ext uri="{BB962C8B-B14F-4D97-AF65-F5344CB8AC3E}">
        <p14:creationId xmlns:p14="http://schemas.microsoft.com/office/powerpoint/2010/main" val="189848953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先取回觀察，再比較候選痛點，最後修訂與提交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9525">
            <a:solidFill>
              <a:srgbClr val="E6394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回顧與影片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0–10 取回起點卡與回饋
10–25 影片重點導讀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25–55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95B"/>
          </a:solidFill>
          <a:ln xmlns:a="http://schemas.openxmlformats.org/drawingml/2006/main" w="9525">
            <a:solidFill>
              <a:srgbClr val="14395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案例與示範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25–45 痛點與解法案例
45–55 三種路徑示範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55–100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827"/>
          </a:solidFill>
          <a:ln xmlns:a="http://schemas.openxmlformats.org/drawingml/2006/main" w="9525">
            <a:solidFill>
              <a:srgbClr val="C9982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探索與互評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55–65 休息
65–85 探索
85–100 同儕檢核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9525">
            <a:solidFill>
              <a:srgbClr val="12121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修訂與提交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100–110 規則與 AI 檢查
110–120 提交、準備訪談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本週完成可訪談的暫定痛點；是否適合成為 MVP，要等待後續證據。</a:t>
            </a:r>
          </a:p>
        </p:txBody>
      </p:sp>
    </p:spTree>
    <p:extLst>
      <p:ext uri="{BB962C8B-B14F-4D97-AF65-F5344CB8AC3E}">
        <p14:creationId xmlns:p14="http://schemas.microsoft.com/office/powerpoint/2010/main" val="185888388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三種引導路徑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依今天需要的協助選擇，切換路徑會保留回答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9525">
            <a:solidFill>
              <a:srgbClr val="E6394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098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一步一步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9825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一次回答一題，從生活場景、最近事件與目前做法開始。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194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95B"/>
          </a:solidFill>
          <a:ln xmlns:a="http://schemas.openxmlformats.org/drawingml/2006/main" w="9525">
            <a:solidFill>
              <a:srgbClr val="14395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623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檢查想法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362325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比較兩至三題的人物、頻率、代價、證據與可接觸性。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827"/>
          </a:solidFill>
          <a:ln xmlns:a="http://schemas.openxmlformats.org/drawingml/2006/main" w="9525">
            <a:solidFill>
              <a:srgbClr val="C9982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148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進階挑戰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14825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找反例、付費者與最危險假設，練習最低成本驗證。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244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共同成果不變，路徑不代表能力等級；AI 不決定成績或能否提交。</a:t>
            </a:r>
          </a:p>
        </p:txBody>
      </p:sp>
    </p:spTree>
    <p:extLst>
      <p:ext uri="{BB962C8B-B14F-4D97-AF65-F5344CB8AC3E}">
        <p14:creationId xmlns:p14="http://schemas.microsoft.com/office/powerpoint/2010/main" val="6824717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兩個候選痛點的比較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以下為教學情境，請用自己的真實觀察取代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候選 A：午休購餐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4762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午休空檔短的學生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排隊壓縮用餐時間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目前改買便利商店食物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頻率與代價仍需驗證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28875"/>
            <a:ext cx="381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候選 B：分組約時間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4762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課表不同的分組成員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反覆確認可開會時間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目前在群組逐一詢問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耗時與影響仍需驗證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選題理由：目前知道什麼？能接觸誰？什麼新證據會讓你改變選擇？</a:t>
            </a:r>
          </a:p>
        </p:txBody>
      </p:sp>
    </p:spTree>
    <p:extLst>
      <p:ext uri="{BB962C8B-B14F-4D97-AF65-F5344CB8AC3E}">
        <p14:creationId xmlns:p14="http://schemas.microsoft.com/office/powerpoint/2010/main" val="3372043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7635BE-3EC3-46CF-8521-D60667B0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AC87ED-DFF8-45BD-AB94-149DA64F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午餐排隊，困擾發生在哪裡？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8B84B-9BC9-4C52-A25B-2F1FF446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保留原句，再補時間、地點與人物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3D2D0-F2B6-4AEA-9D63-2E807A94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C693C-BC4D-46F8-BE93-FD68E474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81695-5675-4D2C-A0AD-57CB062F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E9758-1074-4800-BC68-A8EA7546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924675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3A0D5-2350-4792-9DCE-EFB72089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762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51EDB-7E14-4C4F-B67B-5D5501CA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62293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「我又要遲到了，</a:t>
            </a:r>
          </a:p>
          <a:p xmlns:a="http://schemas.openxmlformats.org/drawingml/2006/main">
            <a:r>
              <a:rPr sz="31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午餐排隊根本來不及。」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5FBF1-E297-4C20-A32E-F2F959A0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星期三中午  /  校園餐廳外  /  通勤同學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DC5E7-8CDE-4F33-92F6-656640CF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771775"/>
            <a:ext cx="33051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DE6FE-4084-4883-825E-FECA9C49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00350"/>
            <a:ext cx="2428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校園餐廳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AD12A-7A09-46C5-996C-CEFF3D7E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62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0AC28-8FB7-4957-A9C4-85B78606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86200"/>
            <a:ext cx="476250" cy="6096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CCC67B-F573-4E95-AD9C-24E912E9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1BA32B-F350-4B1F-AF92-2DAB1627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7B3D5E-3E31-46DE-8AA8-7D8C2183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62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4CD36-EC97-485D-92FD-6C370881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886200"/>
            <a:ext cx="476250" cy="6096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27CC69-72DE-4E07-878B-3ECE8A59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89A704-B3C7-4122-8AA3-C065310F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ECD60C-D707-4FC2-BE2F-55B296BD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2458D7-8388-4F60-B024-A8249B1B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86200"/>
            <a:ext cx="476250" cy="6096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E7161A-F112-4D15-A01F-1AA4C300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060602-FDDD-401C-9ACA-59F2625B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D23766-27D3-4D4D-BFE5-010DE82E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486150"/>
            <a:ext cx="742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121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99209A-0562-4EAE-B62C-A545A6EA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3638550"/>
            <a:ext cx="3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6FC0D9-77BD-448C-B77B-E04A3351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3876675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1B356F-5F7B-4013-B995-09FAE01A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029200"/>
            <a:ext cx="3495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6262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5E11BE-F545-4D47-A7F8-F63D2752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待驗證：排隊、距離、價格，哪一項才是主要困擾？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647F41-F816-4276-ABEC-7015C8FD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38162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假設教學情境</a:t>
            </a:r>
          </a:p>
        </p:txBody>
      </p:sp>
    </p:spTree>
    <p:extLst>
      <p:ext uri="{BB962C8B-B14F-4D97-AF65-F5344CB8AC3E}">
        <p14:creationId xmlns:p14="http://schemas.microsoft.com/office/powerpoint/2010/main" val="552281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E9112B-AF49-4586-9131-83605F20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81EBE-4B96-455F-82DC-5C98324B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影片的五個選題提醒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E2160-BDA4-4FAA-BDED-9C0B2FFF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How to Get and Evaluate Startup Ideas 的教學意譯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2D190-0077-4042-95AB-07791A1C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E1B35-3DCA-4E0A-B4A3-1122D584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C003F-1A5D-4AA1-926C-22C4C0DB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207E2-193A-4E03-AB6E-2237DBF9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4566E-A6F3-4925-84AC-96F8CFEA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45BDF-C77C-4A9F-9FA8-803082AA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241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從熟悉領域與真實問題找起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CA1C7-4208-48A0-9D4E-29C4759A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2417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91A01-EB57-49D8-9BBE-3FCEA17D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27EF0-505D-4AD9-971A-E8FDA317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7657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DC3D4-0D4C-464F-A013-A471C5F5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5752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避免先愛上解法，再替它找問題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7C0E7E-6F84-4C90-A68C-645818E9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57600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06FA28-F89E-4384-9A74-EE4157BC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82C62-A964-48F0-BBB7-4654FB34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C8157-5EED-4972-84FA-34052199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檢查自己的理解與接觸使用者的優勢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3D928-9103-48FE-BEB9-AAB525A3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910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0CAE7-2608-421F-AC71-1C3BD9D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8ACF16-432E-46DF-87CC-66362180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37A801-4ABA-4B34-BD43-FC43FB34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2437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了解既有替代方式與競爭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0CCA0F-4155-48B3-A5CC-FFF42E1F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24450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D5A3E-E75B-40B7-AAB1-3CE42A6B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DF3A3C-87F9-4C2A-9441-2C7823A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768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853A51-FB7E-4696-B708-F309D4B8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578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先選暫定方向，隨新證據調整</a:t>
            </a:r>
          </a:p>
        </p:txBody>
      </p:sp>
    </p:spTree>
    <p:extLst>
      <p:ext uri="{BB962C8B-B14F-4D97-AF65-F5344CB8AC3E}">
        <p14:creationId xmlns:p14="http://schemas.microsoft.com/office/powerpoint/2010/main" val="7443207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E51CBA-82C8-49B5-A679-27E21DDA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C9374-2343-4BE3-AE6F-481B7C31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 YC 影片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D6ED46-4B5C-4DE7-94D9-EF51017D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How to Get and Evaluate Startup Ideas · Jared Friedman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0743C-E6CE-49C9-BD81-75FB94AC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41E72-43CF-4ECE-A142-A56C8C16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909966-2A99-4B30-A195-E662ECAA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D6F5E4-C3D8-4E4D-8F60-4C7501DE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3505200" cy="2676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E7AC2-3FA7-4FF0-91BB-4CE9E08D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350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7D7B0-EB44-4452-8EC9-27585F6E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76525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9F5000-F6DE-4B6B-AB29-8976DBD3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我的觀察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69BBE-5B34-47BC-AC81-43C21498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哪一個問題來自</a:t>
            </a:r>
          </a:p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自己的真實經驗？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711E8-48F8-4470-B2F2-9B9309AA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38400"/>
            <a:ext cx="3505200" cy="2676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02E1C9-ED85-4072-8D04-16B70667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38400"/>
            <a:ext cx="350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DDF27D-3C58-4069-AC3A-1DFF4E82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76525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AED7C-4A37-439A-AD2D-EC14CC7F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我的未知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B30F38-691F-4AD4-AB4F-B49E1929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哪些只是推測，</a:t>
            </a:r>
          </a:p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還要問使用者？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8B680-9E4E-4BFF-81B0-EC04CA5C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38400"/>
            <a:ext cx="3505200" cy="2676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4C8991-0650-474B-940A-AE6FFAE5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38400"/>
            <a:ext cx="350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F71F3-B5CE-448C-A307-D2AC2F35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76525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B6F892-140A-4F15-A4D1-276CA717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我的下一步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E64BC5-91BD-4DD7-9BF4-DE15765B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能接觸誰，</a:t>
            </a:r>
          </a:p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取得什麼證據？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E80CEC-8842-4BB2-942D-C861E4E0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YC Startup School 2022 系列；本課採用選題框架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4F63D8-2087-40C4-9F97-289B055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66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影片：youtube.com/watch?v=Th8JoIan4dg</a:t>
            </a:r>
          </a:p>
        </p:txBody>
      </p:sp>
    </p:spTree>
    <p:extLst>
      <p:ext uri="{BB962C8B-B14F-4D97-AF65-F5344CB8AC3E}">
        <p14:creationId xmlns:p14="http://schemas.microsoft.com/office/powerpoint/2010/main" val="11210472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頻率、代價與替代方式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不確定可標記待驗證，並說明怎麼查證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765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發生頻率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812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最近一週遇到幾次？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575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不知道時先標示待驗證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9090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7665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造成代價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58140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等待多久？錯過什麼？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5765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也可記錄金錢、機會或情緒影響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9105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768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目前做法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7815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現在怎麼處理？為何選它？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578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例如改買餐點、提前出門或忍耐</a:t>
            </a:r>
          </a:p>
        </p:txBody>
      </p:sp>
    </p:spTree>
    <p:extLst>
      <p:ext uri="{BB962C8B-B14F-4D97-AF65-F5344CB8AC3E}">
        <p14:creationId xmlns:p14="http://schemas.microsoft.com/office/powerpoint/2010/main" val="11807076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B8D3BC-6F9C-4FF6-9408-22B5502B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E94B8-638C-45EE-88C9-E792C8FC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人物與情境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ACF9F-5FEB-48CE-B65C-931C791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讓同學知道下週要找誰訪談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8BBCC-0F37-4529-8B9C-0F6B5ADC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C4C18-141E-42C6-965D-54526F9A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9D397-E385-497D-A18F-C21B86E8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E61CC-952C-4C65-A7AE-3F920868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147BF-0043-4F18-8B38-7B983C2F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12AE4-051D-4B58-90C9-DD2C0CD2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假設教學情境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7E2415-B7F2-46A0-ABCC-812EFEFB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中午兩堂課間隔很短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的通勤學生，在餐廳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排隊時來不及吃飯。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99F11-198E-4930-97B7-EF417B4A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A198EC-FC68-4F5C-B41F-E58C672D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什麼時候？在哪裡？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4E6F1-EA1D-4F56-BAA8-5C25D5B6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313E54-D23D-4157-9535-75F603A0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哪類學生真的遇過？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1BAE5-9506-44AE-9F47-956A8D56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「所有學生」太廣；先描述可接觸、有相同情境的對象。</a:t>
            </a:r>
          </a:p>
        </p:txBody>
      </p:sp>
    </p:spTree>
    <p:extLst>
      <p:ext uri="{BB962C8B-B14F-4D97-AF65-F5344CB8AC3E}">
        <p14:creationId xmlns:p14="http://schemas.microsoft.com/office/powerpoint/2010/main" val="1102528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D2CC10-49A9-4B2F-A703-CFEEA174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271D0-F42F-410F-8C54-D04BF509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問題與產品構想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9C021-668F-4EC2-B07A-968DC09F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先描述目前發生的阻礙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32BB0-E85A-4B0B-9ED0-9F8DA0A1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9744F-70CA-4C57-B905-36B2B114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7F4AE-5BC6-4D0B-9AEF-89BB4938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C16C1-4F34-4C61-A4CE-D19D4A8D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92AF1-462B-4BBA-9616-A393CA3B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52D7E-E401-4F1A-912A-DD72A311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解法先行的例子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59FCB-3F76-4A54-B0C6-739F0F74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「我要做一個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訂餐 App。」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8F928-A58F-4CEC-B00E-8B67AECA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61E7D-3F50-4CDF-BA4D-9BDCEA02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使用者想完成什麼？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D6E7C0-AA95-4301-9EC4-3A9BBA34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BF70FB-348E-42A6-8EB7-2452D5ED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拿掉 App 名稱，</a:t>
            </a:r>
          </a:p>
          <a:p xmlns:a="http://schemas.openxmlformats.org/drawingml/2006/main"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遇到的阻礙還是什麼？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99EBA7-F7A6-4CBC-8E46-A7A6B884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可以有產品想法，但需要先找真實問題與使用者證據。</a:t>
            </a:r>
          </a:p>
        </p:txBody>
      </p:sp>
    </p:spTree>
    <p:extLst>
      <p:ext uri="{BB962C8B-B14F-4D97-AF65-F5344CB8AC3E}">
        <p14:creationId xmlns:p14="http://schemas.microsoft.com/office/powerpoint/2010/main" val="11959541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7AF06B-144A-4A96-B49C-2E71E3D5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BC339-A0B6-42D3-8A8E-4305C418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事實與觀察來源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2A7BF4-4954-413B-8C5B-7EE13B29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交代真實事件、時間及資料來源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CCA24-C90C-4AC9-B08C-76D9915D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0C966-124B-4D5C-8E84-C7D07964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4A360-A1BF-4395-9A63-31FDBD9D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A2FF7-5422-4527-9283-E7FB9ECD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CF40A1-F748-4CD6-8C45-46E4FB90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BF9EB-35F8-4D32-8ACF-90216189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假設教學情境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CEFE7-8FAF-4F0E-A3B3-5D634686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我在星期三中午，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記錄自己在餐廳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開始與結束等候的時間。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51824-B881-4CAE-80DB-01C0CCF1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116C6-1E98-4F6C-AD27-375E1B72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哪些是親身觀察？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B4C04-78D1-4EFC-9323-45BC7D62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94763-1F7F-43DA-81BE-D51ECFE8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哪些來自他人原話？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72092A-4D51-4639-9619-2FF162B0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一次個人觀察，不能直接推論全班或全校都遇到同樣問題。</a:t>
            </a:r>
          </a:p>
        </p:txBody>
      </p:sp>
    </p:spTree>
    <p:extLst>
      <p:ext uri="{BB962C8B-B14F-4D97-AF65-F5344CB8AC3E}">
        <p14:creationId xmlns:p14="http://schemas.microsoft.com/office/powerpoint/2010/main" val="10453496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212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F28F05-7C65-4498-B38D-E705A99A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577F5-BFBD-4B0C-9DC2-8068A841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假設與可能的反例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7C534-3C74-43B6-913C-16C12461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寫下會使你改變選擇的證據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A1133-4200-4B6F-9CEE-57221643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F5D04-D424-463C-A3C0-24F671AC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82062-99BC-4CC4-96B2-29A72019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13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AA4CA-17E2-4DD5-B9C6-C1A6B9B0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16438-45F4-42A9-9F1D-A85AC0AE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8CDEF-17FE-4567-8A90-8165A121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仍待驗證的想法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39A299-D7C3-4772-9E83-544E07DA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我猜其他通勤同學</a:t>
            </a:r>
          </a:p>
          <a:p xmlns:a="http://schemas.openxmlformats.org/drawingml/2006/main"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也常因排隊太久，</a:t>
            </a:r>
          </a:p>
          <a:p xmlns:a="http://schemas.openxmlformats.org/drawingml/2006/main"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來不及吃完午餐。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AB7223-C1B6-443D-A09E-BC25CA8A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B3A6D-F741-4453-8E90-956BE00F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誰沒有這個困擾？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E581B-F7EA-41C0-933A-86CADDDA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F8E166-5CED-4A9A-A28D-4B61ECEB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如果大家更在意價格，</a:t>
            </a:r>
          </a:p>
          <a:p xmlns:a="http://schemas.openxmlformats.org/drawingml/2006/main"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我會如何調整題目？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55943-4972-48DF-9A48-1C155A92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AI 提出的方向與模擬回答都不是使用者證據。</a:t>
            </a:r>
          </a:p>
        </p:txBody>
      </p:sp>
    </p:spTree>
    <p:extLst>
      <p:ext uri="{BB962C8B-B14F-4D97-AF65-F5344CB8AC3E}">
        <p14:creationId xmlns:p14="http://schemas.microsoft.com/office/powerpoint/2010/main" val="1121159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兩個非引導式問題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詢問過去真實經驗，讓使用者用自己的話回答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14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3721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3721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447925"/>
            <a:ext cx="4857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267075"/>
            <a:ext cx="48863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上次午休買餐時，</a:t>
            </a:r>
          </a:p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發生了什麼？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657725"/>
            <a:ext cx="4886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第二題：當時怎麼處理？為何選那個方法？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62200"/>
            <a:ext cx="53721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62200"/>
            <a:ext cx="53721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447925"/>
            <a:ext cx="4857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需要修改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67075"/>
            <a:ext cx="48863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你是不是也覺得排隊很糟？</a:t>
            </a:r>
          </a:p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你會使用我的 App 嗎？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57725"/>
            <a:ext cx="4886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這些問法暗示答案，或要求預測未來行為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訪談前確認：沒有推銷產品，也沒有替對方決定答案。</a:t>
            </a:r>
          </a:p>
        </p:txBody>
      </p:sp>
    </p:spTree>
    <p:extLst>
      <p:ext uri="{BB962C8B-B14F-4D97-AF65-F5344CB8AC3E}">
        <p14:creationId xmlns:p14="http://schemas.microsoft.com/office/powerpoint/2010/main" val="19064308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F758EE-CD86-48B7-9528-D7F1ABB3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08B2D-B5A5-4C29-AC67-4F609BCB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三位可接觸的受訪者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F344C-5FEC-4E4B-ADC7-6A1F81F0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寫角色與接觸方式，不填姓名、Email、電話或敏感資料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DA960-2142-4AA8-995C-CA83244B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1B358-EF55-433A-8C01-0CA7654E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A8098-6BDA-42DF-A127-0FA3683F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C57CC-9AE6-46B1-9743-23518ADF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4A629-9C9A-413E-B4D0-4A970115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41B910-5196-43A9-BEA5-4EEAB468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438400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通勤同學 A：下課後先詢問意願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A165C-D9D7-43F9-ACA1-D8242F9A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28950"/>
            <a:ext cx="8162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8C1EEE-5161-4193-8F3E-7037FA3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4F02C-5EE6-4782-B407-6B2ECB43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9925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FD529-F489-4B5D-89AC-1E01DFEC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09925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通勤同學 B：社團活動後詢問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FCBDC-21FE-44B9-894A-F61DFD23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800475"/>
            <a:ext cx="8162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CE1DD2-4CD5-4252-ABCC-53AC0262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BA06E9-B0C2-4FDE-90A6-C2391F0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ECEE49-84FB-4548-8DE8-7C47D42C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981450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通勤同學 C：午休時詢問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18B70-D194-4C9C-8FE3-6F5886EC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572000"/>
            <a:ext cx="8162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0C033-9B59-4F45-B65B-E28E2425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17F3F-EA23-412B-8332-A63CBF0A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符合的條件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E5E0B-8F52-432E-AB48-77C12225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752975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都曾遇過你想了解的情境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6F7644-0D00-471F-B615-B1B17A0A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155734-41A4-4D8E-AB83-784EDE4A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其他組同學也可以；先確認符合對象，再安排 Week 3 訪談。</a:t>
            </a:r>
          </a:p>
        </p:txBody>
      </p:sp>
    </p:spTree>
    <p:extLst>
      <p:ext uri="{BB962C8B-B14F-4D97-AF65-F5344CB8AC3E}">
        <p14:creationId xmlns:p14="http://schemas.microsoft.com/office/powerpoint/2010/main" val="10833296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同儕檢核的四個問題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每人交換自己的卡，指出一個具體缺口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誰、何時、何地？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例：午休空檔短的通勤同學，在餐廳排隊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最近一次發生什麼？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請描述真實事件，區分觀察與自己的解讀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代價與替代方法？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例：改買便利商店食物；耗時仍待驗證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什麼證據會推翻？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例：同學其實更在意價格，而非等候時間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6394075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FA8C43-4D14-4E8C-855D-2889AFAB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9ED36-4AA3-4F9F-9C60-211D2D8A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進階挑戰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A5486-E8D9-4987-855E-C6CD3661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核心成果相同，額外練習尋找反證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4BA38-8990-412B-9C1D-0A8E3908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4054D-90AA-4ABA-B0B0-B3C720BA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A8A27-4E4A-4434-B71C-4B3B7CA0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17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D3F80-E2AD-43FA-9AFB-1FBFA3C3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B9ABDC-4359-4ED4-BB66-A1ED698C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7DD043-484B-4C4A-B588-72EC2FAF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F8BC1-6030-49A9-A850-933F9CEB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誰沒有問題？最大的反例？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5C1FD6-4D57-4EE3-9121-C6B9E154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不要只找支持自己想法的例子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2CB0C-DADA-4EF6-9188-22027D67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3E805-98A1-43EE-8DF6-38C4DB29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94AED-AC06-4358-BA1C-DF61F512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15D75-B599-4B34-AA8C-DABD9566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9139F-08DB-4996-BDAA-D6A9B34A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為何接受現在的方法？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AF7D7-1561-488C-94AC-F6C0FDB1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理解改變習慣的成本與現有方法的好處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9A6C0-5AB0-423D-BB2B-D84337A1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CEDE4-238E-4285-93C9-C6D5E454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49DA36-489E-40FA-AA2C-1E1024E9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7A975C-BB8D-4E24-9AD9-B9306A46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CD130-7FBF-4137-A50A-C8E9AA79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使用者、受益者與付費者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EB1A9-C2E4-4B8F-BA67-C669AF36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這些角色是否相同？不要先假設會付費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5D0B71-E992-4185-9356-2C5A207D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216008-54D5-4AF7-AF78-8DEDE605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74CA82-DE00-48D0-9AB8-9C49637D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82A4D8-F5BC-4374-83B4-B3FE8D20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F1134F-C9C8-44DF-9CAB-24A00222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最危險假設與最低成本測試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F8F6E3-4705-46D0-A1EC-BB3B66B9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哪項證據會讓你放棄或縮小這個題目？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1E9309-FE12-4B5B-83F7-C857AF79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9274017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212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修訂後的痛點陳述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把情境、人物、工作、阻礙與未知連起來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18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02870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在＿＿情境中，＿＿的人想要＿＿，</a:t>
            </a:r>
          </a:p>
          <a:p xmlns:a="http://schemas.openxmlformats.org/drawingml/2006/main"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但因為＿＿而遇到＿＿，目前用＿＿處理；</a:t>
            </a:r>
          </a:p>
          <a:p xmlns:a="http://schemas.openxmlformats.org/drawingml/2006/main"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我仍需驗證＿＿。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863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選題理由：為什麼先研究這一題？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76900"/>
            <a:ext cx="1028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本週形成暫定方向，Week 5 再依證據選定小組 MVP。</a:t>
            </a:r>
          </a:p>
        </p:txBody>
      </p:sp>
    </p:spTree>
    <p:extLst>
      <p:ext uri="{BB962C8B-B14F-4D97-AF65-F5344CB8AC3E}">
        <p14:creationId xmlns:p14="http://schemas.microsoft.com/office/powerpoint/2010/main" val="14562074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離堂前提交清單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必要欄位通過即可提交，教師待抽查時仍可準備訪談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19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145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38375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至少兩個不同候選痛點，九項核心欄位已填寫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已選一題並說明理由，以及會改變選擇的證據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004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24225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已完成自己的痛點陳述，事實與假設分開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433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67150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已有三位可接觸受訪者與兩個非引導式問題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862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6394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0075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已在網站保存，並看到正式提交成功訊息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6394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53000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如有使用 AI，保留建議與修訂，不當成真實證據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728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0"/>
            <a:ext cx="10525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若老師要求先討論，確認安全、隱私與倫理風險後再訪談。</a:t>
            </a:r>
          </a:p>
        </p:txBody>
      </p:sp>
    </p:spTree>
    <p:extLst>
      <p:ext uri="{BB962C8B-B14F-4D97-AF65-F5344CB8AC3E}">
        <p14:creationId xmlns:p14="http://schemas.microsoft.com/office/powerpoint/2010/main" val="148112874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2  /  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卡關、修訂與教師互動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無法使用或額度用完，仍可保存與提交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 /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765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卡關時探索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812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先填生活場景與一個真實事件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575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最多給三個待驗證方向，不代寫作業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9090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7665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檢查與修訂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58140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先規則檢查，再選用 AI 建議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5765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引導 3 次，標準／挑戰 2 次；教師可調整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9105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768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保存與訪談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7815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提交後可修改，原版本會保留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578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教師可確認、請修訂，或要求先討論</a:t>
            </a:r>
          </a:p>
        </p:txBody>
      </p:sp>
    </p:spTree>
    <p:extLst>
      <p:ext uri="{BB962C8B-B14F-4D97-AF65-F5344CB8AC3E}">
        <p14:creationId xmlns:p14="http://schemas.microsoft.com/office/powerpoint/2010/main" val="11807076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2026-09-27T03:35:44.2050000Z</dcterms:created>
  <dcterms:modified xsi:type="dcterms:W3CDTF">2026-09-27T03:35:44.2050000Z</dcterms:modified>
</coreProperties>
</file>