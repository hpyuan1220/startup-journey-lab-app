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1a317ef763e4d35" /><Relationship Type="http://schemas.openxmlformats.org/officeDocument/2006/relationships/extended-properties" Target="/docProps/app.xml" Id="Rae4489067d0042a2" /><Relationship Type="http://schemas.openxmlformats.org/officeDocument/2006/relationships/officeDocument" Target="/ppt/presentation.xml" Id="R6f03bd32eb3c440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5195986f94c47a7"/>
  </p:sldMasterIdLst>
  <p:notesMasterIdLst>
    <p:notesMasterId xmlns:r="http://schemas.openxmlformats.org/officeDocument/2006/relationships" r:id="R2fdc3a4b6c7f4ab9"/>
  </p:notesMasterIdLst>
  <p:sldIdLst>
    <p:sldId xmlns:r="http://schemas.openxmlformats.org/officeDocument/2006/relationships" id="256" r:id="R93d335bc1c19427c"/>
    <p:sldId xmlns:r="http://schemas.openxmlformats.org/officeDocument/2006/relationships" id="257" r:id="R8ac5479fb47f41f3"/>
    <p:sldId xmlns:r="http://schemas.openxmlformats.org/officeDocument/2006/relationships" id="258" r:id="R11291f78955b4049"/>
    <p:sldId xmlns:r="http://schemas.openxmlformats.org/officeDocument/2006/relationships" id="259" r:id="Re1225cee05314169"/>
    <p:sldId xmlns:r="http://schemas.openxmlformats.org/officeDocument/2006/relationships" id="260" r:id="R2a88220da98c4fc2"/>
    <p:sldId xmlns:r="http://schemas.openxmlformats.org/officeDocument/2006/relationships" id="261" r:id="Rb4402c5480164a20"/>
    <p:sldId xmlns:r="http://schemas.openxmlformats.org/officeDocument/2006/relationships" id="262" r:id="R6d2a5db2e4d14ec7"/>
    <p:sldId xmlns:r="http://schemas.openxmlformats.org/officeDocument/2006/relationships" id="263" r:id="Rcad81bedcd434c21"/>
    <p:sldId xmlns:r="http://schemas.openxmlformats.org/officeDocument/2006/relationships" id="264" r:id="Rf86eaef2201d4b98"/>
    <p:sldId xmlns:r="http://schemas.openxmlformats.org/officeDocument/2006/relationships" id="265" r:id="Rcf7a232ec75a4b17"/>
    <p:sldId xmlns:r="http://schemas.openxmlformats.org/officeDocument/2006/relationships" id="266" r:id="R20bb8802cc484589"/>
    <p:sldId xmlns:r="http://schemas.openxmlformats.org/officeDocument/2006/relationships" id="267" r:id="Rcda221b2167f4590"/>
    <p:sldId xmlns:r="http://schemas.openxmlformats.org/officeDocument/2006/relationships" id="268" r:id="Rc76743bbbfca4acf"/>
    <p:sldId xmlns:r="http://schemas.openxmlformats.org/officeDocument/2006/relationships" id="269" r:id="R76ef55ed907c48d1"/>
    <p:sldId xmlns:r="http://schemas.openxmlformats.org/officeDocument/2006/relationships" id="270" r:id="Ra3a7f0a0ae1e41af"/>
    <p:sldId xmlns:r="http://schemas.openxmlformats.org/officeDocument/2006/relationships" id="271" r:id="R295c6eace1774ffd"/>
    <p:sldId xmlns:r="http://schemas.openxmlformats.org/officeDocument/2006/relationships" id="272" r:id="R7fdac0af99fd4969"/>
    <p:sldId xmlns:r="http://schemas.openxmlformats.org/officeDocument/2006/relationships" id="273" r:id="R296f168eef7b43c7"/>
    <p:sldId xmlns:r="http://schemas.openxmlformats.org/officeDocument/2006/relationships" id="274" r:id="Rdf1d7952e5ed4868"/>
    <p:sldId xmlns:r="http://schemas.openxmlformats.org/officeDocument/2006/relationships" id="275" r:id="Rafa2dae71bb64c2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90d6c4f48c44d70" /><Relationship Type="http://schemas.openxmlformats.org/officeDocument/2006/relationships/slideMaster" Target="/ppt/slideMasters/slideMaster1.xml" Id="Rf5195986f94c47a7" /><Relationship Type="http://schemas.openxmlformats.org/officeDocument/2006/relationships/notesMaster" Target="/ppt/notesMasters/notesMaster1.xml" Id="R2fdc3a4b6c7f4ab9" /><Relationship Type="http://schemas.openxmlformats.org/officeDocument/2006/relationships/presProps" Target="/ppt/presProps.xml" Id="R9b4ce8b1a6a447fe" /><Relationship Type="http://schemas.openxmlformats.org/officeDocument/2006/relationships/tableStyles" Target="/ppt/tableStyles.xml" Id="R480d7f6fc6ec4965" /><Relationship Type="http://schemas.openxmlformats.org/officeDocument/2006/relationships/slide" Target="/ppt/slides/slide1.xml" Id="R93d335bc1c19427c" /><Relationship Type="http://schemas.openxmlformats.org/officeDocument/2006/relationships/slide" Target="/ppt/slides/slide2.xml" Id="R8ac5479fb47f41f3" /><Relationship Type="http://schemas.openxmlformats.org/officeDocument/2006/relationships/slide" Target="/ppt/slides/slide3.xml" Id="R11291f78955b4049" /><Relationship Type="http://schemas.openxmlformats.org/officeDocument/2006/relationships/slide" Target="/ppt/slides/slide4.xml" Id="Re1225cee05314169" /><Relationship Type="http://schemas.openxmlformats.org/officeDocument/2006/relationships/slide" Target="/ppt/slides/slide5.xml" Id="R2a88220da98c4fc2" /><Relationship Type="http://schemas.openxmlformats.org/officeDocument/2006/relationships/slide" Target="/ppt/slides/slide6.xml" Id="Rb4402c5480164a20" /><Relationship Type="http://schemas.openxmlformats.org/officeDocument/2006/relationships/slide" Target="/ppt/slides/slide7.xml" Id="R6d2a5db2e4d14ec7" /><Relationship Type="http://schemas.openxmlformats.org/officeDocument/2006/relationships/slide" Target="/ppt/slides/slide8.xml" Id="Rcad81bedcd434c21" /><Relationship Type="http://schemas.openxmlformats.org/officeDocument/2006/relationships/slide" Target="/ppt/slides/slide9.xml" Id="Rf86eaef2201d4b98" /><Relationship Type="http://schemas.openxmlformats.org/officeDocument/2006/relationships/slide" Target="/ppt/slides/slide10.xml" Id="Rcf7a232ec75a4b17" /><Relationship Type="http://schemas.openxmlformats.org/officeDocument/2006/relationships/slide" Target="/ppt/slides/slide11.xml" Id="R20bb8802cc484589" /><Relationship Type="http://schemas.openxmlformats.org/officeDocument/2006/relationships/slide" Target="/ppt/slides/slide12.xml" Id="Rcda221b2167f4590" /><Relationship Type="http://schemas.openxmlformats.org/officeDocument/2006/relationships/slide" Target="/ppt/slides/slide13.xml" Id="Rc76743bbbfca4acf" /><Relationship Type="http://schemas.openxmlformats.org/officeDocument/2006/relationships/slide" Target="/ppt/slides/slide14.xml" Id="R76ef55ed907c48d1" /><Relationship Type="http://schemas.openxmlformats.org/officeDocument/2006/relationships/slide" Target="/ppt/slides/slide15.xml" Id="Ra3a7f0a0ae1e41af" /><Relationship Type="http://schemas.openxmlformats.org/officeDocument/2006/relationships/slide" Target="/ppt/slides/slide16.xml" Id="R295c6eace1774ffd" /><Relationship Type="http://schemas.openxmlformats.org/officeDocument/2006/relationships/slide" Target="/ppt/slides/slide17.xml" Id="R7fdac0af99fd4969" /><Relationship Type="http://schemas.openxmlformats.org/officeDocument/2006/relationships/slide" Target="/ppt/slides/slide18.xml" Id="R296f168eef7b43c7" /><Relationship Type="http://schemas.openxmlformats.org/officeDocument/2006/relationships/slide" Target="/ppt/slides/slide19.xml" Id="Rdf1d7952e5ed4868" /><Relationship Type="http://schemas.openxmlformats.org/officeDocument/2006/relationships/slide" Target="/ppt/slides/slide20.xml" Id="Rafa2dae71bb64c2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c4582d083a1498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23d60bab5a64125" /><Relationship Type="http://schemas.openxmlformats.org/officeDocument/2006/relationships/notesMaster" Target="/ppt/notesMasters/notesMaster1.xml" Id="R96e7976d36784d9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a93e9a1f9404189" /><Relationship Type="http://schemas.openxmlformats.org/officeDocument/2006/relationships/notesMaster" Target="/ppt/notesMasters/notesMaster1.xml" Id="R78fb6a1cb89a40e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b547a27eed6460e" /><Relationship Type="http://schemas.openxmlformats.org/officeDocument/2006/relationships/notesMaster" Target="/ppt/notesMasters/notesMaster1.xml" Id="Rb41c04476beb4bc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a4f392590db4b01" /><Relationship Type="http://schemas.openxmlformats.org/officeDocument/2006/relationships/notesMaster" Target="/ppt/notesMasters/notesMaster1.xml" Id="R7b666be688a3417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e013eac9ca14bf5" /><Relationship Type="http://schemas.openxmlformats.org/officeDocument/2006/relationships/notesMaster" Target="/ppt/notesMasters/notesMaster1.xml" Id="R08106373b1774a8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28220e4764f4883" /><Relationship Type="http://schemas.openxmlformats.org/officeDocument/2006/relationships/notesMaster" Target="/ppt/notesMasters/notesMaster1.xml" Id="R8cfa03a7dfde49c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fb5637b7b174d93" /><Relationship Type="http://schemas.openxmlformats.org/officeDocument/2006/relationships/notesMaster" Target="/ppt/notesMasters/notesMaster1.xml" Id="R22fee3731b5a428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893c0fb0d094194" /><Relationship Type="http://schemas.openxmlformats.org/officeDocument/2006/relationships/notesMaster" Target="/ppt/notesMasters/notesMaster1.xml" Id="Rc499d39bb25740d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37e63b6b8a14e78" /><Relationship Type="http://schemas.openxmlformats.org/officeDocument/2006/relationships/notesMaster" Target="/ppt/notesMasters/notesMaster1.xml" Id="R29ebf80fbe894ad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c6ae8427f3f46bc" /><Relationship Type="http://schemas.openxmlformats.org/officeDocument/2006/relationships/notesMaster" Target="/ppt/notesMasters/notesMaster1.xml" Id="R7ad017b968fe42d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1b2aaeb57c542a2" /><Relationship Type="http://schemas.openxmlformats.org/officeDocument/2006/relationships/notesMaster" Target="/ppt/notesMasters/notesMaster1.xml" Id="Rb93adc6ec6ca482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9e8214865f84d1d" /><Relationship Type="http://schemas.openxmlformats.org/officeDocument/2006/relationships/notesMaster" Target="/ppt/notesMasters/notesMaster1.xml" Id="Rbf372dfc3b9644e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ce5e0af10404dcb" /><Relationship Type="http://schemas.openxmlformats.org/officeDocument/2006/relationships/notesMaster" Target="/ppt/notesMasters/notesMaster1.xml" Id="Rf67ee03bce1246a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601fb28b2544697" /><Relationship Type="http://schemas.openxmlformats.org/officeDocument/2006/relationships/notesMaster" Target="/ppt/notesMasters/notesMaster1.xml" Id="R5e5feaa9e24143a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50cb26221884f36" /><Relationship Type="http://schemas.openxmlformats.org/officeDocument/2006/relationships/notesMaster" Target="/ppt/notesMasters/notesMaster1.xml" Id="R1596bb42884242df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c0eacf5193e46c8" /><Relationship Type="http://schemas.openxmlformats.org/officeDocument/2006/relationships/notesMaster" Target="/ppt/notesMasters/notesMaster1.xml" Id="R449d283ddbdc43a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268c8a9156604cad" /><Relationship Type="http://schemas.openxmlformats.org/officeDocument/2006/relationships/notesMaster" Target="/ppt/notesMasters/notesMaster1.xml" Id="R42ee33a0ae63498e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028ebf31749436e" /><Relationship Type="http://schemas.openxmlformats.org/officeDocument/2006/relationships/notesMaster" Target="/ppt/notesMasters/notesMaster1.xml" Id="R5ba9e582f18740b1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4182039ee5d94fb9" /><Relationship Type="http://schemas.openxmlformats.org/officeDocument/2006/relationships/notesMaster" Target="/ppt/notesMasters/notesMaster1.xml" Id="Rd18f3b3aecfb46eb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020ae61197274ef2" /><Relationship Type="http://schemas.openxmlformats.org/officeDocument/2006/relationships/notesMaster" Target="/ppt/notesMasters/notesMaster1.xml" Id="Rfd730b28ec8b480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教師提醒：例子是教學情境，請要求學生提出自己的真實觀察。影片來源：https://www.youtube.com/watch?v=Th8JoIan4dg；YC 官方系列：https://www.ycombinator.com/blog/startup-school-videos。課堂規則屬教學設計，非 YC 的評分標準。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教師提醒：例子是教學情境，請要求學生提出自己的真實觀察。影片來源：https://www.youtube.com/watch?v=Th8JoIan4dg；YC 官方系列：https://www.ycombinator.com/blog/startup-school-videos。課堂規則屬教學設計，非 YC 的評分標準。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教師提醒：例子是教學情境，請要求學生提出自己的真實觀察。影片來源：https://www.youtube.com/watch?v=Th8JoIan4dg；YC 官方系列：https://www.ycombinator.com/blog/startup-school-videos。課堂規則屬教學設計，非 YC 的評分標準。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教師提醒：例子是教學情境，請要求學生提出自己的真實觀察。影片來源：https://www.youtube.com/watch?v=Th8JoIan4dg；YC 官方系列：https://www.ycombinator.com/blog/startup-school-videos。課堂規則屬教學設計，非 YC 的評分標準。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教師提醒：例子是教學情境，請要求學生提出自己的真實觀察。影片來源：https://www.youtube.com/watch?v=Th8JoIan4dg；YC 官方系列：https://www.ycombinator.com/blog/startup-school-videos。課堂規則屬教學設計，非 YC 的評分標準。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教師提醒：例子是教學情境，請要求學生提出自己的真實觀察。影片來源：https://www.youtube.com/watch?v=Th8JoIan4dg；YC 官方系列：https://www.ycombinator.com/blog/startup-school-videos。課堂規則屬教學設計，非 YC 的評分標準。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教師提醒：例子是教學情境，請要求學生提出自己的真實觀察。影片來源：https://www.youtube.com/watch?v=Th8JoIan4dg；YC 官方系列：https://www.ycombinator.com/blog/startup-school-videos。課堂規則屬教學設計，非 YC 的評分標準。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教師提醒：例子是教學情境，請要求學生提出自己的真實觀察。影片來源：https://www.youtube.com/watch?v=Th8JoIan4dg；YC 官方系列：https://www.ycombinator.com/blog/startup-school-videos。課堂規則屬教學設計，非 YC 的評分標準。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教師提醒：例子是教學情境，請要求學生提出自己的真實觀察。影片來源：https://www.youtube.com/watch?v=Th8JoIan4dg；YC 官方系列：https://www.ycombinator.com/blog/startup-school-videos。課堂規則屬教學設計，非 YC 的評分標準。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教師提醒：例子是教學情境，請要求學生提出自己的真實觀察。影片來源：https://www.youtube.com/watch?v=Th8JoIan4dg；YC 官方系列：https://www.ycombinator.com/blog/startup-school-videos。課堂規則屬教學設計，非 YC 的評分標準。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教師提醒：例子是教學情境，請要求學生提出自己的真實觀察。影片來源：https://www.youtube.com/watch?v=Th8JoIan4dg；YC 官方系列：https://www.ycombinator.com/blog/startup-school-videos。課堂規則屬教學設計，非 YC 的評分標準。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教師提醒：例子是教學情境，請要求學生提出自己的真實觀察。影片來源：https://www.youtube.com/watch?v=Th8JoIan4dg；YC 官方系列：https://www.ycombinator.com/blog/startup-school-videos。課堂規則屬教學設計，非 YC 的評分標準。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教師提醒：例子是教學情境，請要求學生提出自己的真實觀察。影片來源：https://www.youtube.com/watch?v=Th8JoIan4dg；YC 官方系列：https://www.ycombinator.com/blog/startup-school-videos。課堂規則屬教學設計，非 YC 的評分標準。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教師提醒：例子是教學情境，請要求學生提出自己的真實觀察。影片來源：https://www.youtube.com/watch?v=Th8JoIan4dg；YC 官方系列：https://www.ycombinator.com/blog/startup-school-videos。課堂規則屬教學設計，非 YC 的評分標準。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教師提醒：例子是教學情境，請要求學生提出自己的真實觀察。影片來源：https://www.youtube.com/watch?v=Th8JoIan4dg；YC 官方系列：https://www.ycombinator.com/blog/startup-school-videos。課堂規則屬教學設計，非 YC 的評分標準。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教師提醒：例子是教學情境，請要求學生提出自己的真實觀察。影片來源：https://www.youtube.com/watch?v=Th8JoIan4dg；YC 官方系列：https://www.ycombinator.com/blog/startup-school-videos。課堂規則屬教學設計，非 YC 的評分標準。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教師提醒：例子是教學情境，請要求學生提出自己的真實觀察。影片來源：https://www.youtube.com/watch?v=Th8JoIan4dg；YC 官方系列：https://www.ycombinator.com/blog/startup-school-videos。課堂規則屬教學設計，非 YC 的評分標準。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教師提醒：例子是教學情境，請要求學生提出自己的真實觀察。影片來源：https://www.youtube.com/watch?v=Th8JoIan4dg；YC 官方系列：https://www.ycombinator.com/blog/startup-school-videos。課堂規則屬教學設計，非 YC 的評分標準。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教師提醒：例子是教學情境，請要求學生提出自己的真實觀察。影片來源：https://www.youtube.com/watch?v=Th8JoIan4dg；YC 官方系列：https://www.ycombinator.com/blog/startup-school-videos。課堂規則屬教學設計，非 YC 的評分標準。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教師提醒：例子是教學情境，請要求學生提出自己的真實觀察。影片來源：https://www.youtube.com/watch?v=Th8JoIan4dg；YC 官方系列：https://www.ycombinator.com/blog/startup-school-videos。課堂規則屬教學設計，非 YC 的評分標準。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ebca9a538b412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14d45558491415e" /><Relationship Type="http://schemas.openxmlformats.org/officeDocument/2006/relationships/slideLayout" Target="/ppt/slideLayouts/slideLayout1.xml" Id="Rd5f03fb47ed34d5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5f03fb47ed34d5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8e1cc73edd485b" /><Relationship Type="http://schemas.openxmlformats.org/officeDocument/2006/relationships/notesSlide" Target="/ppt/notesSlides/notesSlide1.xml" Id="R4067175bbc4d41f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62c16b0b6d4aa6" /><Relationship Type="http://schemas.openxmlformats.org/officeDocument/2006/relationships/notesSlide" Target="/ppt/notesSlides/notesSlide2.xml" Id="Rf874ed1c5b86426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48abbc8a814c7e" /><Relationship Type="http://schemas.openxmlformats.org/officeDocument/2006/relationships/notesSlide" Target="/ppt/notesSlides/notesSlide3.xml" Id="R07acf0d629b8410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798bc8f9fd447a" /><Relationship Type="http://schemas.openxmlformats.org/officeDocument/2006/relationships/notesSlide" Target="/ppt/notesSlides/notesSlide4.xml" Id="Rbaebd58f4adf458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c14fa0a1704757" /><Relationship Type="http://schemas.openxmlformats.org/officeDocument/2006/relationships/notesSlide" Target="/ppt/notesSlides/notesSlide5.xml" Id="R4adcab2a8592463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4166342f374e1f" /><Relationship Type="http://schemas.openxmlformats.org/officeDocument/2006/relationships/notesSlide" Target="/ppt/notesSlides/notesSlide6.xml" Id="R28c64a3116a84da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61126e6d304033" /><Relationship Type="http://schemas.openxmlformats.org/officeDocument/2006/relationships/notesSlide" Target="/ppt/notesSlides/notesSlide7.xml" Id="R915d025ebf134dd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2c0eae4f194f66" /><Relationship Type="http://schemas.openxmlformats.org/officeDocument/2006/relationships/notesSlide" Target="/ppt/notesSlides/notesSlide8.xml" Id="Rf43341d8d9d3401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bd9a3a44114022" /><Relationship Type="http://schemas.openxmlformats.org/officeDocument/2006/relationships/notesSlide" Target="/ppt/notesSlides/notesSlide9.xml" Id="R93fe4ab21ebe4fe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714c5e93814e24" /><Relationship Type="http://schemas.openxmlformats.org/officeDocument/2006/relationships/notesSlide" Target="/ppt/notesSlides/notesSlide10.xml" Id="R4bdc4550a5a940b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0acd20ccd6463d" /><Relationship Type="http://schemas.openxmlformats.org/officeDocument/2006/relationships/notesSlide" Target="/ppt/notesSlides/notesSlide11.xml" Id="Rf4d6d1ebccd843c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b4761ff7ae4779" /><Relationship Type="http://schemas.openxmlformats.org/officeDocument/2006/relationships/notesSlide" Target="/ppt/notesSlides/notesSlide12.xml" Id="Rfa335f4ad397429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fdb9ba954c4e81" /><Relationship Type="http://schemas.openxmlformats.org/officeDocument/2006/relationships/notesSlide" Target="/ppt/notesSlides/notesSlide13.xml" Id="R91822b73411543c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10a2aec8794edf" /><Relationship Type="http://schemas.openxmlformats.org/officeDocument/2006/relationships/notesSlide" Target="/ppt/notesSlides/notesSlide14.xml" Id="R6d58410e47fb415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ee4881b758445d" /><Relationship Type="http://schemas.openxmlformats.org/officeDocument/2006/relationships/notesSlide" Target="/ppt/notesSlides/notesSlide15.xml" Id="R27983374c007411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33b7aa831d42b5" /><Relationship Type="http://schemas.openxmlformats.org/officeDocument/2006/relationships/notesSlide" Target="/ppt/notesSlides/notesSlide16.xml" Id="R7307dca637a94f8e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8b92362a274205" /><Relationship Type="http://schemas.openxmlformats.org/officeDocument/2006/relationships/notesSlide" Target="/ppt/notesSlides/notesSlide17.xml" Id="R6c70e30bbf2247f3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bbd6c2a8314a02" /><Relationship Type="http://schemas.openxmlformats.org/officeDocument/2006/relationships/notesSlide" Target="/ppt/notesSlides/notesSlide18.xml" Id="Rd0cda1bfa2fa4682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eb68508bf44d40" /><Relationship Type="http://schemas.openxmlformats.org/officeDocument/2006/relationships/notesSlide" Target="/ppt/notesSlides/notesSlide19.xml" Id="Rce17a54ce15a4f7d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3efe1c17c64778" /><Relationship Type="http://schemas.openxmlformats.org/officeDocument/2006/relationships/notesSlide" Target="/ppt/notesSlides/notesSlide20.xml" Id="Rcb659c8348e441d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72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F79139-B4C0-4CE5-98BD-AD45E3073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85800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DDF09A"/>
                </a:solidFill>
                <a:latin typeface="PingFang TC"/>
                <a:ea typeface="PingFang TC"/>
                <a:cs typeface="PingFang TC"/>
              </a:defRPr>
            </a:pPr>
            <a:r>
              <a:rPr sz="4350" b="1">
                <a:solidFill>
                  <a:srgbClr val="DDF09A"/>
                </a:solidFill>
                <a:latin typeface="PingFang TC"/>
                <a:ea typeface="PingFang TC"/>
                <a:cs typeface="PingFang TC"/>
              </a:rPr>
              <a:t>問題探索與選題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7405F9-B2FB-4BE4-A046-550D468C6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8592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950" b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Week 2 · Startup Journey Lab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EFD942-5BC5-4AE7-A309-3A41F09FF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0"/>
            <a:ext cx="1047750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一個能找真人驗證的問題</a:t>
            </a:r>
          </a:p>
          <a:p xmlns:a="http://schemas.openxmlformats.org/drawingml/2006/main">
            <a:pPr>
              <a:defRPr sz="2250" b="0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共同成果：兩個候選痛點、一個暫定方向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121D2F-D764-4E63-84EF-CF35B04E8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238875"/>
            <a:ext cx="1000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DF09A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DDF09A"/>
                </a:solidFill>
                <a:latin typeface="PingFang TC"/>
                <a:ea typeface="PingFang TC"/>
                <a:cs typeface="PingFang TC"/>
              </a:rPr>
              <a:t>Startup Journey Lab    01</a:t>
            </a:r>
          </a:p>
        </p:txBody>
      </p:sp>
    </p:spTree>
    <p:extLst>
      <p:ext uri="{BB962C8B-B14F-4D97-AF65-F5344CB8AC3E}">
        <p14:creationId xmlns:p14="http://schemas.microsoft.com/office/powerpoint/2010/main" val="166954497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1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F2FA9E-90A7-4BC1-9A03-70C637DA4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85800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今天完成什麼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CDD1CA-C558-48E2-84A7-EBAFA7A6B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8592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376C5E"/>
                </a:solidFill>
                <a:latin typeface="PingFang TC"/>
                <a:ea typeface="PingFang TC"/>
                <a:cs typeface="PingFang TC"/>
              </a:defRPr>
            </a:pPr>
            <a:r>
              <a:rPr sz="1950" b="0">
                <a:solidFill>
                  <a:srgbClr val="376C5E"/>
                </a:solidFill>
                <a:latin typeface="PingFang TC"/>
                <a:ea typeface="PingFang TC"/>
                <a:cs typeface="PingFang TC"/>
              </a:rPr>
              <a:t>個人練習，50 位學生都保留自己的證據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2946A9-462E-49F1-AE41-B0E1C1B37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0"/>
            <a:ext cx="1047750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• 找到具體人物與發生情境</a:t>
            </a:r>
          </a:p>
          <a:p xmlns:a="http://schemas.openxmlformats.org/drawingml/2006/main">
            <a:pPr>
              <a:def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• 比較兩個候選痛點並說明選擇</a:t>
            </a:r>
          </a:p>
          <a:p xmlns:a="http://schemas.openxmlformats.org/drawingml/2006/main">
            <a:pPr>
              <a:def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• 準備三位受訪者及兩個訪談問題</a:t>
            </a:r>
          </a:p>
          <a:p xmlns:a="http://schemas.openxmlformats.org/drawingml/2006/main">
            <a:pPr>
              <a:def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• Week 5 才由最多三人的團隊選定 MVP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C48FB6-D52B-40A1-84EB-B75587758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238875"/>
            <a:ext cx="1000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376C5E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376C5E"/>
                </a:solidFill>
                <a:latin typeface="PingFang TC"/>
                <a:ea typeface="PingFang TC"/>
                <a:cs typeface="PingFang TC"/>
              </a:rPr>
              <a:t>Startup Journey Lab    02</a:t>
            </a:r>
          </a:p>
        </p:txBody>
      </p:sp>
    </p:spTree>
    <p:extLst>
      <p:ext uri="{BB962C8B-B14F-4D97-AF65-F5344CB8AC3E}">
        <p14:creationId xmlns:p14="http://schemas.microsoft.com/office/powerpoint/2010/main" val="142882693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1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E54A33-55F9-4084-A7EF-0703DDABD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85800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120 分鐘課堂流程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00D2E8-5FFE-43F0-B688-313A1B11C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8592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376C5E"/>
                </a:solidFill>
                <a:latin typeface="PingFang TC"/>
                <a:ea typeface="PingFang TC"/>
                <a:cs typeface="PingFang TC"/>
              </a:defRPr>
            </a:pPr>
            <a:r>
              <a:rPr sz="1950" b="0">
                <a:solidFill>
                  <a:srgbClr val="376C5E"/>
                </a:solidFill>
                <a:latin typeface="PingFang TC"/>
                <a:ea typeface="PingFang TC"/>
                <a:cs typeface="PingFang TC"/>
              </a:rPr>
              <a:t>先觀察，再比較與修訂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6E4E47-FA42-4224-9C83-DD6B73B13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0"/>
            <a:ext cx="1047750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0–10 取回起點卡　10–25 影片重點</a:t>
            </a:r>
          </a:p>
          <a:p xmlns:a="http://schemas.openxmlformats.org/drawingml/2006/main">
            <a:pPr>
              <a:def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25–45 案例討論　45–55 網站示範</a:t>
            </a:r>
          </a:p>
          <a:p xmlns:a="http://schemas.openxmlformats.org/drawingml/2006/main">
            <a:pPr>
              <a:def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55–65 休息　65–85 個人探索</a:t>
            </a:r>
          </a:p>
          <a:p xmlns:a="http://schemas.openxmlformats.org/drawingml/2006/main">
            <a:pPr>
              <a:def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85–100 同儕檢核　100–110 修訂</a:t>
            </a:r>
          </a:p>
          <a:p xmlns:a="http://schemas.openxmlformats.org/drawingml/2006/main">
            <a:pPr>
              <a:def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110–120 提交與訪談準備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D42548-A1FE-40FF-947B-CB2F58614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238875"/>
            <a:ext cx="1000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376C5E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376C5E"/>
                </a:solidFill>
                <a:latin typeface="PingFang TC"/>
                <a:ea typeface="PingFang TC"/>
                <a:cs typeface="PingFang TC"/>
              </a:rPr>
              <a:t>Startup Journey Lab    03</a:t>
            </a:r>
          </a:p>
        </p:txBody>
      </p:sp>
    </p:spTree>
    <p:extLst>
      <p:ext uri="{BB962C8B-B14F-4D97-AF65-F5344CB8AC3E}">
        <p14:creationId xmlns:p14="http://schemas.microsoft.com/office/powerpoint/2010/main" val="3379082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1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AE1407-281A-40D4-960C-13BE1603C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85800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本週 YC 影片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E649B8-67E0-4AA8-912A-3A9B55C7E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8592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376C5E"/>
                </a:solidFill>
                <a:latin typeface="PingFang TC"/>
                <a:ea typeface="PingFang TC"/>
                <a:cs typeface="PingFang TC"/>
              </a:defRPr>
            </a:pPr>
            <a:r>
              <a:rPr sz="1950" b="0">
                <a:solidFill>
                  <a:srgbClr val="376C5E"/>
                </a:solidFill>
                <a:latin typeface="PingFang TC"/>
                <a:ea typeface="PingFang TC"/>
                <a:cs typeface="PingFang TC"/>
              </a:rPr>
              <a:t>How to Get and Evaluate Startup Ideas · Jared Friedman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8274C0-AA7C-466C-83F1-16D201F08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0"/>
            <a:ext cx="1047750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影片作為創業判斷框架，並非 2026 最新工具介紹。</a:t>
            </a:r>
          </a:p>
          <a:p xmlns:a="http://schemas.openxmlformats.org/drawingml/2006/main">
            <a:pPr>
              <a:def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觀看時記下：你目前的問題，是自己觀察到的，</a:t>
            </a:r>
          </a:p>
          <a:p xmlns:a="http://schemas.openxmlformats.org/drawingml/2006/main">
            <a:pPr>
              <a:def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還是為了使用某項技術而找出來的？</a:t>
            </a:r>
          </a:p>
          <a:p xmlns:a="http://schemas.openxmlformats.org/drawingml/2006/main">
            <a:pPr>
              <a:def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下列課堂例子與提交標準是本課程教學轉化。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7ADEEB-3CDF-49B3-AC04-FA6AFB0B8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238875"/>
            <a:ext cx="1000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376C5E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376C5E"/>
                </a:solidFill>
                <a:latin typeface="PingFang TC"/>
                <a:ea typeface="PingFang TC"/>
                <a:cs typeface="PingFang TC"/>
              </a:rPr>
              <a:t>Startup Journey Lab    04</a:t>
            </a:r>
          </a:p>
        </p:txBody>
      </p:sp>
    </p:spTree>
    <p:extLst>
      <p:ext uri="{BB962C8B-B14F-4D97-AF65-F5344CB8AC3E}">
        <p14:creationId xmlns:p14="http://schemas.microsoft.com/office/powerpoint/2010/main" val="171629603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1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B2131E-7F4F-4155-BB0D-2BACDEC8C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85800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影片的五個判斷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18C0FD-FE87-4CD5-8938-6E2DAC94A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8592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376C5E"/>
                </a:solidFill>
                <a:latin typeface="PingFang TC"/>
                <a:ea typeface="PingFang TC"/>
                <a:cs typeface="PingFang TC"/>
              </a:defRPr>
            </a:pPr>
            <a:r>
              <a:rPr sz="1950" b="0">
                <a:solidFill>
                  <a:srgbClr val="376C5E"/>
                </a:solidFill>
                <a:latin typeface="PingFang TC"/>
                <a:ea typeface="PingFang TC"/>
                <a:cs typeface="PingFang TC"/>
              </a:rPr>
              <a:t>觀看後帶回自己的卡片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2F500C-65A0-4209-B5F7-D81320E7F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0"/>
            <a:ext cx="1047750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• 從熟悉領域與真實問題找起</a:t>
            </a:r>
          </a:p>
          <a:p xmlns:a="http://schemas.openxmlformats.org/drawingml/2006/main">
            <a:pPr>
              <a:def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• 避免先愛上解法，再替它找問題</a:t>
            </a:r>
          </a:p>
          <a:p xmlns:a="http://schemas.openxmlformats.org/drawingml/2006/main">
            <a:pPr>
              <a:def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• 檢查自己的理解與使用者接觸優勢</a:t>
            </a:r>
          </a:p>
          <a:p xmlns:a="http://schemas.openxmlformats.org/drawingml/2006/main">
            <a:pPr>
              <a:def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• 了解既有替代方式與競爭</a:t>
            </a:r>
          </a:p>
          <a:p xmlns:a="http://schemas.openxmlformats.org/drawingml/2006/main">
            <a:pPr>
              <a:def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• 暫定方向可以隨新證據調整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E10830-8E1A-4DF3-BDE0-A51752FCA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238875"/>
            <a:ext cx="1000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376C5E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376C5E"/>
                </a:solidFill>
                <a:latin typeface="PingFang TC"/>
                <a:ea typeface="PingFang TC"/>
                <a:cs typeface="PingFang TC"/>
              </a:rPr>
              <a:t>Startup Journey Lab    05</a:t>
            </a:r>
          </a:p>
        </p:txBody>
      </p:sp>
    </p:spTree>
    <p:extLst>
      <p:ext uri="{BB962C8B-B14F-4D97-AF65-F5344CB8AC3E}">
        <p14:creationId xmlns:p14="http://schemas.microsoft.com/office/powerpoint/2010/main" val="11453946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1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DA8E4D-F37E-4729-A8C2-82921C760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85800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人物與情境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065E6E-6B22-4ABD-A9BF-FC822659A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8592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376C5E"/>
                </a:solidFill>
                <a:latin typeface="PingFang TC"/>
                <a:ea typeface="PingFang TC"/>
                <a:cs typeface="PingFang TC"/>
              </a:defRPr>
            </a:pPr>
            <a:r>
              <a:rPr sz="1950" b="0">
                <a:solidFill>
                  <a:srgbClr val="376C5E"/>
                </a:solidFill>
                <a:latin typeface="PingFang TC"/>
                <a:ea typeface="PingFang TC"/>
                <a:cs typeface="PingFang TC"/>
              </a:rPr>
              <a:t>讓別人知道要找誰訪談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506F06-7335-4363-A32B-7D0F014D4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0"/>
            <a:ext cx="1047750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模糊：學生吃飯不方便。</a:t>
            </a:r>
          </a:p>
          <a:p xmlns:a="http://schemas.openxmlformats.org/drawingml/2006/main">
            <a:pPr>
              <a:def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具體：中午兩堂課間隔很短的通勤學生，</a:t>
            </a:r>
          </a:p>
          <a:p xmlns:a="http://schemas.openxmlformats.org/drawingml/2006/main">
            <a:pPr>
              <a:def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在校園餐廳排隊時，難以兼顧用餐與準時上課。</a:t>
            </a:r>
          </a:p>
          <a:p xmlns:a="http://schemas.openxmlformats.org/drawingml/2006/main">
            <a:pPr>
              <a:def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待驗證：是排隊、距離、價格，還是其他原因？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CF8D88-3963-4EDA-B224-29A3D8208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238875"/>
            <a:ext cx="1000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376C5E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376C5E"/>
                </a:solidFill>
                <a:latin typeface="PingFang TC"/>
                <a:ea typeface="PingFang TC"/>
                <a:cs typeface="PingFang TC"/>
              </a:rPr>
              <a:t>Startup Journey Lab    06</a:t>
            </a:r>
          </a:p>
        </p:txBody>
      </p:sp>
    </p:spTree>
    <p:extLst>
      <p:ext uri="{BB962C8B-B14F-4D97-AF65-F5344CB8AC3E}">
        <p14:creationId xmlns:p14="http://schemas.microsoft.com/office/powerpoint/2010/main" val="101241413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1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ED77F4-6134-4A9C-8548-7EF4814BB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85800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問題與產品構想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AD7A92-23D1-43C9-92C0-CE14C2850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8592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376C5E"/>
                </a:solidFill>
                <a:latin typeface="PingFang TC"/>
                <a:ea typeface="PingFang TC"/>
                <a:cs typeface="PingFang TC"/>
              </a:defRPr>
            </a:pPr>
            <a:r>
              <a:rPr sz="1950" b="0">
                <a:solidFill>
                  <a:srgbClr val="376C5E"/>
                </a:solidFill>
                <a:latin typeface="PingFang TC"/>
                <a:ea typeface="PingFang TC"/>
                <a:cs typeface="PingFang TC"/>
              </a:rPr>
              <a:t>先描述現在發生的阻礙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854BE3-01E1-4DE0-82C4-169CA6CAF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0"/>
            <a:ext cx="1047750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產品構想：我想做 AI 訂餐 App。</a:t>
            </a:r>
          </a:p>
          <a:p xmlns:a="http://schemas.openxmlformats.org/drawingml/2006/main">
            <a:pPr>
              <a:def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問題描述：某類學生在午休購餐時需要等待，</a:t>
            </a:r>
          </a:p>
          <a:p xmlns:a="http://schemas.openxmlformats.org/drawingml/2006/main">
            <a:pPr>
              <a:def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因此壓縮用餐時間。</a:t>
            </a:r>
          </a:p>
          <a:p xmlns:a="http://schemas.openxmlformats.org/drawingml/2006/main">
            <a:pPr>
              <a:def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討論：沒有 App 時，這個問題是否仍然存在？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6A4CC0-ABDD-4A3E-8EE7-3127EECFC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238875"/>
            <a:ext cx="1000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376C5E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376C5E"/>
                </a:solidFill>
                <a:latin typeface="PingFang TC"/>
                <a:ea typeface="PingFang TC"/>
                <a:cs typeface="PingFang TC"/>
              </a:rPr>
              <a:t>Startup Journey Lab    07</a:t>
            </a:r>
          </a:p>
        </p:txBody>
      </p:sp>
    </p:spTree>
    <p:extLst>
      <p:ext uri="{BB962C8B-B14F-4D97-AF65-F5344CB8AC3E}">
        <p14:creationId xmlns:p14="http://schemas.microsoft.com/office/powerpoint/2010/main" val="146748745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1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C7FC77-0512-47EE-8CB6-F0F4BBCDC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85800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頻率與代價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3A3390-FA98-44FB-A17B-A4E3DA856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8592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376C5E"/>
                </a:solidFill>
                <a:latin typeface="PingFang TC"/>
                <a:ea typeface="PingFang TC"/>
                <a:cs typeface="PingFang TC"/>
              </a:defRPr>
            </a:pPr>
            <a:r>
              <a:rPr sz="1950" b="0">
                <a:solidFill>
                  <a:srgbClr val="376C5E"/>
                </a:solidFill>
                <a:latin typeface="PingFang TC"/>
                <a:ea typeface="PingFang TC"/>
                <a:cs typeface="PingFang TC"/>
              </a:rPr>
              <a:t>數字需要來源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79296E-6377-413C-8DFD-D9A1F3868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0"/>
            <a:ext cx="1047750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頻率：最近一週遇到幾次？不知道就標待驗證。</a:t>
            </a:r>
          </a:p>
          <a:p xmlns:a="http://schemas.openxmlformats.org/drawingml/2006/main">
            <a:pPr>
              <a:def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時間：等待、重做或找資訊花多久？</a:t>
            </a:r>
          </a:p>
          <a:p xmlns:a="http://schemas.openxmlformats.org/drawingml/2006/main">
            <a:pPr>
              <a:def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其他代價：花錢、錯過機會、焦慮或放棄。</a:t>
            </a:r>
          </a:p>
          <a:p xmlns:a="http://schemas.openxmlformats.org/drawingml/2006/main">
            <a:pPr>
              <a:def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例子是練習情境，不代表全班或全校的事實。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794E6F-44F4-4C3B-8612-5221ED6E1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238875"/>
            <a:ext cx="1000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376C5E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376C5E"/>
                </a:solidFill>
                <a:latin typeface="PingFang TC"/>
                <a:ea typeface="PingFang TC"/>
                <a:cs typeface="PingFang TC"/>
              </a:rPr>
              <a:t>Startup Journey Lab    08</a:t>
            </a:r>
          </a:p>
        </p:txBody>
      </p:sp>
    </p:spTree>
    <p:extLst>
      <p:ext uri="{BB962C8B-B14F-4D97-AF65-F5344CB8AC3E}">
        <p14:creationId xmlns:p14="http://schemas.microsoft.com/office/powerpoint/2010/main" val="208362193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1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4BFD26-F875-4D7F-99B9-7AFF67E39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85800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目前替代方法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419D02-E91D-43DD-AB38-2CBBABE50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8592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376C5E"/>
                </a:solidFill>
                <a:latin typeface="PingFang TC"/>
                <a:ea typeface="PingFang TC"/>
                <a:cs typeface="PingFang TC"/>
              </a:defRPr>
            </a:pPr>
            <a:r>
              <a:rPr sz="1950" b="0">
                <a:solidFill>
                  <a:srgbClr val="376C5E"/>
                </a:solidFill>
                <a:latin typeface="PingFang TC"/>
                <a:ea typeface="PingFang TC"/>
                <a:cs typeface="PingFang TC"/>
              </a:rPr>
              <a:t>現有做法透露使用者取捨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C205FF-A616-4C51-A1C8-9E9C7A324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0"/>
            <a:ext cx="1047750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例：提早買餐、改吃便利商店、請朋友代買。</a:t>
            </a:r>
          </a:p>
          <a:p xmlns:a="http://schemas.openxmlformats.org/drawingml/2006/main">
            <a:pPr>
              <a:def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追問：為什麼選這個方法？哪裡仍然不方便？</a:t>
            </a:r>
          </a:p>
          <a:p xmlns:a="http://schemas.openxmlformats.org/drawingml/2006/main">
            <a:pPr>
              <a:def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如果沒有採取行動，可能不急，也可能無能為力。</a:t>
            </a:r>
          </a:p>
          <a:p xmlns:a="http://schemas.openxmlformats.org/drawingml/2006/main">
            <a:pPr>
              <a:def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這兩種解釋需要訪談，不能由 AI 替你決定。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51ADE9-4C0C-4954-B2F8-0E0AA6B76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238875"/>
            <a:ext cx="1000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376C5E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376C5E"/>
                </a:solidFill>
                <a:latin typeface="PingFang TC"/>
                <a:ea typeface="PingFang TC"/>
                <a:cs typeface="PingFang TC"/>
              </a:rPr>
              <a:t>Startup Journey Lab    09</a:t>
            </a:r>
          </a:p>
        </p:txBody>
      </p:sp>
    </p:spTree>
    <p:extLst>
      <p:ext uri="{BB962C8B-B14F-4D97-AF65-F5344CB8AC3E}">
        <p14:creationId xmlns:p14="http://schemas.microsoft.com/office/powerpoint/2010/main" val="49462897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1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C15D50-8DCC-45D1-92D3-56E9E73B2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85800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事實、假設與 AI 方向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0D44BA-C9C5-4A16-BE75-7891CF2E6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8592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376C5E"/>
                </a:solidFill>
                <a:latin typeface="PingFang TC"/>
                <a:ea typeface="PingFang TC"/>
                <a:cs typeface="PingFang TC"/>
              </a:defRPr>
            </a:pPr>
            <a:r>
              <a:rPr sz="1950" b="0">
                <a:solidFill>
                  <a:srgbClr val="376C5E"/>
                </a:solidFill>
                <a:latin typeface="PingFang TC"/>
                <a:ea typeface="PingFang TC"/>
                <a:cs typeface="PingFang TC"/>
              </a:rPr>
              <a:t>每一種內容標明來源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AE5A8A-7F3A-4B37-AE89-C80E5AD5C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0"/>
            <a:ext cx="1047750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觀察：我在某天中午記錄自己等候的時間。</a:t>
            </a:r>
          </a:p>
          <a:p xmlns:a="http://schemas.openxmlformats.org/drawingml/2006/main">
            <a:pPr>
              <a:def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原話：受訪者描述上一次經驗，使用角色代稱。</a:t>
            </a:r>
          </a:p>
          <a:p xmlns:a="http://schemas.openxmlformats.org/drawingml/2006/main">
            <a:pPr>
              <a:def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假設：我猜多數學生願意為縮短等候付費。</a:t>
            </a:r>
          </a:p>
          <a:p xmlns:a="http://schemas.openxmlformats.org/drawingml/2006/main">
            <a:pPr>
              <a:def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AI 方向：可探索通勤學生；尚不是使用者證據。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B7F63E-2B87-4A9F-9A9B-B1D3923D0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238875"/>
            <a:ext cx="1000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376C5E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376C5E"/>
                </a:solidFill>
                <a:latin typeface="PingFang TC"/>
                <a:ea typeface="PingFang TC"/>
                <a:cs typeface="PingFang TC"/>
              </a:rPr>
              <a:t>Startup Journey Lab    10</a:t>
            </a:r>
          </a:p>
        </p:txBody>
      </p:sp>
    </p:spTree>
    <p:extLst>
      <p:ext uri="{BB962C8B-B14F-4D97-AF65-F5344CB8AC3E}">
        <p14:creationId xmlns:p14="http://schemas.microsoft.com/office/powerpoint/2010/main" val="183748917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1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21C6E0-74AB-4275-9262-86419A969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85800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兩個候選痛點的比較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96E439-3F32-4584-BCE3-552C145F1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8592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376C5E"/>
                </a:solidFill>
                <a:latin typeface="PingFang TC"/>
                <a:ea typeface="PingFang TC"/>
                <a:cs typeface="PingFang TC"/>
              </a:defRPr>
            </a:pPr>
            <a:r>
              <a:rPr sz="1950" b="0">
                <a:solidFill>
                  <a:srgbClr val="376C5E"/>
                </a:solidFill>
                <a:latin typeface="PingFang TC"/>
                <a:ea typeface="PingFang TC"/>
                <a:cs typeface="PingFang TC"/>
              </a:rPr>
              <a:t>選擇下週最能取得證據的一題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08088A-4B30-41D7-B7AA-CF49AE712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0"/>
            <a:ext cx="1047750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候選 A：午休排隊造成用餐時間不足。</a:t>
            </a:r>
          </a:p>
          <a:p xmlns:a="http://schemas.openxmlformats.org/drawingml/2006/main">
            <a:pPr>
              <a:def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候選 B：分組時反覆確認成員可開會時間。</a:t>
            </a:r>
          </a:p>
          <a:p xmlns:a="http://schemas.openxmlformats.org/drawingml/2006/main">
            <a:pPr>
              <a:def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比較：接觸得到誰？已有什麼觀察？代價是什麼？</a:t>
            </a:r>
          </a:p>
          <a:p xmlns:a="http://schemas.openxmlformats.org/drawingml/2006/main">
            <a:pPr>
              <a:def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不確定時記錄未知，先選一題繼續驗證。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3B3243-CA78-4DFB-ACAB-B152DACBE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238875"/>
            <a:ext cx="1000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376C5E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376C5E"/>
                </a:solidFill>
                <a:latin typeface="PingFang TC"/>
                <a:ea typeface="PingFang TC"/>
                <a:cs typeface="PingFang TC"/>
              </a:rPr>
              <a:t>Startup Journey Lab    11</a:t>
            </a:r>
          </a:p>
        </p:txBody>
      </p:sp>
    </p:spTree>
    <p:extLst>
      <p:ext uri="{BB962C8B-B14F-4D97-AF65-F5344CB8AC3E}">
        <p14:creationId xmlns:p14="http://schemas.microsoft.com/office/powerpoint/2010/main" val="185165574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1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6A22AF-66A9-4BD8-A324-69D4DBCB7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85800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三種引導路徑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2C32AA-4EA7-45BB-AFF4-1A74DA401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8592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376C5E"/>
                </a:solidFill>
                <a:latin typeface="PingFang TC"/>
                <a:ea typeface="PingFang TC"/>
                <a:cs typeface="PingFang TC"/>
              </a:defRPr>
            </a:pPr>
            <a:r>
              <a:rPr sz="1950" b="0">
                <a:solidFill>
                  <a:srgbClr val="376C5E"/>
                </a:solidFill>
                <a:latin typeface="PingFang TC"/>
                <a:ea typeface="PingFang TC"/>
                <a:cs typeface="PingFang TC"/>
              </a:rPr>
              <a:t>同一成果，不同協助方式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740175-12ED-4432-AA68-86670D637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0"/>
            <a:ext cx="1047750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一步一步引導：場景、事件、目前處理方式。</a:t>
            </a:r>
          </a:p>
          <a:p xmlns:a="http://schemas.openxmlformats.org/drawingml/2006/main">
            <a:pPr>
              <a:def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檢查我的想法：直接比較候選問題與證據。</a:t>
            </a:r>
          </a:p>
          <a:p xmlns:a="http://schemas.openxmlformats.org/drawingml/2006/main">
            <a:pPr>
              <a:def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進階挑戰：反例、付費者、最危險的假設。</a:t>
            </a:r>
          </a:p>
          <a:p xmlns:a="http://schemas.openxmlformats.org/drawingml/2006/main">
            <a:pPr>
              <a:def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隨時可切換，不依路徑扣分或增加基本門檻。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7CA3AF-3875-4C51-8301-BC2E18C23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238875"/>
            <a:ext cx="1000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376C5E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376C5E"/>
                </a:solidFill>
                <a:latin typeface="PingFang TC"/>
                <a:ea typeface="PingFang TC"/>
                <a:cs typeface="PingFang TC"/>
              </a:rPr>
              <a:t>Startup Journey Lab    12</a:t>
            </a:r>
          </a:p>
        </p:txBody>
      </p:sp>
    </p:spTree>
    <p:extLst>
      <p:ext uri="{BB962C8B-B14F-4D97-AF65-F5344CB8AC3E}">
        <p14:creationId xmlns:p14="http://schemas.microsoft.com/office/powerpoint/2010/main" val="92747709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1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D93052-33C5-4FA2-A6E7-18B57A9CF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85800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卡關時的 AI 使用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0B3A9C-1EBC-4C49-B295-BC0500943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8592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376C5E"/>
                </a:solidFill>
                <a:latin typeface="PingFang TC"/>
                <a:ea typeface="PingFang TC"/>
                <a:cs typeface="PingFang TC"/>
              </a:defRPr>
            </a:pPr>
            <a:r>
              <a:rPr sz="1950" b="0">
                <a:solidFill>
                  <a:srgbClr val="376C5E"/>
                </a:solidFill>
                <a:latin typeface="PingFang TC"/>
                <a:ea typeface="PingFang TC"/>
                <a:cs typeface="PingFang TC"/>
              </a:rPr>
              <a:t>學生仍負責觀察與選擇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DB9349-8978-4132-9F08-C61034DD8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0"/>
            <a:ext cx="1047750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先寫生活場景與一個真實事件，再索取方向。</a:t>
            </a:r>
          </a:p>
          <a:p xmlns:a="http://schemas.openxmlformats.org/drawingml/2006/main">
            <a:pPr>
              <a:def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AI 提供最多三個待驗證方向，不代交答案。</a:t>
            </a:r>
          </a:p>
          <a:p xmlns:a="http://schemas.openxmlformats.org/drawingml/2006/main">
            <a:pPr>
              <a:def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選擇後補充：何時發生、誰受影響、如何查證。</a:t>
            </a:r>
          </a:p>
          <a:p xmlns:a="http://schemas.openxmlformats.org/drawingml/2006/main">
            <a:pPr>
              <a:def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模型故障或次數用完，仍可保存及提交。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082B63-79B7-4316-BA41-A06BB2A92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238875"/>
            <a:ext cx="1000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376C5E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376C5E"/>
                </a:solidFill>
                <a:latin typeface="PingFang TC"/>
                <a:ea typeface="PingFang TC"/>
                <a:cs typeface="PingFang TC"/>
              </a:rPr>
              <a:t>Startup Journey Lab    13</a:t>
            </a:r>
          </a:p>
        </p:txBody>
      </p:sp>
    </p:spTree>
    <p:extLst>
      <p:ext uri="{BB962C8B-B14F-4D97-AF65-F5344CB8AC3E}">
        <p14:creationId xmlns:p14="http://schemas.microsoft.com/office/powerpoint/2010/main" val="207533318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5F1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D52CBA-8DC5-4B08-BF7B-A2EC9984F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85800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同儕討論的四個問題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F51B1F-E0E1-40F4-9725-28D2A1436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8592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376C5E"/>
                </a:solidFill>
                <a:latin typeface="PingFang TC"/>
                <a:ea typeface="PingFang TC"/>
                <a:cs typeface="PingFang TC"/>
              </a:defRPr>
            </a:pPr>
            <a:r>
              <a:rPr sz="1950" b="0">
                <a:solidFill>
                  <a:srgbClr val="376C5E"/>
                </a:solidFill>
                <a:latin typeface="PingFang TC"/>
                <a:ea typeface="PingFang TC"/>
                <a:cs typeface="PingFang TC"/>
              </a:rPr>
              <a:t>每題都要求一個具體例子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D14C56-CCD6-45D8-8CD5-9495A911D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0"/>
            <a:ext cx="1047750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1. 找誰？例如：午休只有短暫空檔的通勤同學。</a:t>
            </a:r>
          </a:p>
          <a:p xmlns:a="http://schemas.openxmlformats.org/drawingml/2006/main">
            <a:pPr>
              <a:def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2. 上次何時？請描述一次真實事件。</a:t>
            </a:r>
          </a:p>
          <a:p xmlns:a="http://schemas.openxmlformats.org/drawingml/2006/main">
            <a:pPr>
              <a:def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3. 有何代價？例：延後用餐；頻率仍待驗證。</a:t>
            </a:r>
          </a:p>
          <a:p xmlns:a="http://schemas.openxmlformats.org/drawingml/2006/main">
            <a:pPr>
              <a:def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4. 如何推翻？例：大家主要在意價格而非等待。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6D6900-AC2A-4E3D-9355-940F3D421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238875"/>
            <a:ext cx="1000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376C5E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376C5E"/>
                </a:solidFill>
                <a:latin typeface="PingFang TC"/>
                <a:ea typeface="PingFang TC"/>
                <a:cs typeface="PingFang TC"/>
              </a:rPr>
              <a:t>Startup Journey Lab    14</a:t>
            </a:r>
          </a:p>
        </p:txBody>
      </p:sp>
    </p:spTree>
    <p:extLst>
      <p:ext uri="{BB962C8B-B14F-4D97-AF65-F5344CB8AC3E}">
        <p14:creationId xmlns:p14="http://schemas.microsoft.com/office/powerpoint/2010/main" val="95014397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5F1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3A3159-9D3C-4CB3-ACF3-D9963DBAC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85800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三位受訪者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6913B0-2516-4721-8B52-DED83C4B4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8592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376C5E"/>
                </a:solidFill>
                <a:latin typeface="PingFang TC"/>
                <a:ea typeface="PingFang TC"/>
                <a:cs typeface="PingFang TC"/>
              </a:defRPr>
            </a:pPr>
            <a:r>
              <a:rPr sz="1950" b="0">
                <a:solidFill>
                  <a:srgbClr val="376C5E"/>
                </a:solidFill>
                <a:latin typeface="PingFang TC"/>
                <a:ea typeface="PingFang TC"/>
                <a:cs typeface="PingFang TC"/>
              </a:rPr>
              <a:t>符合條件比方便找到更重要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4A2BF1-5A7D-4D7D-8D18-4C3C66771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0"/>
            <a:ext cx="1047750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用角色代稱 A、B、C，寫出接觸方式。</a:t>
            </a:r>
          </a:p>
          <a:p xmlns:a="http://schemas.openxmlformats.org/drawingml/2006/main">
            <a:pPr>
              <a:def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不同組同學可以，但必須真的遇過相關情境。</a:t>
            </a:r>
          </a:p>
          <a:p xmlns:a="http://schemas.openxmlformats.org/drawingml/2006/main">
            <a:pPr>
              <a:def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先詢問意願，不記錄姓名、電話與敏感資料。</a:t>
            </a:r>
          </a:p>
          <a:p xmlns:a="http://schemas.openxmlformats.org/drawingml/2006/main">
            <a:pPr>
              <a:def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目前只準備名單與題目，完整訪談在 Week 3。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4F555D-2738-4048-89AA-78FEC5BAA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238875"/>
            <a:ext cx="1000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376C5E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376C5E"/>
                </a:solidFill>
                <a:latin typeface="PingFang TC"/>
                <a:ea typeface="PingFang TC"/>
                <a:cs typeface="PingFang TC"/>
              </a:rPr>
              <a:t>Startup Journey Lab    15</a:t>
            </a:r>
          </a:p>
        </p:txBody>
      </p:sp>
    </p:spTree>
    <p:extLst>
      <p:ext uri="{BB962C8B-B14F-4D97-AF65-F5344CB8AC3E}">
        <p14:creationId xmlns:p14="http://schemas.microsoft.com/office/powerpoint/2010/main" val="42875000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5F1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8B4AC4-376C-42B5-ABBB-28419AE5C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85800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兩個訪談問題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4AA035-6491-4F68-AB93-FC65FE553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8592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376C5E"/>
                </a:solidFill>
                <a:latin typeface="PingFang TC"/>
                <a:ea typeface="PingFang TC"/>
                <a:cs typeface="PingFang TC"/>
              </a:defRPr>
            </a:pPr>
            <a:r>
              <a:rPr sz="1950" b="0">
                <a:solidFill>
                  <a:srgbClr val="376C5E"/>
                </a:solidFill>
                <a:latin typeface="PingFang TC"/>
                <a:ea typeface="PingFang TC"/>
                <a:cs typeface="PingFang TC"/>
              </a:rPr>
              <a:t>詢問過去行為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7B5B7A-75A7-4643-9249-D5F1B03F5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0"/>
            <a:ext cx="1047750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可問：上一次午休買餐時，發生了什麼？</a:t>
            </a:r>
          </a:p>
          <a:p xmlns:a="http://schemas.openxmlformats.org/drawingml/2006/main">
            <a:pPr>
              <a:def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可問：當時怎麼處理？為什麼選擇那個做法？</a:t>
            </a:r>
          </a:p>
          <a:p xmlns:a="http://schemas.openxmlformats.org/drawingml/2006/main">
            <a:pPr>
              <a:def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需要修改：你會使用我的 App 嗎？</a:t>
            </a:r>
          </a:p>
          <a:p xmlns:a="http://schemas.openxmlformats.org/drawingml/2006/main">
            <a:pPr>
              <a:def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需要修改：你是不是也覺得排隊很糟？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2BB343-441A-446D-BE07-B51887E07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238875"/>
            <a:ext cx="1000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376C5E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376C5E"/>
                </a:solidFill>
                <a:latin typeface="PingFang TC"/>
                <a:ea typeface="PingFang TC"/>
                <a:cs typeface="PingFang TC"/>
              </a:rPr>
              <a:t>Startup Journey Lab    16</a:t>
            </a:r>
          </a:p>
        </p:txBody>
      </p:sp>
    </p:spTree>
    <p:extLst>
      <p:ext uri="{BB962C8B-B14F-4D97-AF65-F5344CB8AC3E}">
        <p14:creationId xmlns:p14="http://schemas.microsoft.com/office/powerpoint/2010/main" val="20438615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5F1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A45409-2982-4401-927B-D3763FBCC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85800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進階挑戰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D918C5-2179-4004-8FE7-13DE29006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8592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376C5E"/>
                </a:solidFill>
                <a:latin typeface="PingFang TC"/>
                <a:ea typeface="PingFang TC"/>
                <a:cs typeface="PingFang TC"/>
              </a:defRPr>
            </a:pPr>
            <a:r>
              <a:rPr sz="1950" b="0">
                <a:solidFill>
                  <a:srgbClr val="376C5E"/>
                </a:solidFill>
                <a:latin typeface="PingFang TC"/>
                <a:ea typeface="PingFang TC"/>
                <a:cs typeface="PingFang TC"/>
              </a:rPr>
              <a:t>想法清楚之後，尋找反證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FC635E-C6AC-4770-9FC0-1122A3D9E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0"/>
            <a:ext cx="1047750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誰沒有遇到這個問題？為什麼？</a:t>
            </a:r>
          </a:p>
          <a:p xmlns:a="http://schemas.openxmlformats.org/drawingml/2006/main">
            <a:pPr>
              <a:def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使用者為何仍接受現在的方法？</a:t>
            </a:r>
          </a:p>
          <a:p xmlns:a="http://schemas.openxmlformats.org/drawingml/2006/main">
            <a:pPr>
              <a:def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使用者與付費者是否相同？</a:t>
            </a:r>
          </a:p>
          <a:p xmlns:a="http://schemas.openxmlformats.org/drawingml/2006/main">
            <a:pPr>
              <a:def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哪個假設一旦不成立，你就應調整方向？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C84912-4F72-4504-86E3-EA8D5B11C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238875"/>
            <a:ext cx="1000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376C5E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376C5E"/>
                </a:solidFill>
                <a:latin typeface="PingFang TC"/>
                <a:ea typeface="PingFang TC"/>
                <a:cs typeface="PingFang TC"/>
              </a:rPr>
              <a:t>Startup Journey Lab    17</a:t>
            </a:r>
          </a:p>
        </p:txBody>
      </p:sp>
    </p:spTree>
    <p:extLst>
      <p:ext uri="{BB962C8B-B14F-4D97-AF65-F5344CB8AC3E}">
        <p14:creationId xmlns:p14="http://schemas.microsoft.com/office/powerpoint/2010/main" val="32823640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5F1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B0C023-E296-4184-86EE-7F7C4AB91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85800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保存、修訂與教師互動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47A696-62A4-461F-8D5F-AD56BA0AB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8592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376C5E"/>
                </a:solidFill>
                <a:latin typeface="PingFang TC"/>
                <a:ea typeface="PingFang TC"/>
                <a:cs typeface="PingFang TC"/>
              </a:defRPr>
            </a:pPr>
            <a:r>
              <a:rPr sz="1950" b="0">
                <a:solidFill>
                  <a:srgbClr val="376C5E"/>
                </a:solidFill>
                <a:latin typeface="PingFang TC"/>
                <a:ea typeface="PingFang TC"/>
                <a:cs typeface="PingFang TC"/>
              </a:rPr>
              <a:t>提交不是終點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304B49-54DC-4D2A-B14E-991F7F50E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0"/>
            <a:ext cx="1047750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Week 1 未交：先回起點卡補交。</a:t>
            </a:r>
          </a:p>
          <a:p xmlns:a="http://schemas.openxmlformats.org/drawingml/2006/main">
            <a:pPr>
              <a:def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Week 2：檢查、保存草稿、確認受訪者與問題、提交。</a:t>
            </a:r>
          </a:p>
          <a:p xmlns:a="http://schemas.openxmlformats.org/drawingml/2006/main">
            <a:pPr>
              <a:def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教師尚未查看：仍可準備 Week 3。</a:t>
            </a:r>
          </a:p>
          <a:p xmlns:a="http://schemas.openxmlformats.org/drawingml/2006/main">
            <a:pPr>
              <a:def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教師要求先討論：暫緩訪談並確認下一步。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06E534-140E-4129-A7CF-0DC35D747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238875"/>
            <a:ext cx="1000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376C5E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376C5E"/>
                </a:solidFill>
                <a:latin typeface="PingFang TC"/>
                <a:ea typeface="PingFang TC"/>
                <a:cs typeface="PingFang TC"/>
              </a:rPr>
              <a:t>Startup Journey Lab    18</a:t>
            </a:r>
          </a:p>
        </p:txBody>
      </p:sp>
    </p:spTree>
    <p:extLst>
      <p:ext uri="{BB962C8B-B14F-4D97-AF65-F5344CB8AC3E}">
        <p14:creationId xmlns:p14="http://schemas.microsoft.com/office/powerpoint/2010/main" val="131733084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5F1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6B7CA0-1C95-4A79-B671-91D6F809B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85800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離堂前確認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020363-2202-4210-A979-7F48714F6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8592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376C5E"/>
                </a:solidFill>
                <a:latin typeface="PingFang TC"/>
                <a:ea typeface="PingFang TC"/>
                <a:cs typeface="PingFang TC"/>
              </a:defRPr>
            </a:pPr>
            <a:r>
              <a:rPr sz="1950" b="0">
                <a:solidFill>
                  <a:srgbClr val="376C5E"/>
                </a:solidFill>
                <a:latin typeface="PingFang TC"/>
                <a:ea typeface="PingFang TC"/>
                <a:cs typeface="PingFang TC"/>
              </a:rPr>
              <a:t>兩題、一個方向、三位受訪者、兩個問題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4BA36A-26EA-4549-B4B6-02C0B77E7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0"/>
            <a:ext cx="1047750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我能區分觀察與推測嗎？</a:t>
            </a:r>
          </a:p>
          <a:p xmlns:a="http://schemas.openxmlformats.org/drawingml/2006/main">
            <a:pPr>
              <a:def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我選這題的理由是什麼？</a:t>
            </a:r>
          </a:p>
          <a:p xmlns:a="http://schemas.openxmlformats.org/drawingml/2006/main">
            <a:pPr>
              <a:def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什麼證據會使我改變選擇？</a:t>
            </a:r>
          </a:p>
          <a:p xmlns:a="http://schemas.openxmlformats.org/drawingml/2006/main">
            <a:pPr>
              <a:def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我的雲端提交是否已顯示成功？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8973C8-B6B4-4A0C-A1A3-4D7565991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238875"/>
            <a:ext cx="1000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376C5E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376C5E"/>
                </a:solidFill>
                <a:latin typeface="PingFang TC"/>
                <a:ea typeface="PingFang TC"/>
                <a:cs typeface="PingFang TC"/>
              </a:rPr>
              <a:t>Startup Journey Lab    19</a:t>
            </a:r>
          </a:p>
        </p:txBody>
      </p:sp>
    </p:spTree>
    <p:extLst>
      <p:ext uri="{BB962C8B-B14F-4D97-AF65-F5344CB8AC3E}">
        <p14:creationId xmlns:p14="http://schemas.microsoft.com/office/powerpoint/2010/main" val="194987860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5F1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F2C764-4541-4FA6-A5E7-EFDA74761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85800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下一週：使用者訪談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30F101-E051-40BA-B8AF-C4B5069CC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8592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376C5E"/>
                </a:solidFill>
                <a:latin typeface="PingFang TC"/>
                <a:ea typeface="PingFang TC"/>
                <a:cs typeface="PingFang TC"/>
              </a:defRPr>
            </a:pPr>
            <a:r>
              <a:rPr sz="1950" b="0">
                <a:solidFill>
                  <a:srgbClr val="376C5E"/>
                </a:solidFill>
                <a:latin typeface="PingFang TC"/>
                <a:ea typeface="PingFang TC"/>
                <a:cs typeface="PingFang TC"/>
              </a:rPr>
              <a:t>帶著問題與好奇心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02B8D0-F191-4E5F-84FE-4E7CC3B8F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0"/>
            <a:ext cx="1047750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保留本週的原始觀察、AI 建議與修改紀錄。</a:t>
            </a:r>
          </a:p>
          <a:p xmlns:a="http://schemas.openxmlformats.org/drawingml/2006/main">
            <a:pPr>
              <a:def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課前確認三位受訪者的意願。</a:t>
            </a:r>
          </a:p>
          <a:p xmlns:a="http://schemas.openxmlformats.org/drawingml/2006/main">
            <a:pPr>
              <a:def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7251F"/>
                </a:solidFill>
                <a:latin typeface="PingFang TC"/>
                <a:ea typeface="PingFang TC"/>
                <a:cs typeface="PingFang TC"/>
              </a:rPr>
              <a:t>用訪談修正假設，逐步累積 Week 5 MVP 的依據。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D2630C-3F4A-461D-98FF-FEA73CE5E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238875"/>
            <a:ext cx="1000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376C5E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376C5E"/>
                </a:solidFill>
                <a:latin typeface="PingFang TC"/>
                <a:ea typeface="PingFang TC"/>
                <a:cs typeface="PingFang TC"/>
              </a:rPr>
              <a:t>Startup Journey Lab    20</a:t>
            </a:r>
          </a:p>
        </p:txBody>
      </p:sp>
    </p:spTree>
    <p:extLst>
      <p:ext uri="{BB962C8B-B14F-4D97-AF65-F5344CB8AC3E}">
        <p14:creationId xmlns:p14="http://schemas.microsoft.com/office/powerpoint/2010/main" val="77002167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2026-09-27T03:18:19.2800000Z</dcterms:created>
  <dcterms:modified xsi:type="dcterms:W3CDTF">2026-09-27T03:18:19.2800000Z</dcterms:modified>
</coreProperties>
</file>