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r="http://schemas.openxmlformats.org/officeDocument/2006/relationships" id="256" r:id="R78f372acec3c4d13"/>
    <p:sldId xmlns:r="http://schemas.openxmlformats.org/officeDocument/2006/relationships" id="257" r:id="R5880b46e718a49ba"/>
    <p:sldId xmlns:r="http://schemas.openxmlformats.org/officeDocument/2006/relationships" id="258" r:id="R9df869b873e64315"/>
    <p:sldId xmlns:r="http://schemas.openxmlformats.org/officeDocument/2006/relationships" id="259" r:id="Re82173a2e08b4f7d"/>
    <p:sldId xmlns:r="http://schemas.openxmlformats.org/officeDocument/2006/relationships" id="260" r:id="R4340a139578b4736"/>
    <p:sldId xmlns:r="http://schemas.openxmlformats.org/officeDocument/2006/relationships" id="261" r:id="R354250108ef64b3d"/>
    <p:sldId xmlns:r="http://schemas.openxmlformats.org/officeDocument/2006/relationships" id="262" r:id="R83e378e749024412"/>
    <p:sldId xmlns:r="http://schemas.openxmlformats.org/officeDocument/2006/relationships" id="263" r:id="R0031a5e88d1b42ed"/>
    <p:sldId xmlns:r="http://schemas.openxmlformats.org/officeDocument/2006/relationships" id="264" r:id="R1be2f25d69054e6f"/>
    <p:sldId xmlns:r="http://schemas.openxmlformats.org/officeDocument/2006/relationships" id="265" r:id="Rb49805a0acd44394"/>
    <p:sldId xmlns:r="http://schemas.openxmlformats.org/officeDocument/2006/relationships" id="266" r:id="R85bce5128acd4229"/>
    <p:sldId xmlns:r="http://schemas.openxmlformats.org/officeDocument/2006/relationships" id="267" r:id="Rb7c725f1d26a4b94"/>
    <p:sldId xmlns:r="http://schemas.openxmlformats.org/officeDocument/2006/relationships" id="268" r:id="Ra41051eb0153445a"/>
    <p:sldId xmlns:r="http://schemas.openxmlformats.org/officeDocument/2006/relationships" id="269" r:id="Rab2a11d320464efa"/>
    <p:sldId xmlns:r="http://schemas.openxmlformats.org/officeDocument/2006/relationships" id="270" r:id="Rb2d42d6e6ed448b8"/>
    <p:sldId xmlns:r="http://schemas.openxmlformats.org/officeDocument/2006/relationships" id="271" r:id="Rf56da21f18724dc4"/>
    <p:sldId xmlns:r="http://schemas.openxmlformats.org/officeDocument/2006/relationships" id="272" r:id="R03e48a2ec0d04650"/>
    <p:sldId xmlns:r="http://schemas.openxmlformats.org/officeDocument/2006/relationships" id="273" r:id="R0bcf3244d172487f"/>
    <p:sldId xmlns:r="http://schemas.openxmlformats.org/officeDocument/2006/relationships" id="274" r:id="R4f8ae2ea61ac4fe5"/>
    <p:sldId xmlns:r="http://schemas.openxmlformats.org/officeDocument/2006/relationships" id="275" r:id="Ra1f0fc182fa44de8"/>
    <p:sldId xmlns:r="http://schemas.openxmlformats.org/officeDocument/2006/relationships" id="276" r:id="R493936e213fc4711"/>
    <p:sldId xmlns:r="http://schemas.openxmlformats.org/officeDocument/2006/relationships" id="277" r:id="Rc2f5d71759034de0"/>
    <p:sldId xmlns:r="http://schemas.openxmlformats.org/officeDocument/2006/relationships" id="278" r:id="R77cbfe7dda5b4f5e"/>
    <p:sldId xmlns:r="http://schemas.openxmlformats.org/officeDocument/2006/relationships" id="279" r:id="Rd451a2d88afb4e93"/>
    <p:sldId xmlns:r="http://schemas.openxmlformats.org/officeDocument/2006/relationships" id="280" r:id="R5ffcc79e9b5742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31a5e88d1b42ed" Type="http://schemas.openxmlformats.org/officeDocument/2006/relationships/slide" Target="slides/slide8.xml"/><Relationship Id="R03e48a2ec0d04650" Type="http://schemas.openxmlformats.org/officeDocument/2006/relationships/slide" Target="slides/slide17.xml"/><Relationship Id="R0bcf3244d172487f" Type="http://schemas.openxmlformats.org/officeDocument/2006/relationships/slide" Target="slides/slide18.xml"/><Relationship Id="R1be2f25d69054e6f" Type="http://schemas.openxmlformats.org/officeDocument/2006/relationships/slide" Target="slides/slide9.xml"/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354250108ef64b3d" Type="http://schemas.openxmlformats.org/officeDocument/2006/relationships/slide" Target="slides/slide6.xml"/><Relationship Id="R4340a139578b4736" Type="http://schemas.openxmlformats.org/officeDocument/2006/relationships/slide" Target="slides/slide5.xml"/><Relationship Id="R493936e213fc4711" Type="http://schemas.openxmlformats.org/officeDocument/2006/relationships/slide" Target="slides/slide21.xml"/><Relationship Id="R4f8ae2ea61ac4fe5" Type="http://schemas.openxmlformats.org/officeDocument/2006/relationships/slide" Target="slides/slide19.xml"/><Relationship Id="R5880b46e718a49ba" Type="http://schemas.openxmlformats.org/officeDocument/2006/relationships/slide" Target="slides/slide2.xml"/><Relationship Id="R5ffcc79e9b5742c7" Type="http://schemas.openxmlformats.org/officeDocument/2006/relationships/slide" Target="slides/slide25.xml"/><Relationship Id="R77cbfe7dda5b4f5e" Type="http://schemas.openxmlformats.org/officeDocument/2006/relationships/slide" Target="slides/slide23.xml"/><Relationship Id="R78f372acec3c4d13" Type="http://schemas.openxmlformats.org/officeDocument/2006/relationships/slide" Target="slides/slide1.xml"/><Relationship Id="R83e378e749024412" Type="http://schemas.openxmlformats.org/officeDocument/2006/relationships/slide" Target="slides/slide7.xml"/><Relationship Id="R85bce5128acd4229" Type="http://schemas.openxmlformats.org/officeDocument/2006/relationships/slide" Target="slides/slide11.xml"/><Relationship Id="R9df869b873e64315" Type="http://schemas.openxmlformats.org/officeDocument/2006/relationships/slide" Target="slides/slide3.xml"/><Relationship Id="Ra1f0fc182fa44de8" Type="http://schemas.openxmlformats.org/officeDocument/2006/relationships/slide" Target="slides/slide20.xml"/><Relationship Id="Ra41051eb0153445a" Type="http://schemas.openxmlformats.org/officeDocument/2006/relationships/slide" Target="slides/slide13.xml"/><Relationship Id="Rab2a11d320464efa" Type="http://schemas.openxmlformats.org/officeDocument/2006/relationships/slide" Target="slides/slide14.xml"/><Relationship Id="Rae5565e222f94311" Type="http://schemas.openxmlformats.org/officeDocument/2006/relationships/notesMaster" Target="notesMasters/notesMaster1.xml"/><Relationship Id="Rb2d42d6e6ed448b8" Type="http://schemas.openxmlformats.org/officeDocument/2006/relationships/slide" Target="slides/slide15.xml"/><Relationship Id="Rb49805a0acd44394" Type="http://schemas.openxmlformats.org/officeDocument/2006/relationships/slide" Target="slides/slide10.xml"/><Relationship Id="Rb7c725f1d26a4b94" Type="http://schemas.openxmlformats.org/officeDocument/2006/relationships/slide" Target="slides/slide12.xml"/><Relationship Id="Rc2f5d71759034de0" Type="http://schemas.openxmlformats.org/officeDocument/2006/relationships/slide" Target="slides/slide22.xml"/><Relationship Id="Rc3130170706542df" Type="http://schemas.openxmlformats.org/officeDocument/2006/relationships/presProps" Target="presProps.xml"/><Relationship Id="Rd451a2d88afb4e93" Type="http://schemas.openxmlformats.org/officeDocument/2006/relationships/slide" Target="slides/slide24.xml"/><Relationship Id="Rdae1bc0b7b5049c6" Type="http://schemas.openxmlformats.org/officeDocument/2006/relationships/tableStyles" Target="tableStyles.xml"/><Relationship Id="Re82173a2e08b4f7d" Type="http://schemas.openxmlformats.org/officeDocument/2006/relationships/slide" Target="slides/slide4.xml"/><Relationship Id="Rf56da21f18724dc4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448331fa51e43db" Type="http://schemas.openxmlformats.org/officeDocument/2006/relationships/notesMaster" Target="../notesMasters/notesMaster1.xml"/><Relationship Id="R9ae8b71896674bf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f86e1c4f2184bd8" Type="http://schemas.openxmlformats.org/officeDocument/2006/relationships/notesMaster" Target="../notesMasters/notesMaster1.xml"/><Relationship Id="Rd536d8cced434187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6570af1913c429a" Type="http://schemas.openxmlformats.org/officeDocument/2006/relationships/slide" Target="../slides/slide3.xml"/><Relationship Id="Rbef3257db4664ca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13000d3f81a41aa" Type="http://schemas.openxmlformats.org/officeDocument/2006/relationships/notesMaster" Target="../notesMasters/notesMaster1.xml"/><Relationship Id="Rcaeedb2e33424d30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676ed01adbe42fb" Type="http://schemas.openxmlformats.org/officeDocument/2006/relationships/notesMaster" Target="../notesMasters/notesMaster1.xml"/><Relationship Id="R4b33da230153407c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a6ca68515d164c4a" Type="http://schemas.openxmlformats.org/officeDocument/2006/relationships/notesMaster" Target="../notesMasters/notesMaster1.xml"/><Relationship Id="Rd20f910aba9c484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a6d78c8f03e4f07" Type="http://schemas.openxmlformats.org/officeDocument/2006/relationships/slide" Target="../slides/slide7.xml"/><Relationship Id="R4b2fa8a5ad7345c4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c3e8b81edb72402c" Type="http://schemas.openxmlformats.org/officeDocument/2006/relationships/notesMaster" Target="../notesMasters/notesMaster1.xml"/><Relationship Id="Rebb912900cc849dd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5bb6815d6801410b" Type="http://schemas.openxmlformats.org/officeDocument/2006/relationships/slide" Target="../slides/slide9.xml"/><Relationship Id="R679e469fd640485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bd02e24587534119" Type="http://schemas.openxmlformats.org/officeDocument/2006/relationships/slide" Target="../slides/slide10.xml"/><Relationship Id="Rea5342cbb2e5499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f3c01dfca5341c4" Type="http://schemas.openxmlformats.org/officeDocument/2006/relationships/slide" Target="../slides/slide11.xml"/><Relationship Id="Rf1186b715acd493e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cb9ce46f8834a88" Type="http://schemas.openxmlformats.org/officeDocument/2006/relationships/slide" Target="../slides/slide12.xml"/><Relationship Id="Rfe1f50df603d4a0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6bfd34b4a7f24671" Type="http://schemas.openxmlformats.org/officeDocument/2006/relationships/notesMaster" Target="../notesMasters/notesMaster1.xml"/><Relationship Id="R6d36d39e65014d34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278b0930093e468f" Type="http://schemas.openxmlformats.org/officeDocument/2006/relationships/notesMaster" Target="../notesMasters/notesMaster1.xml"/><Relationship Id="Rfe4b2ba556454a30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9ebb27d57acc4806" Type="http://schemas.openxmlformats.org/officeDocument/2006/relationships/notesMaster" Target="../notesMasters/notesMaster1.xml"/><Relationship Id="Rdc5705d414744daa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464c46195db4dea" Type="http://schemas.openxmlformats.org/officeDocument/2006/relationships/notesMaster" Target="../notesMasters/notesMaster1.xml"/><Relationship Id="R29b1175c53df4a3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1e80a764c1114ff6" Type="http://schemas.openxmlformats.org/officeDocument/2006/relationships/slide" Target="../slides/slide17.xml"/><Relationship Id="R660c76c2c0954b0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f6147e65f72426b" Type="http://schemas.openxmlformats.org/officeDocument/2006/relationships/notesMaster" Target="../notesMasters/notesMaster1.xml"/><Relationship Id="R84584b644865430d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649b158c6cf9429e" Type="http://schemas.openxmlformats.org/officeDocument/2006/relationships/notesMaster" Target="../notesMasters/notesMaster1.xml"/><Relationship Id="Rf07e585cd4d047e1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04078ccf29f74e88" Type="http://schemas.openxmlformats.org/officeDocument/2006/relationships/slide" Target="../slides/slide20.xml"/><Relationship Id="R230723ed9b9d449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654555e300044924" Type="http://schemas.openxmlformats.org/officeDocument/2006/relationships/slide" Target="../slides/slide21.xml"/><Relationship Id="Rdb6061e9008c450d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a5ce4cd91b1e4c62" Type="http://schemas.openxmlformats.org/officeDocument/2006/relationships/slide" Target="../slides/slide22.xml"/><Relationship Id="Rfcf1bb3001ac4eee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65b95c2f4310410e" Type="http://schemas.openxmlformats.org/officeDocument/2006/relationships/slide" Target="../slides/slide23.xml"/><Relationship Id="Rd3439033d6f5409b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40df637d7da14e1e" Type="http://schemas.openxmlformats.org/officeDocument/2006/relationships/slide" Target="../slides/slide24.xml"/><Relationship Id="R44585af5bb9f43e4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794b4379d7b740be" Type="http://schemas.openxmlformats.org/officeDocument/2006/relationships/slide" Target="../slides/slide25.xml"/><Relationship Id="Rb1a70042fd3b47b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來源：YC 官方影片 How to Get and Evaluate Startup Ideas，Jared Friedman。https://www.youtube.com/watch?v=Th8JoIan4dg 。相關段落約 20:22–21:13，依官方影片自動字幕核對並意譯，非逐字引用。YC 系列資訊：https://www.ycombinator.com/blog/startup-school-videos 。本頁選取適合 Week 2 的觀點，並非完整影片所有建議。學生例子為虛構教學情境，不能當成使用者證據。痛點卡欄位、三位受訪者、兩題比較與 Week 5 MVP 時程都是本課延伸，不是 YC 要求。教師可先解釋觀念，再請學生找出自己卡片相應欄位補充真實事件。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來源：YC 官方影片 How to Get and Evaluate Startup Ideas，Jared Friedman。https://www.youtube.com/watch?v=Th8JoIan4dg 。相關段落約 1:47–3:16，依官方影片自動字幕核對並意譯，非逐字引用。YC 系列資訊：https://www.ycombinator.com/blog/startup-school-videos 。本頁選取適合 Week 2 的觀點，並非完整影片所有建議。學生例子為虛構教學情境，不能當成使用者證據。痛點卡欄位、三位受訪者、兩題比較與 Week 5 MVP 時程都是本課延伸，不是 YC 要求。教師可先解釋觀念，再請學生找出自己卡片相應欄位補充真實事件。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來源：YC 官方影片 How to Get and Evaluate Startup Ideas，Jared Friedman。https://www.youtube.com/watch?v=Th8JoIan4dg 。相關段落約 6:39–7:58；9:31–9:52，依官方影片自動字幕核對並意譯，非逐字引用。YC 系列資訊：https://www.ycombinator.com/blog/startup-school-videos 。本頁選取適合 Week 2 的觀點，並非完整影片所有建議。學生例子為虛構教學情境，不能當成使用者證據。痛點卡欄位、三位受訪者、兩題比較與 Week 5 MVP 時程都是本課延伸，不是 YC 要求。教師可先解釋觀念，再請學生找出自己卡片相應欄位補充真實事件。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來源：YC 官方影片 How to Get and Evaluate Startup Ideas，Jared Friedman。https://www.youtube.com/watch?v=Th8JoIan4dg 。相關段落約 9:10–9:30；17:59–19:34，依官方影片自動字幕核對並意譯，非逐字引用。YC 系列資訊：https://www.ycombinator.com/blog/startup-school-videos 。本頁選取適合 Week 2 的觀點，並非完整影片所有建議。學生例子為虛構教學情境，不能當成使用者證據。痛點卡欄位、三位受訪者、兩題比較與 Week 5 MVP 時程都是本課延伸，不是 YC 要求。教師可先解釋觀念，再請學生找出自己卡片相應欄位補充真實事件。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來源：YC 官方影片 How to Get and Evaluate Startup Ideas，Jared Friedman。https://www.youtube.com/watch?v=Th8JoIan4dg 。相關段落約 5:39–6:29，依官方影片自動字幕核對並意譯，非逐字引用。YC 系列資訊：https://www.ycombinator.com/blog/startup-school-videos 。本頁選取適合 Week 2 的觀點，並非完整影片所有建議。學生例子為虛構教學情境，不能當成使用者證據。痛點卡欄位、三位受訪者、兩題比較與 Week 5 MVP 時程都是本課延伸，不是 YC 要求。教師可先解釋觀念，再請學生找出自己卡片相應欄位補充真實事件。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教學對象：50 位學生，每堂 120 分鐘。例子為假設教學情境，不能當成學生真實證據。Week 1–4 保留個人探索，Week 5 每組最多三人依證據選 MVP。AI 為形成性建議，不決定成績。來源：https://www.youtube.com/watch?v=Th8JoIan4dg；https://www.ycombinator.com/blog/startup-school-videos。YC 2022 系列，課堂規則為本課教學應用。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79be6cf46f548c9" Type="http://schemas.openxmlformats.org/officeDocument/2006/relationships/slideLayout" Target="../slideLayouts/slideLayout1.xml"/><Relationship Id="Ra8b27ae773b8450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3dd1f31c2ba9467b" Type="http://schemas.openxmlformats.org/officeDocument/2006/relationships/notesSlide" Target="../notesSlides/notesSlide2.xml"/><Relationship Id="Re8661316f45b4efb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df4c085517245c1" Type="http://schemas.openxmlformats.org/officeDocument/2006/relationships/slideLayout" Target="../slideLayouts/slideLayout1.xml"/><Relationship Id="Rabaa6d9196c64e8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ac8c47930dc44ed2" Type="http://schemas.openxmlformats.org/officeDocument/2006/relationships/slideLayout" Target="../slideLayouts/slideLayout1.xml"/><Relationship Id="Re234ea8f4c814c1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18dd536d8074401" Type="http://schemas.openxmlformats.org/officeDocument/2006/relationships/notesSlide" Target="../notesSlides/notesSlide5.xml"/><Relationship Id="Rc9c834c68e784a5d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760dfd1c8b44952" Type="http://schemas.openxmlformats.org/officeDocument/2006/relationships/notesSlide" Target="../notesSlides/notesSlide6.xml"/><Relationship Id="R1f2b86bd7bde4a7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80d11ef9b8a64898" Type="http://schemas.openxmlformats.org/officeDocument/2006/relationships/notesSlide" Target="../notesSlides/notesSlide7.xml"/><Relationship Id="Ra41ae4c885fe4f29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69c649fd7e55410f" Type="http://schemas.openxmlformats.org/officeDocument/2006/relationships/notesSlide" Target="../notesSlides/notesSlide8.xml"/><Relationship Id="R73653713b95e40a8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c2caf2ef1034275" Type="http://schemas.openxmlformats.org/officeDocument/2006/relationships/slideLayout" Target="../slideLayouts/slideLayout1.xml"/><Relationship Id="R7757e5d5b1a2498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f1db315b9274b6b" Type="http://schemas.openxmlformats.org/officeDocument/2006/relationships/notesSlide" Target="../notesSlides/notesSlide10.xml"/><Relationship Id="Re209c888dfac4e6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f4e86abb98ec4b73" Type="http://schemas.openxmlformats.org/officeDocument/2006/relationships/notesSlide" Target="../notesSlides/notesSlide11.xml"/><Relationship Id="Rfa0bbab72acc40a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67550f4476bb4b30" Type="http://schemas.openxmlformats.org/officeDocument/2006/relationships/slideLayout" Target="../slideLayouts/slideLayout1.xml"/><Relationship Id="Rd7aa4b71b435459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29ed454db12d47a9" Type="http://schemas.openxmlformats.org/officeDocument/2006/relationships/slideLayout" Target="../slideLayouts/slideLayout1.xml"/><Relationship Id="R9f88c1855b2b45fa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3b590fbc154ab0" Type="http://schemas.openxmlformats.org/officeDocument/2006/relationships/slideLayout" Target="../slideLayouts/slideLayout1.xml"/><Relationship Id="R5514fab9000c4c9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ae48589804e54706" Type="http://schemas.openxmlformats.org/officeDocument/2006/relationships/slideLayout" Target="../slideLayouts/slideLayout1.xml"/><Relationship Id="Rdcf5aae1f8284f8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88cdbd24e2943c1" Type="http://schemas.openxmlformats.org/officeDocument/2006/relationships/notesSlide" Target="../notesSlides/notesSlide16.xml"/><Relationship Id="R61482e860046448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0c72c0b4c7b343d7" Type="http://schemas.openxmlformats.org/officeDocument/2006/relationships/notesSlide" Target="../notesSlides/notesSlide17.xml"/><Relationship Id="R16c674d7c74047b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ddc99371a1240d5" Type="http://schemas.openxmlformats.org/officeDocument/2006/relationships/notesSlide" Target="../notesSlides/notesSlide18.xml"/><Relationship Id="Re716eeb7c6d4479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220470ea71e14c82" Type="http://schemas.openxmlformats.org/officeDocument/2006/relationships/notesSlide" Target="../notesSlides/notesSlide19.xml"/><Relationship Id="Ra42b24b63aff4d3a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abf4fc6f45146f2" Type="http://schemas.openxmlformats.org/officeDocument/2006/relationships/slideLayout" Target="../slideLayouts/slideLayout1.xml"/><Relationship Id="R7cd89d241eae419a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62e31e2ee5b54e6f" Type="http://schemas.openxmlformats.org/officeDocument/2006/relationships/notesSlide" Target="../notesSlides/notesSlide21.xml"/><Relationship Id="Rb8e86937e9444473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7dc24ae6d7f0438e" Type="http://schemas.openxmlformats.org/officeDocument/2006/relationships/notesSlide" Target="../notesSlides/notesSlide22.xml"/><Relationship Id="R92d37dc983ab49e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38e0ee61f2794c32" Type="http://schemas.openxmlformats.org/officeDocument/2006/relationships/slideLayout" Target="../slideLayouts/slideLayout1.xml"/><Relationship Id="Rd76156c77b3a444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42e8e8e722a64862" Type="http://schemas.openxmlformats.org/officeDocument/2006/relationships/slideLayout" Target="../slideLayouts/slideLayout1.xml"/><Relationship Id="Ra2ca03d5857b415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149d4a5b845b43d8" Type="http://schemas.openxmlformats.org/officeDocument/2006/relationships/notesSlide" Target="../notesSlides/notesSlide25.xml"/><Relationship Id="R5924768ef4714a5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096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使用者訪談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857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用問題理解別人的經驗，不是推銷你的答案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本週任務：訪談三位真實使用者，把原話帶回來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21920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B4B4B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600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057275"/>
            <a:ext cx="1143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92405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5595247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每人三次真實訪談，Week 5 再依證據選小組 MVP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真實訪談，每次至少一句原話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76500"/>
            <a:ext cx="571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9525">
            <a:solidFill>
              <a:srgbClr val="E6394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取回 Week 2 痛點卡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看自己的三階燈與老師指路；還沒交的先補交，內容都保留。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623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帶著準備單去問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00525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痛點陳述、三位受訪者、兩題問題，印出來或存在手機裡。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把原話寫進訪談紀錄卡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911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受訪者用代稱；寫下對方的原話、意外發現，以及痛點成立與否。</a:t>
            </a:r>
          </a:p>
        </p:txBody>
      </p:sp>
    </p:spTree>
    <p:extLst>
      <p:ext uri="{BB962C8B-B14F-4D97-AF65-F5344CB8AC3E}">
        <p14:creationId xmlns:p14="http://schemas.microsoft.com/office/powerpoint/2010/main" val="18984895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先看影片怎麼問，再現場練一次，最後帶著準備單出門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9525">
            <a:solidFill>
              <a:srgbClr val="E6394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回顧與影片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0–10 取回痛點卡與老師指路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10–25 影片重點導讀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25–55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95B"/>
          </a:solidFill>
          <a:ln xmlns:a="http://schemas.openxmlformats.org/drawingml/2006/main" w="9525">
            <a:solidFill>
              <a:srgbClr val="1439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示範與準備單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25–45 好問題／壞問題、原話／解讀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45–55 完成訪談準備單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55–100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827"/>
          </a:solidFill>
          <a:ln xmlns:a="http://schemas.openxmlformats.org/drawingml/2006/main" w="9525">
            <a:solidFill>
              <a:srgbClr val="C99827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模擬訪談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55–65 休息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65–90 兩兩互訪、寫第一筆原話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90–100 回收：原話還是解讀？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2381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9525">
            <a:solidFill>
              <a:srgbClr val="121212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分流與課後任務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95725"/>
            <a:ext cx="238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100–110 重複題目分流：誰 × 步驟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110–120 一週內完成三次真實訪談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本週成果是原話與事實；痛點能不能成立，要看訪談回來的證據，不是看你多想做。</a:t>
            </a:r>
          </a:p>
        </p:txBody>
      </p:sp>
    </p:spTree>
    <p:extLst>
      <p:ext uri="{BB962C8B-B14F-4D97-AF65-F5344CB8AC3E}">
        <p14:creationId xmlns:p14="http://schemas.microsoft.com/office/powerpoint/2010/main" val="185888388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三種訪談對象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依你的痛點選，三位可以不同類型，但都要真的遇過那件事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9525">
            <a:solidFill>
              <a:srgbClr val="E63946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098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當事人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98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最近一個月親身遇過你描述的情境，能說出上一次發生什麼。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194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95B"/>
          </a:solidFill>
          <a:ln xmlns:a="http://schemas.openxmlformats.org/drawingml/2006/main" w="9525">
            <a:solidFill>
              <a:srgbClr val="1439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623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旁觀者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3623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在現場看過別人卡住的人：店員、同學、家人，提供另一個角度。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827"/>
          </a:solidFill>
          <a:ln xmlns:a="http://schemas.openxmlformats.org/drawingml/2006/main" w="9525">
            <a:solidFill>
              <a:srgbClr val="C99827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148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已經放棄的人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14825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遇過但現在不做了、改用別的方法的人；他們最能告訴你代價在哪。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244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三位都是當事人也可以。不可以的是：三位都是你的室友，而且他們沒遇過。</a:t>
            </a:r>
          </a:p>
        </p:txBody>
      </p:sp>
    </p:spTree>
    <p:extLst>
      <p:ext uri="{BB962C8B-B14F-4D97-AF65-F5344CB8AC3E}">
        <p14:creationId xmlns:p14="http://schemas.microsoft.com/office/powerpoint/2010/main" val="6824717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F6F3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原話與解讀，分開寫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以下為教學情境，請用自己的訪談取代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362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原話（受訪者說的）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4762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「上禮拜三我排到第二節快上課，直接不吃了。」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「我後來都去便利商店，比較貴但快。」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「其實一週大概兩次吧，不是每天。」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28875"/>
            <a:ext cx="381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7"/>
          </a:solidFill>
          <a:ln xmlns:a="http://schemas.openxmlformats.org/drawingml/2006/main" w="9525">
            <a:solidFill>
              <a:srgbClr val="D6D0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解讀（你想的）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4762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排隊是主要困擾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大家都願意多花錢換時間</a:t>
            </a:r>
          </a:p>
          <a:p xmlns:a="http://schemas.openxmlformats.org/drawingml/2006/main"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這個問題很常見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原話可以當證據；解讀只是假設，要再問下一位來驗證。</a:t>
            </a:r>
          </a:p>
        </p:txBody>
      </p:sp>
    </p:spTree>
    <p:extLst>
      <p:ext uri="{BB962C8B-B14F-4D97-AF65-F5344CB8AC3E}">
        <p14:creationId xmlns:p14="http://schemas.microsoft.com/office/powerpoint/2010/main" val="3372043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7635BE-3EC3-46CF-8521-D60667B0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AC87ED-DFF8-45BD-AB94-149DA64F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一句原話，勝過十句推測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8B84B-9BC9-4C52-A25B-2F1FF446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記下對方的用詞、時間與地點，不要先翻譯成你的語言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3D2D0-F2B6-4AEA-9D63-2E807A94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C693C-BC4D-46F8-BE93-FD68E474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81695-5675-4D2C-A0AD-57CB062F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E9758-1074-4800-BC68-A8EA7546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924675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3A0D5-2350-4792-9DCE-EFB72089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762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51EDB-7E14-4C4F-B67B-5D5501CA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62293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「我後來都去便利商店，</a:t>
            </a:r>
          </a:p>
          <a:p xmlns:a="http://schemas.openxmlformats.org/drawingml/2006/main"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比較貴但快。」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5FBF1-E297-4C20-A32E-F2F959A0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受訪者 B（代稱）  /  週四中午  /  校門口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DC5E7-8CDE-4F33-92F6-656640CF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771775"/>
            <a:ext cx="33051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DE6FE-4084-4883-825E-FECA9C49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00350"/>
            <a:ext cx="2428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便利商店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AD12A-7A09-46C5-996C-CEFF3D7E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62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0AC28-8FB7-4957-A9C4-85B78606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86200"/>
            <a:ext cx="476250" cy="6096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CCC67B-F573-4E95-AD9C-24E912E9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1BA32B-F350-4B1F-AF92-2DAB1627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7B3D5E-3E31-46DE-8AA8-7D8C2183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62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4CD36-EC97-485D-92FD-6C370881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86200"/>
            <a:ext cx="476250" cy="6096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27CC69-72DE-4E07-878B-3ECE8A59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89A704-B3C7-4122-8AA3-C065310F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ECD60C-D707-4FC2-BE2F-55B296BD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2458D7-8388-4F60-B024-A8249B1B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86200"/>
            <a:ext cx="476250" cy="6096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E7161A-F112-4D15-A01F-1AA4C300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060602-FDDD-401C-9ACA-59F2625B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19600"/>
            <a:ext cx="13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D23766-27D3-4D4D-BFE5-010DE82E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486150"/>
            <a:ext cx="742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1212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99209A-0562-4EAE-B62C-A545A6EA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3638550"/>
            <a:ext cx="3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6FC0D9-77BD-448C-B77B-E04A3351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3876675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1B356F-5F7B-4013-B995-09FAE01A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029200"/>
            <a:ext cx="3495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626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5E11BE-F545-4D47-A7F8-F63D2752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待追問：「比較貴」是多少？「快」省了幾分鐘？多久一次？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647F41-F816-4276-ABEC-7015C8FD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8162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假設教學情境</a:t>
            </a:r>
          </a:p>
        </p:txBody>
      </p:sp>
    </p:spTree>
    <p:extLst>
      <p:ext uri="{BB962C8B-B14F-4D97-AF65-F5344CB8AC3E}">
        <p14:creationId xmlns:p14="http://schemas.microsoft.com/office/powerpoint/2010/main" val="552281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影片的五個訪談提醒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Talk To Users · Gustaf Alströmer（YC Startup School 2022）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241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整個創業過程都要持續跟使用者談，不是只有一開始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2417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765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575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早期靠的是人與人的關係，走出自己的圈子去找人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57600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好的訪談：先建立關係、不推銷、你聽八成、對方講八成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91025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2437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問過去的具體經驗，不問假設、不問功能、不問是非題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768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578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訪談後整理筆記、把問題分類、形成假設，再快速做 MVP</a:t>
            </a:r>
          </a:p>
        </p:txBody>
      </p:sp>
    </p:spTree>
    <p:extLst>
      <p:ext uri="{BB962C8B-B14F-4D97-AF65-F5344CB8AC3E}">
        <p14:creationId xmlns:p14="http://schemas.microsoft.com/office/powerpoint/2010/main" val="7443207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E51CBA-82C8-49B5-A679-27E21DDA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C9374-2343-4BE3-AE6F-481B7C31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 YC 影片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6ED46-4B5C-4DE7-94D9-EF51017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Talk To Users · Gustaf Alströmer（約 17 分鐘）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0743C-E6CE-49C9-BD81-75FB94AC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41E72-43CF-4ECE-A142-A56C8C16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909966-2A99-4B30-A195-E662ECAA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D6F5E4-C3D8-4E4D-8F60-4C7501DE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505200" cy="2676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E7AC2-3FA7-4FF0-91BB-4CE9E08D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50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7D7B0-EB44-4452-8EC9-27585F6E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76525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F5000-F6DE-4B6B-AB29-8976DBD3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我要問誰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69BBE-5B34-47BC-AC81-43C21498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三位真的遇過</a:t>
            </a:r>
          </a:p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這件事的人是誰？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711E8-48F8-4470-B2F2-9B9309AA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38400"/>
            <a:ext cx="3505200" cy="2676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02E1C9-ED85-4072-8D04-16B70667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38400"/>
            <a:ext cx="350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DDF27D-3C58-4069-AC3A-1DFF4E82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76525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AED7C-4A37-439A-AD2D-EC14CC7F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我怎麼問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B30F38-691F-4AD4-AB4F-B49E1929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問上一次發生什麼，</a:t>
            </a:r>
          </a:p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不問「你會不會用」。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8B680-9E4E-4BFF-81B0-EC04CA5C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38400"/>
            <a:ext cx="3505200" cy="2676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4C8991-0650-474B-940A-AE6FFAE5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38400"/>
            <a:ext cx="350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F71F3-B5CE-448C-A307-D2AC2F35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76525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6F892-140A-4F15-A4D1-276CA717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我帶什麼回來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E64BC5-91BD-4DD7-9BF4-DE15765B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314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原話、代價、</a:t>
            </a:r>
          </a:p>
          <a:p xmlns:a="http://schemas.openxmlformats.org/drawingml/2006/main"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目前的替代做法。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E80CEC-8842-4BB2-942D-C861E4E0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YC Startup School 2022 系列；本課採用訪談框架，案例為課堂延伸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4F63D8-2087-40C4-9F97-289B055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66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影片：youtube.com/watch?v=z1iF1c8w5Lg</a:t>
            </a:r>
          </a:p>
        </p:txBody>
      </p:sp>
    </p:spTree>
    <p:extLst>
      <p:ext uri="{BB962C8B-B14F-4D97-AF65-F5344CB8AC3E}">
        <p14:creationId xmlns:p14="http://schemas.microsoft.com/office/powerpoint/2010/main" val="11210472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1：持續跟使用者談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Airbnb 創辦人住進房東家裡，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親自理解房東為什麼願意出租。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訪談不是一次性的功課。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每次新證據都會改變你對痛點的理解。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本課例子：第一位說排隊，第二位說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其實是教室太遠；題目就要重看。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每次訪談後填「痛點是否成立」。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三次都填，最後寫「我的理解改變了什麼」。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2：走出自己的圈子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早期沒有廣告可以靠，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要靠人際關係找到願意談的人。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室友不一定是你的使用者。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找真的遇過那件事的人，哪怕要開口問陌生人。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本課例子：打工交班的痛點，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去問別家店的工讀生，不只問自己店裡的。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受訪者寫「代稱＋身分」，例如「便利商店夜班工讀生 A」。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不寫姓名、電話、班級。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3：聽八成，講兩成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先建立關係、不要推銷點子；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好的訪談是對方一直講，你一直追問。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一說「我想做一個 App」，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對方就會開始客氣地幫你圓夢，證據就沒了。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本課例子：只說「我在了解午休吃飯的狀況」，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不說「我想做訂餐 App」。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「原話」欄只能寫對方說的話。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你的想法寫在「我的解讀」，兩欄分開。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4：問過去，不問未來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問具體的過去經驗；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避免假設題、功能題、是非題。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「你會不會用？」沒有人會說不會。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「上次發生什麼？」才會講出真實的代價。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本課例子：不問「排隊很煩吧？」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改問「上次排最久那次，後來怎麼辦？」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每次訪談至少追問一句「那後來呢？」。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「意外發現」欄寫你原本沒想到的事。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5：訪談後整理，再做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把筆記整理、把問題分類、形成假設，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再快速做出可以測的東西。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三次訪談回來先分類：哪些是同一個痛，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哪些其實是不同的人、不同的步驟。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本課例子：三位都說「找不到人分租」，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但卡的步驟是找人、看房、簽約，三件事。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最後填「痛點成立／調整／換題」與修正後的痛點陳述。</a:t>
            </a:r>
          </a:p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5 才選 MVP。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每次訪談要帶回的三樣東西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沒有也要寫「沒問到」，下一次補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765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上一次發生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812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什麼時候？在哪裡？然後呢？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575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有日期、地點、經過才算事件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9090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7665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代價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58140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多花了多少時間、錢，或錯過什麼？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5765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對方自己說的數字最好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9105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768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目前怎麼辦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7815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現在用什麼方法處理？為什麼是這個？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578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替代做法就是你的競爭者</a:t>
            </a:r>
          </a:p>
        </p:txBody>
      </p:sp>
    </p:spTree>
    <p:extLst>
      <p:ext uri="{BB962C8B-B14F-4D97-AF65-F5344CB8AC3E}">
        <p14:creationId xmlns:p14="http://schemas.microsoft.com/office/powerpoint/2010/main" val="11807076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先建立關係，再開始問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開場三十秒決定對方願不願意講真話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開場可以這樣說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「我在修一門課，正在了解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大家午休吃飯的狀況，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想聽聽你上次的經驗。」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不要這樣開場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「我想做一個 App，你覺得好不好？」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「你是不是也覺得排隊很煩？」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說明用途、保證不寫姓名、十分鐘就好。對方放鬆，原話才會出來。</a:t>
            </a:r>
          </a:p>
        </p:txBody>
      </p:sp>
    </p:spTree>
    <p:extLst>
      <p:ext uri="{BB962C8B-B14F-4D97-AF65-F5344CB8AC3E}">
        <p14:creationId xmlns:p14="http://schemas.microsoft.com/office/powerpoint/2010/main" val="1102528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追問：「那後來呢？」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第一個答案通常是客套，第二、三層才是證據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對方第一句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「就排隊啊，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很久。」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上次是哪一天？大概等了多久？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後來吃到了嗎？沒吃到怎麼辦？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追問不是質問。用對方的用詞重複一次，再問「然後呢？」</a:t>
            </a:r>
          </a:p>
        </p:txBody>
      </p:sp>
    </p:spTree>
    <p:extLst>
      <p:ext uri="{BB962C8B-B14F-4D97-AF65-F5344CB8AC3E}">
        <p14:creationId xmlns:p14="http://schemas.microsoft.com/office/powerpoint/2010/main" val="11959541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7AF06B-144A-4A96-B49C-2E71E3D5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BC339-A0B6-42D3-8A8E-4305C418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記錄：原話欄只能寫對方說的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A7BF4-4954-413B-8C5B-7EE13B29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寫下用詞、數字、時間，不要先翻譯成你的結論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CCA24-C90C-4AC9-B08C-76D9915D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0C966-124B-4D5C-8E84-C7D07964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4A360-A1BF-4395-9A63-31FDBD9D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A2FF7-5422-4527-9283-E7FB9ECD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F40A1-F748-4CD6-8C45-46E4FB90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BF9EB-35F8-4D32-8ACF-90216189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CEFE7-8FAF-4F0E-A3B3-5D634686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「上禮拜三我排到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快上課，直接不吃了，</a:t>
            </a:r>
          </a:p>
          <a:p xmlns:a="http://schemas.openxmlformats.org/drawingml/2006/main"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下午餓到頭昏。」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51824-B881-4CAE-80DB-01C0CCF1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一起分辨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116C6-1E98-4F6C-AD27-375E1B72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哪一句是對方說的？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B4C04-78D1-4EFC-9323-45BC7D62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94763-1F7F-43DA-81BE-D51ECFE8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哪一句是你自己補的？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72092A-4D51-4639-9619-2FF162B0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「下午餓到頭昏」是原話；「所以排隊是大問題」是你的解讀，寫另一欄。</a:t>
            </a:r>
          </a:p>
        </p:txBody>
      </p:sp>
    </p:spTree>
    <p:extLst>
      <p:ext uri="{BB962C8B-B14F-4D97-AF65-F5344CB8AC3E}">
        <p14:creationId xmlns:p14="http://schemas.microsoft.com/office/powerpoint/2010/main" val="104534963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F28F05-7C65-4498-B38D-E705A99A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577F5-BFBD-4B0C-9DC2-8068A841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意外發現與反例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7C534-3C74-43B6-913C-16C12461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最有價值的往往是你沒打算問的那件事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A1133-4200-4B6F-9CEE-57221643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F5D04-D424-463C-A3C0-24F671AC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82062-99BC-4CC4-96B2-29A72019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18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AA4CA-17E2-4DD5-B9C6-C1A6B9B0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4293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16438-45F4-42A9-9F1D-A85AC0AE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66675" cy="3019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8CDEF-17FE-4567-8A90-8165A121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908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意外發現的例子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39A299-D7C3-4772-9E83-544E07DA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5857875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「其實我不是怕排隊，</a:t>
            </a:r>
          </a:p>
          <a:p xmlns:a="http://schemas.openxmlformats.org/drawingml/2006/main"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是怕排完發現想吃的賣完了。」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AB7223-C1B6-443D-A09E-BC25CA8A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28875"/>
            <a:ext cx="3790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B3A6D-F741-4453-8E90-956BE00F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377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這跟我原本的痛點一樣嗎？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E581B-F7EA-41C0-933A-86CADDDA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F8E166-5CED-4A9A-A28D-4B61ECEB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909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如果三位都這樣說，</a:t>
            </a:r>
          </a:p>
          <a:p xmlns:a="http://schemas.openxmlformats.org/drawingml/2006/main"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我的題目要怎麼改？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55943-4972-48DF-9A48-1C155A92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反例不是失敗。它告訴你誰沒有這個問題，題目要往哪裡縮。</a:t>
            </a:r>
          </a:p>
        </p:txBody>
      </p:sp>
    </p:spTree>
    <p:extLst>
      <p:ext uri="{BB962C8B-B14F-4D97-AF65-F5344CB8AC3E}">
        <p14:creationId xmlns:p14="http://schemas.microsoft.com/office/powerpoint/2010/main" val="1121159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可以問 vs 需要修改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問過去的具體經驗，讓對方用自己的話回答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19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3721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3721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447925"/>
            <a:ext cx="4857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267075"/>
            <a:ext cx="48863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上次遇到這件事，</a:t>
            </a:r>
          </a:p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是什麼時候？後來怎麼辦？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57725"/>
            <a:ext cx="4886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第二題：那次多花了多少時間？為什麼選那個方法？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62200"/>
            <a:ext cx="53721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62200"/>
            <a:ext cx="53721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447925"/>
            <a:ext cx="4857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需要修改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67075"/>
            <a:ext cx="48863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你會不會想用一個 App 來解決？</a:t>
            </a:r>
          </a:p>
          <a:p xmlns:a="http://schemas.openxmlformats.org/drawingml/2006/main"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你覺得這個問題嚴重嗎？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57725"/>
            <a:ext cx="4886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這些問法要對方預測未來，或替你打分數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訪談中不介紹產品、不辯解、不糾正對方。你是來聽的。</a:t>
            </a:r>
          </a:p>
        </p:txBody>
      </p:sp>
    </p:spTree>
    <p:extLst>
      <p:ext uri="{BB962C8B-B14F-4D97-AF65-F5344CB8AC3E}">
        <p14:creationId xmlns:p14="http://schemas.microsoft.com/office/powerpoint/2010/main" val="19064308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F758EE-CD86-48B7-9528-D7F1ABB3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08B2D-B5A5-4C29-AC67-4F609BCB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三位受訪者怎麼安排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F344C-5FEC-4E4B-ADC7-6A1F81F0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寫代稱與接觸方式，不填姓名、Email、電話或敏感資料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DA960-2142-4AA8-995C-CA83244B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1B358-EF55-433A-8C01-0CA7654E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A8098-6BDA-42DF-A127-0FA3683F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C57CC-9AE6-46B1-9743-23518ADF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4A629-9C9A-413E-B4D0-4A970115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1B910-5196-43A9-BEA5-4EEAB468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438400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當事人：下課後在教室外問，十分鐘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A165C-D9D7-43F9-ACA1-D8242F9A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28950"/>
            <a:ext cx="8162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8C1EEE-5161-4193-8F3E-7037FA3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4F02C-5EE6-4782-B407-6B2ECB43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9925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FD529-F489-4B5D-89AC-1E01DFEC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09925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旁觀者：餐廳店員，離峰時段問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FCBDC-21FE-44B9-894A-F61DFD23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800475"/>
            <a:ext cx="8162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CE1DD2-4CD5-4252-ABCC-53AC0262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A06E9-B0C2-4FDE-90A6-C2391F0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CEE49-84FB-4548-8DE8-7C47D42C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981450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已放棄的人：改帶便當的同學，午休問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18B70-D194-4C9C-8FE3-6F5886EC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572000"/>
            <a:ext cx="8162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0C033-9B59-4F45-B65B-E28E2425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2428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17F3F-EA23-412B-8332-A63CBF0A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52975"/>
            <a:ext cx="2171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符合的條件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E5E0B-8F52-432E-AB48-77C12225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752975"/>
            <a:ext cx="7953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都真的遇過（或看過）你想了解的情境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6F7644-0D00-471F-B615-B1B17A0A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155734-41A4-4D8E-AB83-784EDE4A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三位盡量不要都是同一種人。本週內完成，下週帶原話來。</a:t>
            </a:r>
          </a:p>
        </p:txBody>
      </p:sp>
    </p:spTree>
    <p:extLst>
      <p:ext uri="{BB962C8B-B14F-4D97-AF65-F5344CB8AC3E}">
        <p14:creationId xmlns:p14="http://schemas.microsoft.com/office/powerpoint/2010/main" val="108332964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模擬訪談：兩兩互訪十分鐘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一人當受訪者講自己真實的經驗，一人練習追問，然後交換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21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開場三十秒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說明用途、不寫姓名、只問上次的經驗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問第一題，追問兩層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「上次是什麼時候？」「後來呢？」「多花了多少？」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只寫原話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寫進訪談紀錄卡第一筆；受訪者看一眼：這是我說的嗎？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交換角色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結束後各說一句：剛才哪一個問題讓你講最多？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06394075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FA8C43-4D14-4E8C-855D-2889AFAB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9ED36-4AA3-4F9F-9C60-211D2D8A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重複題目的同學：誰 × 步驟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A5486-E8D9-4987-855E-C6CD3661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全班有十幾個人選了相近的題目，訪談時刻意分開問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4BA38-8990-412B-9C1D-0A8E3908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4054D-90AA-4ABA-B0B0-B3C720BA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A8A27-4E4A-4434-B71C-4B3B7CA0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22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D3F80-E2AD-43FA-9AFB-1FBFA3C3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9ABDC-4359-4ED4-BB66-A1ED698C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7DD043-484B-4C4A-B588-72EC2FAF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F8BC1-6030-49A9-A850-933F9CEB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同一件事，不同的人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5C1FD6-4D57-4EE3-9121-C6B9E154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通勤生、住宿生、打工生，卡的地方一樣嗎？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2CB0C-DADA-4EF6-9188-22027D67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3E805-98A1-43EE-8DF6-38C4DB29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94AED-AC06-4358-BA1C-DF61F512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15D75-B599-4B34-AA8C-DABD9566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9139F-08DB-4996-BDAA-D6A9B34A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05075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同一群人，不同的步驟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AF7D7-1561-488C-94AC-F6C0FDB1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找人、比較、決定、付款、事後——卡在哪一步？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9A6C0-5AB0-423D-BB2B-D84337A1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1475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CEDE4-238E-4285-93C9-C6D5E454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49DA36-489E-40FA-AA2C-1E1024E9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7A975C-BB8D-4E24-9AD9-B9306A46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CD130-7FBF-4137-A50A-C8E9AA79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同一個痛，不同的代價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EB1A9-C2E4-4B8F-BA67-C669AF36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有人損失時間、有人損失錢、有人放棄；各找一位問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5D0B71-E992-4185-9356-2C5A207D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216008-54D5-4AF7-AF78-8DEDE605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372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74CA82-DE00-48D0-9AB8-9C49637D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4762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82A4D8-F5BC-4374-83B4-B3FE8D20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19600"/>
            <a:ext cx="64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F1134F-C9C8-44DF-9CAB-24A00222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訪談後互相比對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F8F6E3-4705-46D0-A1EC-BB3B66B9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9675"/>
            <a:ext cx="4867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下週同題的同學一起看原話：真的是同一個痛點嗎？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1E9309-FE12-4B5B-83F7-C857AF79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292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4927401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212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訪談後的三個判斷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三次訪談都記完，再回頭看痛點陳述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23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02870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成立：三位都說得出上一次、代價、目前做法</a:t>
            </a:r>
          </a:p>
          <a:p xmlns:a="http://schemas.openxmlformats.org/drawingml/2006/main"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調整：遇過，但卡的點不同 → 縮小人物或步驟</a:t>
            </a:r>
          </a:p>
          <a:p xmlns:a="http://schemas.openxmlformats.org/drawingml/2006/main"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換題：沒人說得出具體事件 → 換另一個候選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863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修正後的痛點陳述：用受訪者的用詞重寫一次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76900"/>
            <a:ext cx="1028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本週只需判斷與改寫；Week 5 再依全部證據選定小組 MVP。</a:t>
            </a:r>
          </a:p>
        </p:txBody>
      </p:sp>
    </p:spTree>
    <p:extLst>
      <p:ext uri="{BB962C8B-B14F-4D97-AF65-F5344CB8AC3E}">
        <p14:creationId xmlns:p14="http://schemas.microsoft.com/office/powerpoint/2010/main" val="14562074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離堂前與本週內的清單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課堂上先完成前三項，一週內完成後四項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24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145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38375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已取回 Week 2 痛點卡，看過老師指路或三階燈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訪談準備單已下載或列印：痛點陳述、三位受訪者、兩題問題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004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24225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模擬訪談的第一筆原話已寫進訪談紀錄卡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433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3A5F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67150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一週內完成三位真實受訪者，每位至少一句原話與一個代價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862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6394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0075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每次訪談填「痛點是否成立」與「意外發現」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6394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53000"/>
            <a:ext cx="10382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最後填判斷（成立／調整／換題）與修正後的痛點陳述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0"/>
            <a:ext cx="10525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受訪者只用代稱。對方不想說的不追問；未成年或敏感情境先找老師。</a:t>
            </a:r>
          </a:p>
        </p:txBody>
      </p:sp>
    </p:spTree>
    <p:extLst>
      <p:ext uri="{BB962C8B-B14F-4D97-AF65-F5344CB8AC3E}">
        <p14:creationId xmlns:p14="http://schemas.microsoft.com/office/powerpoint/2010/main" val="148112874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紀錄、保存與教師互動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訪談紀錄卡隨時可存草稿；三次都填好再正式提交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032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25 / 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765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邊訪邊記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812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訪談當下用手機記關鍵字，結束十分鐘內補完原話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575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三次訪談可以分三天填，每次都會保存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9090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3A5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7665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保存與提交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58140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提交後仍可修改，原版本會保留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5765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老師在教師洞察看得到每次訪談與你的判斷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91050"/>
            <a:ext cx="10201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5C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768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下週帶來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781550"/>
            <a:ext cx="67151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三句原話、一個意外發現、修正後的陳述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57800"/>
            <a:ext cx="671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同題同學一起比對，決定分流還是合併</a:t>
            </a:r>
          </a:p>
        </p:txBody>
      </p:sp>
    </p:spTree>
    <p:extLst>
      <p:ext uri="{BB962C8B-B14F-4D97-AF65-F5344CB8AC3E}">
        <p14:creationId xmlns:p14="http://schemas.microsoft.com/office/powerpoint/2010/main" val="11807076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