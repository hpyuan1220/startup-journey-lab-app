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a2c494ff6534158" Type="http://schemas.openxmlformats.org/package/2006/relationships/metadata/core-properties" Target="docProps/core.xml"/><Relationship Id="Rd7e0ccb774ee4da3" Type="http://schemas.openxmlformats.org/officeDocument/2006/relationships/officeDocument" Target="ppt/presentation.xml"/><Relationship Id="Red5eaeb31f1f489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d81ccdc3d4373"/>
  </p:sldMasterIdLst>
  <p:notesMasterIdLst>
    <p:notesMasterId xmlns:r="http://schemas.openxmlformats.org/officeDocument/2006/relationships" r:id="Rae5565e222f94311"/>
  </p:notesMasterIdLst>
  <p:sldIdLst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ns0="http://schemas.openxmlformats.org/officeDocument/2006/relationships" id="294" ns0:id="rId44"/>
    <p:sldId xmlns:ns0="http://schemas.openxmlformats.org/officeDocument/2006/relationships" id="295" ns0:id="rId45"/>
    <p:sldId xmlns:ns0="http://schemas.openxmlformats.org/officeDocument/2006/relationships" id="296" ns0:id="rId46"/>
    <p:sldId xmlns:ns0="http://schemas.openxmlformats.org/officeDocument/2006/relationships" id="297" ns0:id="rId47"/>
    <p:sldId xmlns:ns0="http://schemas.openxmlformats.org/officeDocument/2006/relationships" id="298" ns0:id="rId48"/>
    <p:sldId xmlns:ns0="http://schemas.openxmlformats.org/officeDocument/2006/relationships" id="299" ns0:id="rId49"/>
    <p:sldId xmlns:ns0="http://schemas.openxmlformats.org/officeDocument/2006/relationships" id="300" ns0:id="rId50"/>
    <p:sldId xmlns:ns0="http://schemas.openxmlformats.org/officeDocument/2006/relationships" id="301" ns0:id="rId51"/>
    <p:sldId xmlns:ns0="http://schemas.openxmlformats.org/officeDocument/2006/relationships" id="302" ns0:id="rId52"/>
    <p:sldId xmlns:ns0="http://schemas.openxmlformats.org/officeDocument/2006/relationships" id="303" ns0:id="rId53"/>
    <p:sldId xmlns:ns0="http://schemas.openxmlformats.org/officeDocument/2006/relationships" id="304" ns0:id="rId54"/>
    <p:sldId xmlns:ns0="http://schemas.openxmlformats.org/officeDocument/2006/relationships" id="305" ns0:id="rId55"/>
    <p:sldId xmlns:ns0="http://schemas.openxmlformats.org/officeDocument/2006/relationships" id="306" ns0:id="rId56"/>
    <p:sldId xmlns:ns0="http://schemas.openxmlformats.org/officeDocument/2006/relationships" id="307" ns0:id="rId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f9775db36e4347" Type="http://schemas.openxmlformats.org/officeDocument/2006/relationships/theme" Target="theme/theme1.xml"/><Relationship Id="R209d81ccdc3d4373" Type="http://schemas.openxmlformats.org/officeDocument/2006/relationships/slideMaster" Target="slideMasters/slideMaster1.xml"/><Relationship Id="Rae5565e222f94311" Type="http://schemas.openxmlformats.org/officeDocument/2006/relationships/notesMaster" Target="notesMasters/notesMaster1.xml"/><Relationship Id="Rc3130170706542df" Type="http://schemas.openxmlformats.org/officeDocument/2006/relationships/presProps" Target="presProps.xml"/><Relationship Id="Rdae1bc0b7b5049c6" Type="http://schemas.openxmlformats.org/officeDocument/2006/relationships/tableStyles" Target="tableStyles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4636b259947a4c7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21de335dda5480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400e1906020446b" Type="http://schemas.openxmlformats.org/officeDocument/2006/relationships/slideLayout" Target="../slideLayouts/slideLayout1.xml"/><Relationship Id="R42e31e3cb9d9443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00e1906020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3" name="">
            <a:extLst>
              <a:ext uri="{FF2B5EF4-FFF2-40B4-BE49-F238E27FC236}">
                <a16:creationId xmlns:a16="http://schemas.microsoft.com/office/drawing/2014/main" id="{B610B403-B5AE-4645-BFCA-BCD615455D8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F53071F-7357-4072-9247-7EBFB78BD22B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5B87038-7D87-4EF3-B380-7070A034192B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9B105CA-B3D7-4A85-B7E2-2F9A43F502C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01 / 27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C0733B6-EB6B-43EB-877A-C39DF623DF8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8096250" cy="1866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使用者訪談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0DE52D0-9EC0-4155-9667-C91406C521CE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857250" cy="666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4CCD487-64AF-492D-974A-CFA516763AC0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用問題理解別人的經驗，不是推銷你的答案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57AE6CC-17D3-43F0-840B-ADD9C52C97A1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9525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本週任務：訪談三位真實使用者，把原話帶回來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7233630-81BE-42E3-99E0-8D1098FE04BD}"/>
              </a:ext>
            </a:extLst>
          </p:cNvPr>
          <p:cNvSpPr>
            <a:spLocks noGrp="1"/>
          </p:cNvSpPr>
          <p:nvPr/>
        </p:nvSpPr>
        <p:spPr>
          <a:xfrm>
            <a:off x="9848850" y="1219200"/>
            <a:ext cx="1524000" cy="1524000"/>
          </a:xfrm>
          <a:prstGeom prst="ellipse">
            <a:avLst/>
          </a:prstGeom>
          <a:noFill/>
          <a:ln w="19050">
            <a:solidFill>
              <a:srgbClr val="4B4B4B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4CC1D9C-10A4-485F-9F4A-496C98CD1B49}"/>
              </a:ext>
            </a:extLst>
          </p:cNvPr>
          <p:cNvSpPr>
            <a:spLocks noGrp="1"/>
          </p:cNvSpPr>
          <p:nvPr/>
        </p:nvSpPr>
        <p:spPr>
          <a:xfrm>
            <a:off x="10229850" y="1600200"/>
            <a:ext cx="762000" cy="7620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4E63A64-AA39-427E-8BEF-CAE4CF94631B}"/>
              </a:ext>
            </a:extLst>
          </p:cNvPr>
          <p:cNvSpPr>
            <a:spLocks noGrp="1"/>
          </p:cNvSpPr>
          <p:nvPr/>
        </p:nvSpPr>
        <p:spPr>
          <a:xfrm>
            <a:off x="10553700" y="1057275"/>
            <a:ext cx="114300" cy="184785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F60DA69-ABAF-45C4-B82B-278A8483BC8F}"/>
              </a:ext>
            </a:extLst>
          </p:cNvPr>
          <p:cNvSpPr>
            <a:spLocks noGrp="1"/>
          </p:cNvSpPr>
          <p:nvPr/>
        </p:nvSpPr>
        <p:spPr>
          <a:xfrm>
            <a:off x="9658350" y="1924050"/>
            <a:ext cx="1924050" cy="1143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">
            <a:extLst>
              <a:ext uri="{FF2B5EF4-FFF2-40B4-BE49-F238E27FC236}">
                <a16:creationId xmlns:a16="http://schemas.microsoft.com/office/drawing/2014/main" id="{F3FCDF75-2150-48E4-B56F-54EE85CB8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62117E7-3FEE-4F02-9D1B-FE1381C7397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B93369F-C690-4E39-99F1-43A84D86102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本週共同成果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723C0CB-9629-42A9-BAD8-A6072603103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每人三次真實訪談，Week 5 再依證據選小組 MVP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CDD7C55-A052-46C0-87AF-EC4BB7EE358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49BDE64-B47E-4B0D-A413-005295AA6EA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8BF7E24-C488-4726-A5FF-321EE84BADC9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02 / 27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95D2251-FE5C-4EEC-A522-725F6A0A6105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1432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3 次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8D357CF-B3B1-4D53-8508-4A38FEEE02DE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真實訪談，每次至少一句原話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05E5CF5-D6FE-490E-B9A5-6F8A95CD06B6}"/>
              </a:ext>
            </a:extLst>
          </p:cNvPr>
          <p:cNvSpPr>
            <a:spLocks noGrp="1"/>
          </p:cNvSpPr>
          <p:nvPr/>
        </p:nvSpPr>
        <p:spPr>
          <a:xfrm>
            <a:off x="4333875" y="2476500"/>
            <a:ext cx="57150" cy="276225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F9524EDB-3A59-47EA-BB11-2F0D55356ABC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取回 Week 2 痛點卡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D7FCDB6-2A20-44EC-BA71-2375E21CE9DB}"/>
              </a:ext>
            </a:extLst>
          </p:cNvPr>
          <p:cNvSpPr>
            <a:spLocks noGrp="1"/>
          </p:cNvSpPr>
          <p:nvPr/>
        </p:nvSpPr>
        <p:spPr>
          <a:xfrm>
            <a:off x="4762500" y="2914650"/>
            <a:ext cx="6191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看自己的三階燈與老師指路；還沒交的先補交，內容都保留。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4DED09D-724E-4EDF-A764-092D4FEF1F7C}"/>
              </a:ext>
            </a:extLst>
          </p:cNvPr>
          <p:cNvSpPr>
            <a:spLocks noGrp="1"/>
          </p:cNvSpPr>
          <p:nvPr/>
        </p:nvSpPr>
        <p:spPr>
          <a:xfrm>
            <a:off x="4762500" y="3762375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帶著準備單去問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4820CB8D-FACD-4040-B274-01B197A61A6B}"/>
              </a:ext>
            </a:extLst>
          </p:cNvPr>
          <p:cNvSpPr>
            <a:spLocks noGrp="1"/>
          </p:cNvSpPr>
          <p:nvPr/>
        </p:nvSpPr>
        <p:spPr>
          <a:xfrm>
            <a:off x="4762500" y="4200525"/>
            <a:ext cx="619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痛點陳述、三位受訪者、兩題問題，印出來或存在手機裡。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455EB71-7177-43A7-83A1-197F8F1C670B}"/>
              </a:ext>
            </a:extLst>
          </p:cNvPr>
          <p:cNvSpPr>
            <a:spLocks noGrp="1"/>
          </p:cNvSpPr>
          <p:nvPr/>
        </p:nvSpPr>
        <p:spPr>
          <a:xfrm>
            <a:off x="4762500" y="49530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把原話寫進訪談紀錄卡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BCD5218-7EF4-4D85-AB21-A2BF59B8C003}"/>
              </a:ext>
            </a:extLst>
          </p:cNvPr>
          <p:cNvSpPr>
            <a:spLocks noGrp="1"/>
          </p:cNvSpPr>
          <p:nvPr/>
        </p:nvSpPr>
        <p:spPr>
          <a:xfrm>
            <a:off x="4762500" y="5391150"/>
            <a:ext cx="6191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受訪者用代稱；寫下對方的原話、意外發現，以及痛點成立與否。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">
            <a:extLst>
              <a:ext uri="{FF2B5EF4-FFF2-40B4-BE49-F238E27FC236}">
                <a16:creationId xmlns:a16="http://schemas.microsoft.com/office/drawing/2014/main" id="{5531F714-86A9-41DF-AD33-70581D9C9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6B808D6-018D-47D8-9ED1-E258414C863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BFC5E8F-C9C1-4177-B8F6-345D5EAE0A5D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120 分鐘課堂流程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2E84BB7-4F61-40AE-A611-46F8EFD8B6C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先看影片怎麼問，再現場練一次，最後帶著準備單出門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57C7377-C278-49DF-BE76-49263FE104B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11D6D99-8225-4FBC-9CA5-6628D9A8E51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5ED00B1-C76C-4031-9373-985BE7591EA6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03 / 27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7B5694A-186D-4385-8D67-2E07E7CE303F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0–25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A1E3B43-C9CB-4B29-80A2-6C96B832E5B3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381250" cy="66675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79F13F-07E9-48B5-BE87-307165CEAF2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回顧與影片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0ACA1704-15B0-460F-9117-A5F2DBF2B37C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0–10 取回痛點卡與老師指路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10–25 影片重點導讀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74765FF-AABC-4783-A111-0B879A99DC27}"/>
              </a:ext>
            </a:extLst>
          </p:cNvPr>
          <p:cNvSpPr>
            <a:spLocks noGrp="1"/>
          </p:cNvSpPr>
          <p:nvPr/>
        </p:nvSpPr>
        <p:spPr>
          <a:xfrm>
            <a:off x="33528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25–55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CD84D9D-1D7F-49AA-A3C8-C262DFA0BF81}"/>
              </a:ext>
            </a:extLst>
          </p:cNvPr>
          <p:cNvSpPr>
            <a:spLocks noGrp="1"/>
          </p:cNvSpPr>
          <p:nvPr/>
        </p:nvSpPr>
        <p:spPr>
          <a:xfrm>
            <a:off x="3352800" y="3028950"/>
            <a:ext cx="2381250" cy="66675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27B89E0-6965-4B71-9EAD-C9AC5A3753A0}"/>
              </a:ext>
            </a:extLst>
          </p:cNvPr>
          <p:cNvSpPr>
            <a:spLocks noGrp="1"/>
          </p:cNvSpPr>
          <p:nvPr/>
        </p:nvSpPr>
        <p:spPr>
          <a:xfrm>
            <a:off x="33528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示範與準備單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88ADD9B-7BEF-4514-8B56-96583D3706AF}"/>
              </a:ext>
            </a:extLst>
          </p:cNvPr>
          <p:cNvSpPr>
            <a:spLocks noGrp="1"/>
          </p:cNvSpPr>
          <p:nvPr/>
        </p:nvSpPr>
        <p:spPr>
          <a:xfrm>
            <a:off x="33528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25–45 好問題／壞問題、原話／解讀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45–55 完成訪談準備單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3E6CEEB3-3205-4A53-B9AC-D7B5700A7E9F}"/>
              </a:ext>
            </a:extLst>
          </p:cNvPr>
          <p:cNvSpPr>
            <a:spLocks noGrp="1"/>
          </p:cNvSpPr>
          <p:nvPr/>
        </p:nvSpPr>
        <p:spPr>
          <a:xfrm>
            <a:off x="60960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rPr>
              <a:t>55–100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DC319AD-69AD-479E-B19E-FBD96DD46C11}"/>
              </a:ext>
            </a:extLst>
          </p:cNvPr>
          <p:cNvSpPr>
            <a:spLocks noGrp="1"/>
          </p:cNvSpPr>
          <p:nvPr/>
        </p:nvSpPr>
        <p:spPr>
          <a:xfrm>
            <a:off x="6096000" y="3028950"/>
            <a:ext cx="2381250" cy="66675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54D6ADA-B64A-4DA4-8783-D3D9E9761224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模擬訪談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0BADEF1-F633-46E5-8E61-6A281FD20719}"/>
              </a:ext>
            </a:extLst>
          </p:cNvPr>
          <p:cNvSpPr>
            <a:spLocks noGrp="1"/>
          </p:cNvSpPr>
          <p:nvPr/>
        </p:nvSpPr>
        <p:spPr>
          <a:xfrm>
            <a:off x="60960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55–65 休息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65–90 兩兩互訪、寫第一筆原話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90–100 回收：原話還是解讀？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3E1DDD8-EC9C-418F-BCD1-ADF0F0A2639A}"/>
              </a:ext>
            </a:extLst>
          </p:cNvPr>
          <p:cNvSpPr>
            <a:spLocks noGrp="1"/>
          </p:cNvSpPr>
          <p:nvPr/>
        </p:nvSpPr>
        <p:spPr>
          <a:xfrm>
            <a:off x="88392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100–120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09E56B5-E7B9-4A5E-A980-C3280EEB9076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2381250" cy="66675"/>
          </a:xfrm>
          <a:prstGeom prst="rect">
            <a:avLst/>
          </a:prstGeom>
          <a:solidFill>
            <a:srgbClr val="121212"/>
          </a:solidFill>
          <a:ln w="9525">
            <a:solidFill>
              <a:srgbClr val="121212"/>
            </a:solidFill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8C8F516-616B-4DBB-8CDA-B91EFD22AB35}"/>
              </a:ext>
            </a:extLst>
          </p:cNvPr>
          <p:cNvSpPr>
            <a:spLocks noGrp="1"/>
          </p:cNvSpPr>
          <p:nvPr/>
        </p:nvSpPr>
        <p:spPr>
          <a:xfrm>
            <a:off x="88392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分流與課後任務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0207311-E971-4993-97A4-9C6CE29C1EB7}"/>
              </a:ext>
            </a:extLst>
          </p:cNvPr>
          <p:cNvSpPr>
            <a:spLocks noGrp="1"/>
          </p:cNvSpPr>
          <p:nvPr/>
        </p:nvSpPr>
        <p:spPr>
          <a:xfrm>
            <a:off x="88392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100–110 重複題目分流：誰 × 步驟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110–120 一週內完成三次真實訪談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1E96A9-5429-4684-BD65-9D59AE5A04B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本週成果是原話與事實；痛點能不能成立，要看訪談回來的證據，不是看你多想做。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三種訪談對象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依你的痛點選，三位可以不同類型，但都要真的遇過那件事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04 / 27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當事人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最近一個月親身遇過你描述的情境，能說出上一次發生什麼。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旁觀者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在現場看過別人卡住的人：店員、同學、家人，提供另一個角度。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已經放棄的人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遇過但現在不做了、改用別的方法的人；他們最能告訴你代價在哪。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三位都是當事人也可以。不可以的是：三位都是你的室友，而且他們沒遇過。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原話與解讀，分開寫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以下為教學情境，請用自己的訪談取代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05 / 27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原話（受訪者說的）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「上禮拜三我排到第二節快上課，直接不吃了。」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「我後來都去便利商店，比較貴但快。」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「其實一週大概兩次吧，不是每天。」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noGrp="1"/>
          </p:cNvSpPr>
          <p:nvPr/>
        </p:nvSpPr>
        <p:spPr>
          <a:xfrm>
            <a:off x="5953125" y="2428875"/>
            <a:ext cx="38100" cy="29527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解讀（你想的）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排隊是主要困擾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大家都願意多花錢換時間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這個問題很常見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原話可以當證據；解讀只是假設，要再問下一位來驗證。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F77635BE-3EC3-46CF-8521-D60667B00C1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EAC87ED-DFF8-45BD-AB94-149DA64F18A8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一句原話，勝過十句推測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138B84B-9BC9-4C52-A25B-2F1FF446588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記下對方的用詞、時間與地點，不要先翻譯成你的語言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A123D2D0-F2B6-4AEA-9D63-2E807A9450C9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BEC693C-BC4D-46F8-BE93-FD68E474CDD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9A81695-5675-4D2C-A0AD-57CB062FAA94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06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12E9758-1074-4800-BC68-A8EA7546338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6924675" cy="2724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FC3A0D5-2350-4792-9DCE-EFB72089E204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76200" cy="27241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8851EDB-7E14-4C4F-B67B-5D5501CA48D1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6229350" cy="1314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「我後來都去便利商店，</a:t>
            </a:r>
          </a:p>
          <a:p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比較貴但快。」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F315FBF1-E297-4C20-A32E-F2F959A013CF}"/>
              </a:ext>
            </a:extLst>
          </p:cNvPr>
          <p:cNvSpPr>
            <a:spLocks noGrp="1"/>
          </p:cNvSpPr>
          <p:nvPr/>
        </p:nvSpPr>
        <p:spPr>
          <a:xfrm>
            <a:off x="952500" y="4362450"/>
            <a:ext cx="61531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受訪者 B（代稱）  /  週四中午  /  校門口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ECDC5E7-8CDE-4F33-92F6-656640CF83CB}"/>
              </a:ext>
            </a:extLst>
          </p:cNvPr>
          <p:cNvSpPr>
            <a:spLocks noGrp="1"/>
          </p:cNvSpPr>
          <p:nvPr/>
        </p:nvSpPr>
        <p:spPr>
          <a:xfrm>
            <a:off x="8105775" y="2771775"/>
            <a:ext cx="3305175" cy="3810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92DE6FE-4084-4883-825E-FECA9C493982}"/>
              </a:ext>
            </a:extLst>
          </p:cNvPr>
          <p:cNvSpPr>
            <a:spLocks noGrp="1"/>
          </p:cNvSpPr>
          <p:nvPr/>
        </p:nvSpPr>
        <p:spPr>
          <a:xfrm>
            <a:off x="8763000" y="2800350"/>
            <a:ext cx="24288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便利商店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8AAD12A-7A09-46C5-996C-CEFF3D7EB20E}"/>
              </a:ext>
            </a:extLst>
          </p:cNvPr>
          <p:cNvSpPr>
            <a:spLocks noGrp="1"/>
          </p:cNvSpPr>
          <p:nvPr/>
        </p:nvSpPr>
        <p:spPr>
          <a:xfrm>
            <a:off x="8305800" y="3562350"/>
            <a:ext cx="247650" cy="24765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4770AC28-8FB7-4957-A9C4-85B78606117F}"/>
              </a:ext>
            </a:extLst>
          </p:cNvPr>
          <p:cNvSpPr>
            <a:spLocks noGrp="1"/>
          </p:cNvSpPr>
          <p:nvPr/>
        </p:nvSpPr>
        <p:spPr>
          <a:xfrm>
            <a:off x="8191500" y="3886200"/>
            <a:ext cx="476250" cy="609600"/>
          </a:xfrm>
          <a:prstGeom prst="roundRect">
            <a:avLst>
              <a:gd name="adj" fmla="val 16000"/>
            </a:avLst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6CCC67B-F573-4E95-AD9C-24E912E9E0E2}"/>
              </a:ext>
            </a:extLst>
          </p:cNvPr>
          <p:cNvSpPr>
            <a:spLocks noGrp="1"/>
          </p:cNvSpPr>
          <p:nvPr/>
        </p:nvSpPr>
        <p:spPr>
          <a:xfrm>
            <a:off x="8239125" y="4419600"/>
            <a:ext cx="133350" cy="40005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A1BA32B-F350-4B1F-AF92-2DAB16270BE2}"/>
              </a:ext>
            </a:extLst>
          </p:cNvPr>
          <p:cNvSpPr>
            <a:spLocks noGrp="1"/>
          </p:cNvSpPr>
          <p:nvPr/>
        </p:nvSpPr>
        <p:spPr>
          <a:xfrm>
            <a:off x="8486775" y="4419600"/>
            <a:ext cx="133350" cy="40005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9B7B3D5E-3E31-46DE-8AA8-7D8C218371D7}"/>
              </a:ext>
            </a:extLst>
          </p:cNvPr>
          <p:cNvSpPr>
            <a:spLocks noGrp="1"/>
          </p:cNvSpPr>
          <p:nvPr/>
        </p:nvSpPr>
        <p:spPr>
          <a:xfrm>
            <a:off x="8991600" y="3562350"/>
            <a:ext cx="247650" cy="24765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7A4CD36-EC97-485D-92FD-6C370881848C}"/>
              </a:ext>
            </a:extLst>
          </p:cNvPr>
          <p:cNvSpPr>
            <a:spLocks noGrp="1"/>
          </p:cNvSpPr>
          <p:nvPr/>
        </p:nvSpPr>
        <p:spPr>
          <a:xfrm>
            <a:off x="8877300" y="3886200"/>
            <a:ext cx="476250" cy="609600"/>
          </a:xfrm>
          <a:prstGeom prst="roundRect">
            <a:avLst>
              <a:gd name="adj" fmla="val 16000"/>
            </a:avLst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A227CC69-72DE-4E07-878B-3ECE8A596053}"/>
              </a:ext>
            </a:extLst>
          </p:cNvPr>
          <p:cNvSpPr>
            <a:spLocks noGrp="1"/>
          </p:cNvSpPr>
          <p:nvPr/>
        </p:nvSpPr>
        <p:spPr>
          <a:xfrm>
            <a:off x="8924925" y="4419600"/>
            <a:ext cx="133350" cy="40005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BD89A704-B3C7-4122-8AA3-C065310F3D59}"/>
              </a:ext>
            </a:extLst>
          </p:cNvPr>
          <p:cNvSpPr>
            <a:spLocks noGrp="1"/>
          </p:cNvSpPr>
          <p:nvPr/>
        </p:nvSpPr>
        <p:spPr>
          <a:xfrm>
            <a:off x="9172575" y="4419600"/>
            <a:ext cx="133350" cy="40005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15ECD60C-D707-4FC2-BE2F-55B296BD0CCD}"/>
              </a:ext>
            </a:extLst>
          </p:cNvPr>
          <p:cNvSpPr>
            <a:spLocks noGrp="1"/>
          </p:cNvSpPr>
          <p:nvPr/>
        </p:nvSpPr>
        <p:spPr>
          <a:xfrm>
            <a:off x="9677400" y="3562350"/>
            <a:ext cx="247650" cy="24765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2F2458D7-8388-4F60-B024-A8249B1BECF6}"/>
              </a:ext>
            </a:extLst>
          </p:cNvPr>
          <p:cNvSpPr>
            <a:spLocks noGrp="1"/>
          </p:cNvSpPr>
          <p:nvPr/>
        </p:nvSpPr>
        <p:spPr>
          <a:xfrm>
            <a:off x="9563100" y="3886200"/>
            <a:ext cx="476250" cy="609600"/>
          </a:xfrm>
          <a:prstGeom prst="roundRect">
            <a:avLst>
              <a:gd name="adj" fmla="val 16000"/>
            </a:avLst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0E7161A-F112-4D15-A01F-1AA4C300DA56}"/>
              </a:ext>
            </a:extLst>
          </p:cNvPr>
          <p:cNvSpPr>
            <a:spLocks noGrp="1"/>
          </p:cNvSpPr>
          <p:nvPr/>
        </p:nvSpPr>
        <p:spPr>
          <a:xfrm>
            <a:off x="9610725" y="4419600"/>
            <a:ext cx="133350" cy="4000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4D060602-FDDD-401C-9ACA-59F2625BE2F3}"/>
              </a:ext>
            </a:extLst>
          </p:cNvPr>
          <p:cNvSpPr>
            <a:spLocks noGrp="1"/>
          </p:cNvSpPr>
          <p:nvPr/>
        </p:nvSpPr>
        <p:spPr>
          <a:xfrm>
            <a:off x="9858375" y="4419600"/>
            <a:ext cx="133350" cy="4000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F2D23766-27D3-4D4D-BFE5-010DE82E5098}"/>
              </a:ext>
            </a:extLst>
          </p:cNvPr>
          <p:cNvSpPr>
            <a:spLocks noGrp="1"/>
          </p:cNvSpPr>
          <p:nvPr/>
        </p:nvSpPr>
        <p:spPr>
          <a:xfrm>
            <a:off x="10477500" y="3486150"/>
            <a:ext cx="742950" cy="742950"/>
          </a:xfrm>
          <a:prstGeom prst="ellipse">
            <a:avLst/>
          </a:prstGeom>
          <a:noFill/>
          <a:ln w="19050">
            <a:solidFill>
              <a:srgbClr val="121212"/>
            </a:solidFill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9999209A-0562-4EAE-B62C-A545A6EA2460}"/>
              </a:ext>
            </a:extLst>
          </p:cNvPr>
          <p:cNvSpPr>
            <a:spLocks noGrp="1"/>
          </p:cNvSpPr>
          <p:nvPr/>
        </p:nvSpPr>
        <p:spPr>
          <a:xfrm>
            <a:off x="10829925" y="3638550"/>
            <a:ext cx="38100" cy="2667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2F6FC0D9-77BD-448C-B77B-E04A3351E19D}"/>
              </a:ext>
            </a:extLst>
          </p:cNvPr>
          <p:cNvSpPr>
            <a:spLocks noGrp="1"/>
          </p:cNvSpPr>
          <p:nvPr/>
        </p:nvSpPr>
        <p:spPr>
          <a:xfrm>
            <a:off x="10829925" y="3876675"/>
            <a:ext cx="209550" cy="381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0D1B356F-5F7B-4013-B995-09FAE01A0616}"/>
              </a:ext>
            </a:extLst>
          </p:cNvPr>
          <p:cNvSpPr>
            <a:spLocks noGrp="1"/>
          </p:cNvSpPr>
          <p:nvPr/>
        </p:nvSpPr>
        <p:spPr>
          <a:xfrm>
            <a:off x="7981950" y="5029200"/>
            <a:ext cx="3495675" cy="19050"/>
          </a:xfrm>
          <a:prstGeom prst="rect">
            <a:avLst/>
          </a:prstGeom>
          <a:solidFill>
            <a:srgbClr val="626262"/>
          </a:solidFill>
          <a:ln w="0">
            <a:noFill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35E11BE-F545-4D47-A7F8-F63D275278A4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待追問：「比較貴」是多少？「快」省了幾分鐘？多久一次？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91647F41-F816-4276-ABEC-7015C8FDB299}"/>
              </a:ext>
            </a:extLst>
          </p:cNvPr>
          <p:cNvSpPr>
            <a:spLocks noGrp="1"/>
          </p:cNvSpPr>
          <p:nvPr/>
        </p:nvSpPr>
        <p:spPr>
          <a:xfrm>
            <a:off x="9906000" y="5381625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假設教學情境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6" name="">
            <a:extLst>
              <a:ext uri="{FF2B5EF4-FFF2-40B4-BE49-F238E27FC236}">
                <a16:creationId xmlns:a16="http://schemas.microsoft.com/office/drawing/2014/main" id="{5CE9112B-AF49-4586-9131-83605F2001E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BB81EBE-4B96-455F-82DC-5C98324B78C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影片的七個訪談提醒（前五個）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8E2160-BDA4-4FAA-BDED-9C0B2FFF3D5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How To Talk To Users · Gustaf Alströmer · 第 6、7 個在第 14–15 頁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7B2D190-0077-4042-95AB-07791A1C780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A9E1B35-3DCA-4E0A-B4A3-1122D584974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4C003F-1A5D-4AA1-926C-22C4C0DBD2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07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82207E2-193A-4E03-AB6E-2237DBF9FACF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594566E-A6F3-4925-84AC-96F8CFEAE9B5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0045BDF-C77C-4A9F-9FA8-803082AA31D8}"/>
              </a:ext>
            </a:extLst>
          </p:cNvPr>
          <p:cNvSpPr>
            <a:spLocks noGrp="1"/>
          </p:cNvSpPr>
          <p:nvPr/>
        </p:nvSpPr>
        <p:spPr>
          <a:xfrm>
            <a:off x="1314450" y="23241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整個創業過程都要持續跟使用者談，不是只有一開始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8DCA1C7-4208-48A0-9D4E-29C4759ACBD1}"/>
              </a:ext>
            </a:extLst>
          </p:cNvPr>
          <p:cNvSpPr>
            <a:spLocks noGrp="1"/>
          </p:cNvSpPr>
          <p:nvPr/>
        </p:nvSpPr>
        <p:spPr>
          <a:xfrm>
            <a:off x="1314450" y="2924175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4991A01-EB57-49D8-9BBE-3FCEA17DEC54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12027EF0-505D-4AD9-971A-E8FDA3173F00}"/>
              </a:ext>
            </a:extLst>
          </p:cNvPr>
          <p:cNvSpPr>
            <a:spLocks noGrp="1"/>
          </p:cNvSpPr>
          <p:nvPr/>
        </p:nvSpPr>
        <p:spPr>
          <a:xfrm>
            <a:off x="704850" y="3076575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CBDC3D4-0D4C-464F-A013-A471C5F5DB4E}"/>
              </a:ext>
            </a:extLst>
          </p:cNvPr>
          <p:cNvSpPr>
            <a:spLocks noGrp="1"/>
          </p:cNvSpPr>
          <p:nvPr/>
        </p:nvSpPr>
        <p:spPr>
          <a:xfrm>
            <a:off x="1314450" y="305752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早期靠的是人與人的關係，走出自己的圈子去找人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7A7C0E7E-6F84-4C90-A68C-645818E93D9A}"/>
              </a:ext>
            </a:extLst>
          </p:cNvPr>
          <p:cNvSpPr>
            <a:spLocks noGrp="1"/>
          </p:cNvSpPr>
          <p:nvPr/>
        </p:nvSpPr>
        <p:spPr>
          <a:xfrm>
            <a:off x="1314450" y="3657600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F606FA28-F89E-4384-9A74-EE4157BC4042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7182C62-A964-48F0-BBB7-4654FB345667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1D2C8157-5EED-4972-84FA-3405219937E2}"/>
              </a:ext>
            </a:extLst>
          </p:cNvPr>
          <p:cNvSpPr>
            <a:spLocks noGrp="1"/>
          </p:cNvSpPr>
          <p:nvPr/>
        </p:nvSpPr>
        <p:spPr>
          <a:xfrm>
            <a:off x="1314450" y="379095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好的訪談：先建立關係、不推銷、你聽八成、對方講八成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EB3D928-9103-48FE-BEB9-AAB525A3D489}"/>
              </a:ext>
            </a:extLst>
          </p:cNvPr>
          <p:cNvSpPr>
            <a:spLocks noGrp="1"/>
          </p:cNvSpPr>
          <p:nvPr/>
        </p:nvSpPr>
        <p:spPr>
          <a:xfrm>
            <a:off x="1314450" y="4391025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4F0CAE7-2608-421F-AC71-1C3BD9D7FAC5}"/>
              </a:ext>
            </a:extLst>
          </p:cNvPr>
          <p:cNvSpPr>
            <a:spLocks noGrp="1"/>
          </p:cNvSpPr>
          <p:nvPr/>
        </p:nvSpPr>
        <p:spPr>
          <a:xfrm>
            <a:off x="609600" y="4505325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E18ACF16-432E-46DF-87CC-66362180CB2E}"/>
              </a:ext>
            </a:extLst>
          </p:cNvPr>
          <p:cNvSpPr>
            <a:spLocks noGrp="1"/>
          </p:cNvSpPr>
          <p:nvPr/>
        </p:nvSpPr>
        <p:spPr>
          <a:xfrm>
            <a:off x="704850" y="4543425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B137A801-4ABA-4B34-BD43-FC43FB34239B}"/>
              </a:ext>
            </a:extLst>
          </p:cNvPr>
          <p:cNvSpPr>
            <a:spLocks noGrp="1"/>
          </p:cNvSpPr>
          <p:nvPr/>
        </p:nvSpPr>
        <p:spPr>
          <a:xfrm>
            <a:off x="1314450" y="45243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問過去的具體經驗，不問假設、不問功能、不問是非題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60CCA0F-4155-48B3-A5CC-FFF42E1F5ED8}"/>
              </a:ext>
            </a:extLst>
          </p:cNvPr>
          <p:cNvSpPr>
            <a:spLocks noGrp="1"/>
          </p:cNvSpPr>
          <p:nvPr/>
        </p:nvSpPr>
        <p:spPr>
          <a:xfrm>
            <a:off x="1314450" y="5124450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E6D5A3E-E75B-40B7-AAB1-3CE42A6B2414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8ADF3A3C-87F9-4C2A-9441-2C7823A33019}"/>
              </a:ext>
            </a:extLst>
          </p:cNvPr>
          <p:cNvSpPr>
            <a:spLocks noGrp="1"/>
          </p:cNvSpPr>
          <p:nvPr/>
        </p:nvSpPr>
        <p:spPr>
          <a:xfrm>
            <a:off x="704850" y="52768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EE853A51-FB7E-4696-B708-F309D4B83B99}"/>
              </a:ext>
            </a:extLst>
          </p:cNvPr>
          <p:cNvSpPr>
            <a:spLocks noGrp="1"/>
          </p:cNvSpPr>
          <p:nvPr/>
        </p:nvSpPr>
        <p:spPr>
          <a:xfrm>
            <a:off x="1314450" y="52578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訪談後整理筆記、把問題分類、形成假設，再快速做 MVP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1FE51CBA-82C8-49B5-A679-27E21DDAE24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FDC9374-2343-4BE3-AE6F-481B7C3116E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 YC 影片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0D6ED46-4B5C-4DE7-94D9-EF51017D381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How To Talk To Users · Gustaf Alströmer（約 17 分鐘）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BF0743C-E6CE-49C9-BD81-75FB94AC203F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2741E72-43CF-4ECE-A142-A56C8C16A79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A909966-2A99-4B30-A195-E662ECAA9CF2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08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8D6F5E4-C3D8-4E4D-8F60-4C7501DE174A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3505200" cy="26765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F8E7AC2-3FA7-4FF0-91BB-4CE9E08D13CC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3505200" cy="762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DA7D7B0-EB44-4452-8EC9-27585F6E47B1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D9F5000-F6DE-4B6B-AB29-8976DBD31B28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3143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我要問誰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8A69BBE-5B34-47BC-AC81-43C21498524C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314325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三位真的遇過</a:t>
            </a:r>
          </a:p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這件事的人是誰？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01711E8-48F8-4470-B2F2-9B9309AA6BE1}"/>
              </a:ext>
            </a:extLst>
          </p:cNvPr>
          <p:cNvSpPr>
            <a:spLocks noGrp="1"/>
          </p:cNvSpPr>
          <p:nvPr/>
        </p:nvSpPr>
        <p:spPr>
          <a:xfrm>
            <a:off x="4343400" y="2438400"/>
            <a:ext cx="3505200" cy="26765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D202E1C9-ED85-4072-8D04-16B70667772A}"/>
              </a:ext>
            </a:extLst>
          </p:cNvPr>
          <p:cNvSpPr>
            <a:spLocks noGrp="1"/>
          </p:cNvSpPr>
          <p:nvPr/>
        </p:nvSpPr>
        <p:spPr>
          <a:xfrm>
            <a:off x="4343400" y="2438400"/>
            <a:ext cx="3505200" cy="76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98DDF27D-3C58-4069-AC3A-1DFF4E82671E}"/>
              </a:ext>
            </a:extLst>
          </p:cNvPr>
          <p:cNvSpPr>
            <a:spLocks noGrp="1"/>
          </p:cNvSpPr>
          <p:nvPr/>
        </p:nvSpPr>
        <p:spPr>
          <a:xfrm>
            <a:off x="4572000" y="2676525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CB3AED7C-4A37-439A-AD2D-EC14CC7FB342}"/>
              </a:ext>
            </a:extLst>
          </p:cNvPr>
          <p:cNvSpPr>
            <a:spLocks noGrp="1"/>
          </p:cNvSpPr>
          <p:nvPr/>
        </p:nvSpPr>
        <p:spPr>
          <a:xfrm>
            <a:off x="4572000" y="3333750"/>
            <a:ext cx="3143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我怎麼問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7B30F38-691F-4AD4-AB4F-B49E192938DB}"/>
              </a:ext>
            </a:extLst>
          </p:cNvPr>
          <p:cNvSpPr>
            <a:spLocks noGrp="1"/>
          </p:cNvSpPr>
          <p:nvPr/>
        </p:nvSpPr>
        <p:spPr>
          <a:xfrm>
            <a:off x="4572000" y="4057650"/>
            <a:ext cx="314325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問上一次發生什麼，</a:t>
            </a:r>
          </a:p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不問「你會不會用」。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C638B680-9E4E-4BFF-81B0-EC04CA5C0FE8}"/>
              </a:ext>
            </a:extLst>
          </p:cNvPr>
          <p:cNvSpPr>
            <a:spLocks noGrp="1"/>
          </p:cNvSpPr>
          <p:nvPr/>
        </p:nvSpPr>
        <p:spPr>
          <a:xfrm>
            <a:off x="8077200" y="2438400"/>
            <a:ext cx="3505200" cy="26765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564C8991-0650-474B-940A-AE6FFAE52AE6}"/>
              </a:ext>
            </a:extLst>
          </p:cNvPr>
          <p:cNvSpPr>
            <a:spLocks noGrp="1"/>
          </p:cNvSpPr>
          <p:nvPr/>
        </p:nvSpPr>
        <p:spPr>
          <a:xfrm>
            <a:off x="8077200" y="2438400"/>
            <a:ext cx="3505200" cy="762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FC8F71F3-B5CE-448C-A307-D2AC2F350248}"/>
              </a:ext>
            </a:extLst>
          </p:cNvPr>
          <p:cNvSpPr>
            <a:spLocks noGrp="1"/>
          </p:cNvSpPr>
          <p:nvPr/>
        </p:nvSpPr>
        <p:spPr>
          <a:xfrm>
            <a:off x="8305800" y="2676525"/>
            <a:ext cx="952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26B6F892-140A-4F15-A4D1-276CA717B15B}"/>
              </a:ext>
            </a:extLst>
          </p:cNvPr>
          <p:cNvSpPr>
            <a:spLocks noGrp="1"/>
          </p:cNvSpPr>
          <p:nvPr/>
        </p:nvSpPr>
        <p:spPr>
          <a:xfrm>
            <a:off x="8305800" y="3333750"/>
            <a:ext cx="3143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我帶什麼回來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94E64BC5-91BD-4DD7-9BF4-DE15765BA019}"/>
              </a:ext>
            </a:extLst>
          </p:cNvPr>
          <p:cNvSpPr>
            <a:spLocks noGrp="1"/>
          </p:cNvSpPr>
          <p:nvPr/>
        </p:nvSpPr>
        <p:spPr>
          <a:xfrm>
            <a:off x="8305800" y="4057650"/>
            <a:ext cx="3143250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原話、代價、</a:t>
            </a:r>
          </a:p>
          <a:p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目前的替代做法。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7E80CEC-8842-4BB2-942D-C861E4E0C9E3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YC Startup School 2022 系列；本課採用訪談框架，案例為課堂延伸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84F63D8-2087-40C4-9F97-289B0558993C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影片：youtube.com/watch?v=z1iF1c8w5Lg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1：持續跟使用者談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影片觀點為意譯；校園例子與紀錄方法為本課延伸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09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Airbnb 創辦人住進房東家裡，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親自理解房東為什麼願意出租。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訪談不是一次性的功課。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每次新證據都會改變你對痛點的理解。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本課例子：第一位說排隊，第二位說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其實是教室太遠；題目就要重看。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訪談紀錄卡應用（本課）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每次訪談後填「痛點是否成立」。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三次都填，最後寫「我的理解改變了什麼」。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2：走出自己的圈子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影片觀點為意譯；校園例子與紀錄方法為本課延伸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早期沒有廣告可以靠，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要靠人際關係找到願意談的人。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室友不一定是你的使用者。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找真的遇過那件事的人，哪怕要開口問陌生人。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本課例子：打工交班的痛點，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去問別家店的工讀生，不只問自己店裡的。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訪談紀錄卡應用（本課）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受訪者寫「代稱＋身分」，例如「便利商店夜班工讀生 A」。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不寫姓名、電話、班級。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3：聽八成，講兩成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影片觀點為意譯；校園例子與紀錄方法為本課延伸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先建立關係、不要推銷點子；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好的訪談是對方一直講，你一直追問。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一說「我想做一個 App」，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對方就會開始客氣地幫你圓夢，證據就沒了。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本課例子：只說「我在了解午休吃飯的狀況」，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不說「我想做訂餐 App」。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訪談紀錄卡應用（本課）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「原話」欄只能寫對方說的話。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你的想法寫在「我的解讀」，兩欄分開。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4：問過去，不問未來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影片觀點為意譯；校園例子與紀錄方法為本課延伸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12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問具體的過去經驗；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避免假設題、功能題、是非題。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「你會不會用？」沒有人會說不會。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「上次發生什麼？」才會講出真實的代價。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本課例子：不問「排隊很煩吧？」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改問「上次排最久那次，後來怎麼辦？」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訪談紀錄卡應用（本課）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每次訪談至少追問一句「那後來呢？」。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「意外發現」欄寫你原本沒想到的事。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5：訪談後整理，再做 MVP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影片觀點為意譯；校園例子與紀錄方法為本課延伸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13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把筆記整理、把問題分類、形成假設，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再快速做出可以測的東西。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三次訪談回來先分類：哪些是同一個痛，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哪些其實是不同的人、不同的步驟。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本課例子：三位都說「找不到人分租」，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但卡的步驟是找人、看房、簽約，三件事。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訪談紀錄卡應用（本課）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最後填「痛點成立／調整／換題」與修正後的痛點陳述。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Week 5 才選 MVP。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6：用原型做訪談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影片觀點為意譯；校園例子與紀錄方法為本課延伸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14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有早期設計稿就能測；讓使用者自己操作、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不要引導，請他們邊做邊說出想法。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Week 5 做 MVP 時用。原則一樣：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看對方做什麼，不要教他怎麼做。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本課例子：把準備單給同學看、不解釋，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看他問的第一個問題是什麼。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訪談紀錄卡應用（本課）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本週不用。先記在「我的判斷」：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做出原型後要先給誰試？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重點 7：讓早期使用者留在身邊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影片觀點為意譯；校園例子與紀錄方法為本課延伸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15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YC 影片觀念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用專屬群組跟早期使用者保持聯繫，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先給他們看更新，對回饋快速行動。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中文解釋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訪談過的人就是你的第一批使用者。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問完不要消失。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學生例子（本課）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本課例子：三位受訪者加一個小群組，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Week 5 做出東西先給他們看。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訪談紀錄卡應用（本課）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代稱要寫到下次找得到人的程度，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但聯絡方式不寫進系統，自己記。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每次訪談要帶回的三樣東西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沒有也要寫「沒問到」，下一次補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16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noGrp="1"/>
          </p:cNvSpPr>
          <p:nvPr/>
        </p:nvSpPr>
        <p:spPr>
          <a:xfrm>
            <a:off x="1381125" y="24765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上一次發生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noGrp="1"/>
          </p:cNvSpPr>
          <p:nvPr/>
        </p:nvSpPr>
        <p:spPr>
          <a:xfrm>
            <a:off x="4695825" y="23812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什麼時候？在哪裡？然後呢？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noGrp="1"/>
          </p:cNvSpPr>
          <p:nvPr/>
        </p:nvSpPr>
        <p:spPr>
          <a:xfrm>
            <a:off x="4695825" y="28575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有日期、地點、經過才算事件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noGrp="1"/>
          </p:cNvSpPr>
          <p:nvPr/>
        </p:nvSpPr>
        <p:spPr>
          <a:xfrm>
            <a:off x="1381125" y="339090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noGrp="1"/>
          </p:cNvSpPr>
          <p:nvPr/>
        </p:nvSpPr>
        <p:spPr>
          <a:xfrm>
            <a:off x="704850" y="37719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代價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noGrp="1"/>
          </p:cNvSpPr>
          <p:nvPr/>
        </p:nvSpPr>
        <p:spPr>
          <a:xfrm>
            <a:off x="4695825" y="358140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多花了多少時間、錢，或錯過什麼？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noGrp="1"/>
          </p:cNvSpPr>
          <p:nvPr/>
        </p:nvSpPr>
        <p:spPr>
          <a:xfrm>
            <a:off x="4695825" y="405765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對方自己說的數字最好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noGrp="1"/>
          </p:cNvSpPr>
          <p:nvPr/>
        </p:nvSpPr>
        <p:spPr>
          <a:xfrm>
            <a:off x="1381125" y="459105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noGrp="1"/>
          </p:cNvSpPr>
          <p:nvPr/>
        </p:nvSpPr>
        <p:spPr>
          <a:xfrm>
            <a:off x="704850" y="49720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noGrp="1"/>
          </p:cNvSpPr>
          <p:nvPr/>
        </p:nvSpPr>
        <p:spPr>
          <a:xfrm>
            <a:off x="1381125" y="48768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目前怎麼辦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noGrp="1"/>
          </p:cNvSpPr>
          <p:nvPr/>
        </p:nvSpPr>
        <p:spPr>
          <a:xfrm>
            <a:off x="4695825" y="47815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現在用什麼方法處理？為什麼是這個？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noGrp="1"/>
          </p:cNvSpPr>
          <p:nvPr/>
        </p:nvSpPr>
        <p:spPr>
          <a:xfrm>
            <a:off x="4695825" y="52578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替代做法就是你的競爭者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5BB8D3BC-6F9C-4FF6-9408-22B5502B82D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CDE94B8-638C-45EE-88C9-E792C8FC43C7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先建立關係，再開始問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ACACF9F-5FEB-48CE-B65C-931C79168A1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開場三十秒決定對方願不願意講真話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B18BBCC-0F37-4529-8B9C-0F6B5ADCE38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7DC4C18-141E-42C6-965D-54526F9A5CB3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B279D397-E385-497D-A18F-C21B86E8D38A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17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FE61CC-952C-4C65-A7AE-3F920868120B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87147BF-0043-4F18-8B38-7B983C2F57C9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78612AE4-051D-4B58-90C9-DD2C0CD26416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開場可以這樣說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E7E2415-B7F2-46A0-ABCC-812EFEFB1908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「我在修一門課，正在了解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大家午休吃飯的狀況，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想聽聽你上次的經驗。」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4799F11-198E-4930-97B7-EF417B4A782E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不要這樣開場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5A198EC-FC68-4F5C-B41F-E58C672D19AA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「我想做一個 App，你覺得好不好？」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964E6F1-EA1D-4F56-BAA8-5C25D5B60944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B1313E54-D23D-4157-9535-75F603A09CB7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「你是不是也覺得排隊很煩？」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E31BAE5-9506-44AE-9F47-956A8D560815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說明用途、保證不寫姓名、十分鐘就好。對方放鬆，原話才會出來。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FAD2CC10-49A9-4B2F-A703-CFEEA174490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D6271D0-F42F-410F-8C54-D04BF509A81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追問：「那後來呢？」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CF9C021-668F-4EC2-B07A-968DC09FE65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第一個答案通常是客套，第二、三層才是證據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B432BB0-E85A-4B0B-9ED0-9F8DA0A12774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F79744F-70CA-4C57-B905-36B2B114749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E17F4AE-5BC6-4D0B-9AEF-89BB49383766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18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50C16C1-4F34-4C61-A4CE-D19D4A8D8522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EF92AF1-462B-4BBA-9616-A393CA3B2934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C1A52D7E-E401-4F1A-912A-DD72A311A838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對方第一句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2659FCB-3F76-4A54-B0C6-739F0F74006E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「就排隊啊，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很久。」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C18F928-A58F-4CEC-B00E-8B67AECA04F5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A261E7D-3F50-4CDF-BA4D-9BDCEA023C9F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上次是哪一天？大概等了多久？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9D6E7C0-AA95-4301-9EC4-3A9BBA345C59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BF70FB-348E-42A6-8EB7-2452D5ED2731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後來吃到了嗎？沒吃到怎麼辦？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9399EBA7-F7A6-4CBC-8E46-A7A6B884886E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追問不是質問。用對方的用詞重複一次，再問「然後呢？」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927AF06B-144A-4A96-B49C-2E71E3D53E0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D6FBC339-A0B6-42D3-8A8E-4305C418BFC4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記錄：原話欄只能寫對方說的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72A7BF4-4954-413B-8C5B-7EE13B29FAC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寫下用詞、數字、時間，不要先翻譯成你的結論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2FCCA24-C90C-4AC9-B08C-76D9915DECFE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4B0C966-124B-4D5C-8E84-C7D079648C4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614A360-A1BF-4395-9A63-31FDBD9D79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19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47A2FF7-5422-4527-9283-E7FB9ECD502D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2CF40A1-F748-4CD6-8C45-46E4FB90A8FF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921BF9EB-35F8-4D32-8ACF-902161895E6B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原話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BCCEFE7-8FAF-4F0E-A3B3-5D634686D008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「上禮拜三我排到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快上課，直接不吃了，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下午餓到頭昏。」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6251824-B881-4CAE-80DB-01C0CCF17778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一起分辨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13116C6-1E98-4F6C-AD27-375E1B72F6EF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哪一句是對方說的？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5B4C04-78D1-4EFC-9323-45BC7D6278FB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D794763-1F7F-43DA-81BE-D51ECFE8DB39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哪一句是你自己補的？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A72092A-4D51-4639-9619-2FF162B051F0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「下午餓到頭昏」是原話；「所以排隊是大問題」是你的解讀，寫另一欄。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D1F28F05-7C65-4498-B38D-E705A99AD54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4F577F5-BFBD-4B0C-9DC2-8068A84186A8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意外發現與反例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9F7C534-3C74-43B6-913C-16C1246188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最有價值的往往是你沒打算問的那件事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E5A1133-4200-4B6F-9CEE-5722164331F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4EDF5D04-D424-463C-A3C0-24F671ACC65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9D382062-99BC-4CC4-96B2-29A72019897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20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EDAA4CA-17E2-4DD5-B9C6-C1A6B9B08067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242424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D316438-45F4-42A9-9F1D-A85AC0AE668F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FE28CDEF-17FE-4567-8A90-8165A121B6C0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意外發現的例子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739A299-D7C3-4772-9E83-544E07DA1D98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「其實我不是怕排隊，</a:t>
            </a:r>
          </a:p>
          <a:p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是怕排完發現想吃的賣完了。」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0BAB7223-C1B6-443D-A09E-BC25CA8A4617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B07B3A6D-F741-4453-8E90-956BE00FA916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這跟我原本的痛點一樣嗎？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A9DE581B-F7EA-41C0-933A-86CADDDAB0AD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444444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F5F8E166-5CED-4A9A-A28D-4B61ECEBD9D2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如果三位都這樣說，</a:t>
            </a:r>
          </a:p>
          <a:p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我的題目要怎麼改？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3555943-4972-48DF-9A48-1C155A9226C5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反例不是失敗。它告訴你誰沒有這個問題，題目要往哪裡縮。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8" name="">
            <a:extLst>
              <a:ext uri="{FF2B5EF4-FFF2-40B4-BE49-F238E27FC236}">
                <a16:creationId xmlns:a16="http://schemas.microsoft.com/office/drawing/2014/main" id="{D1FF9B12-42DF-4CE9-BF0D-741F41A8CDF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5381029-2582-4954-BADA-5AC2133D493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可以問 vs 需要修改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6027C06-BE95-40B4-8221-2F0AF12260A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問過去的具體經驗，讓對方用自己的話回答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9C9D1FA-BBBD-4DCF-865A-F25A23A281C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0C117AE-379A-41E5-8F5C-334AB9BEFB5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A6B6E40-3AD0-44CE-BE66-94CF93864EF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21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FE5F87A7-5C09-4184-9C9E-5072096B7FFD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372100" cy="2933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19235E3-A4B4-4386-9211-141AF1C6C79F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372100" cy="6000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97E1725-E6E1-4C0B-90A6-0AE7474D1471}"/>
              </a:ext>
            </a:extLst>
          </p:cNvPr>
          <p:cNvSpPr>
            <a:spLocks noGrp="1"/>
          </p:cNvSpPr>
          <p:nvPr/>
        </p:nvSpPr>
        <p:spPr>
          <a:xfrm>
            <a:off x="847725" y="2447925"/>
            <a:ext cx="48577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可以問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9C3086-7718-47B4-AB17-A75CAE41CE55}"/>
              </a:ext>
            </a:extLst>
          </p:cNvPr>
          <p:cNvSpPr>
            <a:spLocks noGrp="1"/>
          </p:cNvSpPr>
          <p:nvPr/>
        </p:nvSpPr>
        <p:spPr>
          <a:xfrm>
            <a:off x="847725" y="3267075"/>
            <a:ext cx="48863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上次遇到這件事，</a:t>
            </a:r>
          </a:p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是什麼時候？後來怎麼辦？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3E6DD5C0-71D2-499D-BFCE-51756BB46D48}"/>
              </a:ext>
            </a:extLst>
          </p:cNvPr>
          <p:cNvSpPr>
            <a:spLocks noGrp="1"/>
          </p:cNvSpPr>
          <p:nvPr/>
        </p:nvSpPr>
        <p:spPr>
          <a:xfrm>
            <a:off x="847725" y="4657725"/>
            <a:ext cx="48863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第二題：那次多花了多少時間？為什麼選那個方法？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40365797-818B-4385-9DF7-D37377C44469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72100" cy="2933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92F980E-26CA-487C-A734-C04546AC0497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72100" cy="6000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B6C4D193-36DB-428B-98D3-173C23A294AC}"/>
              </a:ext>
            </a:extLst>
          </p:cNvPr>
          <p:cNvSpPr>
            <a:spLocks noGrp="1"/>
          </p:cNvSpPr>
          <p:nvPr/>
        </p:nvSpPr>
        <p:spPr>
          <a:xfrm>
            <a:off x="6448425" y="2447925"/>
            <a:ext cx="48577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需要修改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1A9483F-8891-4CB3-B394-A511CCCC90A6}"/>
              </a:ext>
            </a:extLst>
          </p:cNvPr>
          <p:cNvSpPr>
            <a:spLocks noGrp="1"/>
          </p:cNvSpPr>
          <p:nvPr/>
        </p:nvSpPr>
        <p:spPr>
          <a:xfrm>
            <a:off x="6448425" y="3267075"/>
            <a:ext cx="48863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你會不會想用一個 App 來解決？</a:t>
            </a:r>
          </a:p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你覺得這個問題嚴重嗎？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E6C33FC-D249-4056-B1D5-01C7E06142C6}"/>
              </a:ext>
            </a:extLst>
          </p:cNvPr>
          <p:cNvSpPr>
            <a:spLocks noGrp="1"/>
          </p:cNvSpPr>
          <p:nvPr/>
        </p:nvSpPr>
        <p:spPr>
          <a:xfrm>
            <a:off x="6448425" y="4657725"/>
            <a:ext cx="48863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這些問法要對方預測未來，或替你打分數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E098819-560F-4917-967E-74B954010B31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訪談中不介紹產品、不辯解、不糾正對方。你是來聽的。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98F758EE-CD86-48B7-9528-D7F1ABB399D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D2E08B2D-B5A5-4C29-AC67-4F609BCB09B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三位受訪者怎麼安排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B5F344C-5FEC-4E4B-ADC7-6A1F81F0A05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寫代稱與接觸方式，不填姓名、Email、電話或敏感資料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16DA960-2142-4AA8-995C-CA83244B7EA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491B358-EF55-433A-8C01-0CA7654E64D1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62A8098-6BDA-42DF-A127-0FA3683F919E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22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B7C57CC-9AE6-46B1-9743-23518ADF41B2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428875" cy="5715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81B4A629-9C9A-413E-B4D0-4A970115EFF4}"/>
              </a:ext>
            </a:extLst>
          </p:cNvPr>
          <p:cNvSpPr>
            <a:spLocks noGrp="1"/>
          </p:cNvSpPr>
          <p:nvPr/>
        </p:nvSpPr>
        <p:spPr>
          <a:xfrm>
            <a:off x="819150" y="2438400"/>
            <a:ext cx="2171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A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241B910-5196-43A9-BEA5-4EEAB4686BAF}"/>
              </a:ext>
            </a:extLst>
          </p:cNvPr>
          <p:cNvSpPr>
            <a:spLocks noGrp="1"/>
          </p:cNvSpPr>
          <p:nvPr/>
        </p:nvSpPr>
        <p:spPr>
          <a:xfrm>
            <a:off x="3419475" y="2438400"/>
            <a:ext cx="7953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當事人：下課後在教室外問，十分鐘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71A165C-D9D7-43F9-ACA1-D8242F9A6C98}"/>
              </a:ext>
            </a:extLst>
          </p:cNvPr>
          <p:cNvSpPr>
            <a:spLocks noGrp="1"/>
          </p:cNvSpPr>
          <p:nvPr/>
        </p:nvSpPr>
        <p:spPr>
          <a:xfrm>
            <a:off x="3419475" y="3028950"/>
            <a:ext cx="816292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F68C1EEE-5161-4193-8F3E-7037FA3F9380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2428875" cy="5715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B164F02C-5EE6-4782-B407-6B2ECB4333DC}"/>
              </a:ext>
            </a:extLst>
          </p:cNvPr>
          <p:cNvSpPr>
            <a:spLocks noGrp="1"/>
          </p:cNvSpPr>
          <p:nvPr/>
        </p:nvSpPr>
        <p:spPr>
          <a:xfrm>
            <a:off x="819150" y="3209925"/>
            <a:ext cx="2171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B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2AFD529-F489-4B5D-89AC-1E01DFECFA05}"/>
              </a:ext>
            </a:extLst>
          </p:cNvPr>
          <p:cNvSpPr>
            <a:spLocks noGrp="1"/>
          </p:cNvSpPr>
          <p:nvPr/>
        </p:nvSpPr>
        <p:spPr>
          <a:xfrm>
            <a:off x="3419475" y="3209925"/>
            <a:ext cx="7953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旁觀者：餐廳店員，離峰時段問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5EFCBDC-21FE-44B9-894A-F61DFD23B23F}"/>
              </a:ext>
            </a:extLst>
          </p:cNvPr>
          <p:cNvSpPr>
            <a:spLocks noGrp="1"/>
          </p:cNvSpPr>
          <p:nvPr/>
        </p:nvSpPr>
        <p:spPr>
          <a:xfrm>
            <a:off x="3419475" y="3800475"/>
            <a:ext cx="816292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83CE1DD2-4CD5-4252-ABCC-53AC0262A7B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28875" cy="571500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B8BA06E9-B0C2-4FDE-90A6-C2391F0F7B12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2171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 C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57ECEE49-84FB-4548-8DE8-7C47D42C59C7}"/>
              </a:ext>
            </a:extLst>
          </p:cNvPr>
          <p:cNvSpPr>
            <a:spLocks noGrp="1"/>
          </p:cNvSpPr>
          <p:nvPr/>
        </p:nvSpPr>
        <p:spPr>
          <a:xfrm>
            <a:off x="3419475" y="3981450"/>
            <a:ext cx="7953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已放棄的人：改帶便當的同學，午休問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CB118B70-D194-4C9C-8FE3-6F5886EC3491}"/>
              </a:ext>
            </a:extLst>
          </p:cNvPr>
          <p:cNvSpPr>
            <a:spLocks noGrp="1"/>
          </p:cNvSpPr>
          <p:nvPr/>
        </p:nvSpPr>
        <p:spPr>
          <a:xfrm>
            <a:off x="3419475" y="4572000"/>
            <a:ext cx="816292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890C033-9B59-4F45-B65B-E28E24252CF2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2428875" cy="5715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57917F3F-EA23-412B-8332-A63CBF0A004B}"/>
              </a:ext>
            </a:extLst>
          </p:cNvPr>
          <p:cNvSpPr>
            <a:spLocks noGrp="1"/>
          </p:cNvSpPr>
          <p:nvPr/>
        </p:nvSpPr>
        <p:spPr>
          <a:xfrm>
            <a:off x="819150" y="4752975"/>
            <a:ext cx="21717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符合的條件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29E5E0B-8F52-432E-AB48-77C12225A4D0}"/>
              </a:ext>
            </a:extLst>
          </p:cNvPr>
          <p:cNvSpPr>
            <a:spLocks noGrp="1"/>
          </p:cNvSpPr>
          <p:nvPr/>
        </p:nvSpPr>
        <p:spPr>
          <a:xfrm>
            <a:off x="3419475" y="4752975"/>
            <a:ext cx="795337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都真的遇過（或看過）你想了解的情境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56F7644-0D00-471F-B615-B1B17A0AFAF9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972800" cy="4762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6155734-41A4-4D8E-AB83-784EDE4A2B09}"/>
              </a:ext>
            </a:extLst>
          </p:cNvPr>
          <p:cNvSpPr>
            <a:spLocks noGrp="1"/>
          </p:cNvSpPr>
          <p:nvPr/>
        </p:nvSpPr>
        <p:spPr>
          <a:xfrm>
            <a:off x="800100" y="569595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三位盡量不要都是同一種人。本週內完成，下週帶原話來。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模擬訪談：兩兩互訪十分鐘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一人當受訪者講自己真實的經驗，一人練習追問，然後交換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23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開場三十秒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說明用途、不寫姓名、只問上次的經驗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問第一題，追問兩層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「上次是什麼時候？」「後來呢？」「多花了多少？」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只寫原話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寫進訪談紀錄卡第一筆；受訪者看一眼：這是我說的嗎？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交換角色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結束後各說一句：剛才哪一個問題讓你講最多？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72FA8C43-4D14-4E8C-855D-2889AFAB267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539ED36-4AA3-4F9F-9C60-211D2D8A5D9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重複題目的同學：誰 × 步驟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98A5486-E8D9-4987-855E-C6CD3661DAD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全班有十幾個人選了相近的題目，訪談時刻意分開問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3AD4BA38-8990-412B-9C1D-0A8E390876F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CA4054D-90AA-4ABA-B0B0-B3C720BA93A5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A8A27-4E4A-4434-B71C-4B3B7CA09E34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24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DCD3F80-E2AD-43FA-9AFB-1FBFA3C301D6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65B9ABDC-4359-4ED4-BB66-A1ED698C570D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27DD043-484B-4C4A-B588-72EC2FAFDF0D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FEF8BC1-6030-49A9-A850-933F9CEB9740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同一件事，不同的人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855C1FD6-4D57-4EE3-9121-C6B9E154F6B6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通勤生、住宿生、打工生，卡的地方一樣嗎？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3B82CB0C-DADA-4EF6-9188-22027D67CE79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BA3E805-98A1-43EE-8DF6-38C4DB29C4D3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5EF94AED-AC06-4358-BA1C-DF61F5127164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59715D75-B599-4B34-AA8C-DABD95665781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1AC9139F-08DB-4996-BDAA-D6A9B34A2CF3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同一群人，不同的步驟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B54AF7D7-1561-488C-94AC-F6C0FDB153BC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找人、比較、決定、付款、事後——卡在哪一步？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A919A6C0-5AB0-423D-BB2B-D84337A1F9EB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F2ACEDE4-238E-4285-93C9-C6D5E45474B7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149DA36-489E-40FA-AA2C-1E1024E94201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D7A975C-BB8D-4E24-9AD9-B9306A4605CE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464CD130-7FBF-4137-A50A-C8E9AA7924A8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同一個痛，不同的代價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D8BEB1A9-C2E4-4B8F-BA67-C669AF36F53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有人損失時間、有人損失錢、有人放棄；各找一位問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9E5D0B71-E992-4185-9356-2C5A207D3E78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7E216008-54D5-4AF7-AF78-8DEDE6052BAB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8874CA82-DE00-48D0-9AB8-9C49637DB983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CE82A4D8-F5BC-4374-83B4-B3FE8D2016D5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44F1134F-C9C8-44DF-9CAB-24A002227FF9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訪談後互相比對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93F8F6E3-4705-46D0-A1EC-BB3B66B91233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下週同題的同學一起看原話：真的是同一個痛點嗎？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9A1E9309-FE12-4B5B-83F7-C857AF7948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1" name="">
            <a:extLst>
              <a:ext uri="{FF2B5EF4-FFF2-40B4-BE49-F238E27FC236}">
                <a16:creationId xmlns:a16="http://schemas.microsoft.com/office/drawing/2014/main" id="{C6D0CAD6-B885-41E3-AC59-A87FF78723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70BFE92-9CDB-41C8-93AD-15AA964A3D8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訪談後的三個判斷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36A6F80-9E9B-47FA-A237-6F0029F534F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三次訪談都記完，再回頭看痛點陳述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A9FE16B-105F-4D22-B84C-4EEB432A1492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E034F5BE-21E8-4AD0-85E5-C46B2C6A6E17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88EC3A3-0BCA-4476-BE5D-09FF55247BCC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25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015D264-51A9-4F59-BB80-F22B14549689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76200" cy="1981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6DD6C3B-65F4-4D75-95BD-1A5C4AC6B697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10287000" cy="2076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成立：三位都說得出上一次、代價、目前做法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調整：遇過，但卡的點不同 → 縮小人物或步驟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換題：沒人說得出具體事件 → 換另一個候選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CB609C82-52E6-4AA5-82EA-559E40CBB310}"/>
              </a:ext>
            </a:extLst>
          </p:cNvPr>
          <p:cNvSpPr>
            <a:spLocks noGrp="1"/>
          </p:cNvSpPr>
          <p:nvPr/>
        </p:nvSpPr>
        <p:spPr>
          <a:xfrm>
            <a:off x="914400" y="48863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修正後的痛點陳述：用受訪者的用詞重寫一次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8494B6-3A89-4418-8951-FB3F9528344E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本週只需判斷與改寫；Week 5 再依全部證據選定小組 MVP。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離堂前與本週內的清單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課堂上先完成前三項，一週內完成後四項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26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noGrp="1"/>
          </p:cNvSpPr>
          <p:nvPr/>
        </p:nvSpPr>
        <p:spPr>
          <a:xfrm>
            <a:off x="628650" y="231457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已取回 Week 2 痛點卡，看過老師指路或三階燈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訪談準備單已下載或列印：痛點陳述、三位受訪者、兩題問題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noGrp="1"/>
          </p:cNvSpPr>
          <p:nvPr/>
        </p:nvSpPr>
        <p:spPr>
          <a:xfrm>
            <a:off x="1085850" y="332422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模擬訪談的第一筆原話已寫進訪談紀錄卡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noGrp="1"/>
          </p:cNvSpPr>
          <p:nvPr/>
        </p:nvSpPr>
        <p:spPr>
          <a:xfrm>
            <a:off x="1085850" y="38671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一週內完成三位真實受訪者，每位至少一句原話與一個代價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每次訪談填「痛點是否成立」與「意外發現」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最後填判斷（成立／調整／換題）與修正後的痛點陳述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4857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0525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受訪者只用代稱。對方不想說的不追問；未成年或敏感情境先找老師。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3  /  使用者訪談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紀錄、保存與教師互動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訪談紀錄卡隨時可存草稿；三次都填好再正式提交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27 / 27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noGrp="1"/>
          </p:cNvSpPr>
          <p:nvPr/>
        </p:nvSpPr>
        <p:spPr>
          <a:xfrm>
            <a:off x="1381125" y="24765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邊訪邊記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noGrp="1"/>
          </p:cNvSpPr>
          <p:nvPr/>
        </p:nvSpPr>
        <p:spPr>
          <a:xfrm>
            <a:off x="4695825" y="23812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訪談當下用手機記關鍵字，結束十分鐘內補完原話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noGrp="1"/>
          </p:cNvSpPr>
          <p:nvPr/>
        </p:nvSpPr>
        <p:spPr>
          <a:xfrm>
            <a:off x="4695825" y="28575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三次訪談可以分三天填，每次都會保存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noGrp="1"/>
          </p:cNvSpPr>
          <p:nvPr/>
        </p:nvSpPr>
        <p:spPr>
          <a:xfrm>
            <a:off x="1381125" y="339090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noGrp="1"/>
          </p:cNvSpPr>
          <p:nvPr/>
        </p:nvSpPr>
        <p:spPr>
          <a:xfrm>
            <a:off x="704850" y="37719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保存與提交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noGrp="1"/>
          </p:cNvSpPr>
          <p:nvPr/>
        </p:nvSpPr>
        <p:spPr>
          <a:xfrm>
            <a:off x="4695825" y="358140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提交後仍可修改，原版本會保留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noGrp="1"/>
          </p:cNvSpPr>
          <p:nvPr/>
        </p:nvSpPr>
        <p:spPr>
          <a:xfrm>
            <a:off x="4695825" y="405765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老師在教師洞察看得到每次訪談與你的判斷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noGrp="1"/>
          </p:cNvSpPr>
          <p:nvPr/>
        </p:nvSpPr>
        <p:spPr>
          <a:xfrm>
            <a:off x="1381125" y="459105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noGrp="1"/>
          </p:cNvSpPr>
          <p:nvPr/>
        </p:nvSpPr>
        <p:spPr>
          <a:xfrm>
            <a:off x="704850" y="49720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noGrp="1"/>
          </p:cNvSpPr>
          <p:nvPr/>
        </p:nvSpPr>
        <p:spPr>
          <a:xfrm>
            <a:off x="1381125" y="48768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下週帶來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noGrp="1"/>
          </p:cNvSpPr>
          <p:nvPr/>
        </p:nvSpPr>
        <p:spPr>
          <a:xfrm>
            <a:off x="4695825" y="47815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三句原話、一個意外發現、修正後的陳述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noGrp="1"/>
          </p:cNvSpPr>
          <p:nvPr/>
        </p:nvSpPr>
        <p:spPr>
          <a:xfrm>
            <a:off x="4695825" y="52578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同題同學一起比對，決定分流還是合併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2026-09-28T13:12:49.7880000Z</dcterms:created>
  <dcterms:modified xsi:type="dcterms:W3CDTF">2026-09-28T13:12:49.7880000Z</dcterms:modified>
</coreProperties>
</file>