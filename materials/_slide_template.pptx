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c494ff6534158" /><Relationship Type="http://schemas.openxmlformats.org/officeDocument/2006/relationships/extended-properties" Target="/docProps/app.xml" Id="Red5eaeb31f1f4892" /><Relationship Type="http://schemas.openxmlformats.org/officeDocument/2006/relationships/officeDocument" Target="/ppt/presentation.xml" Id="Rd7e0ccb774ee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r="http://schemas.openxmlformats.org/officeDocument/2006/relationships" id="256" r:id="R78f372acec3c4d13"/>
    <p:sldId xmlns:r="http://schemas.openxmlformats.org/officeDocument/2006/relationships" id="257" r:id="R5880b46e718a49ba"/>
    <p:sldId xmlns:r="http://schemas.openxmlformats.org/officeDocument/2006/relationships" id="258" r:id="R9df869b873e64315"/>
    <p:sldId xmlns:r="http://schemas.openxmlformats.org/officeDocument/2006/relationships" id="259" r:id="Re82173a2e08b4f7d"/>
    <p:sldId xmlns:r="http://schemas.openxmlformats.org/officeDocument/2006/relationships" id="260" r:id="R4340a139578b4736"/>
    <p:sldId xmlns:r="http://schemas.openxmlformats.org/officeDocument/2006/relationships" id="261" r:id="R354250108ef64b3d"/>
    <p:sldId xmlns:r="http://schemas.openxmlformats.org/officeDocument/2006/relationships" id="262" r:id="R83e378e749024412"/>
    <p:sldId xmlns:r="http://schemas.openxmlformats.org/officeDocument/2006/relationships" id="263" r:id="R0031a5e88d1b42ed"/>
    <p:sldId xmlns:r="http://schemas.openxmlformats.org/officeDocument/2006/relationships" id="264" r:id="R1be2f25d69054e6f"/>
    <p:sldId xmlns:r="http://schemas.openxmlformats.org/officeDocument/2006/relationships" id="265" r:id="Rb49805a0acd44394"/>
    <p:sldId xmlns:r="http://schemas.openxmlformats.org/officeDocument/2006/relationships" id="266" r:id="R85bce5128acd4229"/>
    <p:sldId xmlns:r="http://schemas.openxmlformats.org/officeDocument/2006/relationships" id="267" r:id="Rb7c725f1d26a4b94"/>
    <p:sldId xmlns:r="http://schemas.openxmlformats.org/officeDocument/2006/relationships" id="268" r:id="Ra41051eb0153445a"/>
    <p:sldId xmlns:r="http://schemas.openxmlformats.org/officeDocument/2006/relationships" id="269" r:id="Rab2a11d320464efa"/>
    <p:sldId xmlns:r="http://schemas.openxmlformats.org/officeDocument/2006/relationships" id="270" r:id="Rb2d42d6e6ed448b8"/>
    <p:sldId xmlns:r="http://schemas.openxmlformats.org/officeDocument/2006/relationships" id="271" r:id="Rf56da21f18724dc4"/>
    <p:sldId xmlns:r="http://schemas.openxmlformats.org/officeDocument/2006/relationships" id="272" r:id="R03e48a2ec0d04650"/>
    <p:sldId xmlns:r="http://schemas.openxmlformats.org/officeDocument/2006/relationships" id="273" r:id="R0bcf3244d172487f"/>
    <p:sldId xmlns:r="http://schemas.openxmlformats.org/officeDocument/2006/relationships" id="274" r:id="R4f8ae2ea61ac4fe5"/>
    <p:sldId xmlns:r="http://schemas.openxmlformats.org/officeDocument/2006/relationships" id="275" r:id="Ra1f0fc182fa44de8"/>
    <p:sldId xmlns:r="http://schemas.openxmlformats.org/officeDocument/2006/relationships" id="276" r:id="R493936e213fc4711"/>
    <p:sldId xmlns:r="http://schemas.openxmlformats.org/officeDocument/2006/relationships" id="277" r:id="Rc2f5d71759034de0"/>
    <p:sldId xmlns:r="http://schemas.openxmlformats.org/officeDocument/2006/relationships" id="278" r:id="R77cbfe7dda5b4f5e"/>
    <p:sldId xmlns:r="http://schemas.openxmlformats.org/officeDocument/2006/relationships" id="279" r:id="Rd451a2d88afb4e93"/>
    <p:sldId xmlns:r="http://schemas.openxmlformats.org/officeDocument/2006/relationships" id="280" r:id="R5ffcc79e9b5742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f9775db36e4347" /><Relationship Type="http://schemas.openxmlformats.org/officeDocument/2006/relationships/slideMaster" Target="/ppt/slideMasters/slideMaster1.xml" Id="R209d81ccdc3d4373" /><Relationship Type="http://schemas.openxmlformats.org/officeDocument/2006/relationships/notesMaster" Target="/ppt/notesMasters/notesMaster1.xml" Id="Rae5565e222f94311" /><Relationship Type="http://schemas.openxmlformats.org/officeDocument/2006/relationships/presProps" Target="/ppt/presProps.xml" Id="Rc3130170706542df" /><Relationship Type="http://schemas.openxmlformats.org/officeDocument/2006/relationships/tableStyles" Target="/ppt/tableStyles.xml" Id="Rdae1bc0b7b5049c6" /><Relationship Type="http://schemas.openxmlformats.org/officeDocument/2006/relationships/slide" Target="/ppt/slides/slide1.xml" Id="R78f372acec3c4d13" /><Relationship Type="http://schemas.openxmlformats.org/officeDocument/2006/relationships/slide" Target="/ppt/slides/slide2.xml" Id="R5880b46e718a49ba" /><Relationship Type="http://schemas.openxmlformats.org/officeDocument/2006/relationships/slide" Target="/ppt/slides/slide3.xml" Id="R9df869b873e64315" /><Relationship Type="http://schemas.openxmlformats.org/officeDocument/2006/relationships/slide" Target="/ppt/slides/slide4.xml" Id="Re82173a2e08b4f7d" /><Relationship Type="http://schemas.openxmlformats.org/officeDocument/2006/relationships/slide" Target="/ppt/slides/slide5.xml" Id="R4340a139578b4736" /><Relationship Type="http://schemas.openxmlformats.org/officeDocument/2006/relationships/slide" Target="/ppt/slides/slide6.xml" Id="R354250108ef64b3d" /><Relationship Type="http://schemas.openxmlformats.org/officeDocument/2006/relationships/slide" Target="/ppt/slides/slide7.xml" Id="R83e378e749024412" /><Relationship Type="http://schemas.openxmlformats.org/officeDocument/2006/relationships/slide" Target="/ppt/slides/slide8.xml" Id="R0031a5e88d1b42ed" /><Relationship Type="http://schemas.openxmlformats.org/officeDocument/2006/relationships/slide" Target="/ppt/slides/slide9.xml" Id="R1be2f25d69054e6f" /><Relationship Type="http://schemas.openxmlformats.org/officeDocument/2006/relationships/slide" Target="/ppt/slides/slide10.xml" Id="Rb49805a0acd44394" /><Relationship Type="http://schemas.openxmlformats.org/officeDocument/2006/relationships/slide" Target="/ppt/slides/slide11.xml" Id="R85bce5128acd4229" /><Relationship Type="http://schemas.openxmlformats.org/officeDocument/2006/relationships/slide" Target="/ppt/slides/slide12.xml" Id="Rb7c725f1d26a4b94" /><Relationship Type="http://schemas.openxmlformats.org/officeDocument/2006/relationships/slide" Target="/ppt/slides/slide13.xml" Id="Ra41051eb0153445a" /><Relationship Type="http://schemas.openxmlformats.org/officeDocument/2006/relationships/slide" Target="/ppt/slides/slide14.xml" Id="Rab2a11d320464efa" /><Relationship Type="http://schemas.openxmlformats.org/officeDocument/2006/relationships/slide" Target="/ppt/slides/slide15.xml" Id="Rb2d42d6e6ed448b8" /><Relationship Type="http://schemas.openxmlformats.org/officeDocument/2006/relationships/slide" Target="/ppt/slides/slide16.xml" Id="Rf56da21f18724dc4" /><Relationship Type="http://schemas.openxmlformats.org/officeDocument/2006/relationships/slide" Target="/ppt/slides/slide17.xml" Id="R03e48a2ec0d04650" /><Relationship Type="http://schemas.openxmlformats.org/officeDocument/2006/relationships/slide" Target="/ppt/slides/slide18.xml" Id="R0bcf3244d172487f" /><Relationship Type="http://schemas.openxmlformats.org/officeDocument/2006/relationships/slide" Target="/ppt/slides/slide19.xml" Id="R4f8ae2ea61ac4fe5" /><Relationship Type="http://schemas.openxmlformats.org/officeDocument/2006/relationships/slide" Target="/ppt/slides/slide20.xml" Id="Ra1f0fc182fa44de8" /><Relationship Type="http://schemas.openxmlformats.org/officeDocument/2006/relationships/slide" Target="/ppt/slides/slide21.xml" Id="R493936e213fc4711" /><Relationship Type="http://schemas.openxmlformats.org/officeDocument/2006/relationships/slide" Target="/ppt/slides/slide22.xml" Id="Rc2f5d71759034de0" /><Relationship Type="http://schemas.openxmlformats.org/officeDocument/2006/relationships/slide" Target="/ppt/slides/slide23.xml" Id="R77cbfe7dda5b4f5e" /><Relationship Type="http://schemas.openxmlformats.org/officeDocument/2006/relationships/slide" Target="/ppt/slides/slide24.xml" Id="Rd451a2d88afb4e93" /><Relationship Type="http://schemas.openxmlformats.org/officeDocument/2006/relationships/slide" Target="/ppt/slides/slide25.xml" Id="R5ffcc79e9b57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6b259947a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8b71896674bf5" /><Relationship Type="http://schemas.openxmlformats.org/officeDocument/2006/relationships/notesMaster" Target="/ppt/notesMasters/notesMaster1.xml" Id="R2448331fa51e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6d8cced434187" /><Relationship Type="http://schemas.openxmlformats.org/officeDocument/2006/relationships/notesMaster" Target="/ppt/notesMasters/notesMaster1.xml" Id="R2f86e1c4f2184b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570af1913c429a" /><Relationship Type="http://schemas.openxmlformats.org/officeDocument/2006/relationships/notesMaster" Target="/ppt/notesMasters/notesMaster1.xml" Id="Rbef3257db4664c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eedb2e33424d30" /><Relationship Type="http://schemas.openxmlformats.org/officeDocument/2006/relationships/notesMaster" Target="/ppt/notesMasters/notesMaster1.xml" Id="R313000d3f81a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3da230153407c" /><Relationship Type="http://schemas.openxmlformats.org/officeDocument/2006/relationships/notesMaster" Target="/ppt/notesMasters/notesMaster1.xml" Id="R1676ed01adbe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0f910aba9c4842" /><Relationship Type="http://schemas.openxmlformats.org/officeDocument/2006/relationships/notesMaster" Target="/ppt/notesMasters/notesMaster1.xml" Id="Ra6ca68515d16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d78c8f03e4f07" /><Relationship Type="http://schemas.openxmlformats.org/officeDocument/2006/relationships/notesMaster" Target="/ppt/notesMasters/notesMaster1.xml" Id="R4b2fa8a5ad7345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b912900cc849dd" /><Relationship Type="http://schemas.openxmlformats.org/officeDocument/2006/relationships/notesMaster" Target="/ppt/notesMasters/notesMaster1.xml" Id="Rc3e8b81edb72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6815d6801410b" /><Relationship Type="http://schemas.openxmlformats.org/officeDocument/2006/relationships/notesMaster" Target="/ppt/notesMasters/notesMaster1.xml" Id="R679e469fd64048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02e24587534119" /><Relationship Type="http://schemas.openxmlformats.org/officeDocument/2006/relationships/notesMaster" Target="/ppt/notesMasters/notesMaster1.xml" Id="Rea5342cbb2e549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3c01dfca5341c4" /><Relationship Type="http://schemas.openxmlformats.org/officeDocument/2006/relationships/notesMaster" Target="/ppt/notesMasters/notesMaster1.xml" Id="Rf1186b715acd49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b9ce46f8834a88" /><Relationship Type="http://schemas.openxmlformats.org/officeDocument/2006/relationships/notesMaster" Target="/ppt/notesMasters/notesMaster1.xml" Id="Rfe1f50df603d4a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36d39e65014d34" /><Relationship Type="http://schemas.openxmlformats.org/officeDocument/2006/relationships/notesMaster" Target="/ppt/notesMasters/notesMaster1.xml" Id="R6bfd34b4a7f2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4b2ba556454a30" /><Relationship Type="http://schemas.openxmlformats.org/officeDocument/2006/relationships/notesMaster" Target="/ppt/notesMasters/notesMaster1.xml" Id="R278b0930093e46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5705d414744daa" /><Relationship Type="http://schemas.openxmlformats.org/officeDocument/2006/relationships/notesMaster" Target="/ppt/notesMasters/notesMaster1.xml" Id="R9ebb27d57acc48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b1175c53df4a32" /><Relationship Type="http://schemas.openxmlformats.org/officeDocument/2006/relationships/notesMaster" Target="/ppt/notesMasters/notesMaster1.xml" Id="R2464c46195db4d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80a764c1114ff6" /><Relationship Type="http://schemas.openxmlformats.org/officeDocument/2006/relationships/notesMaster" Target="/ppt/notesMasters/notesMaster1.xml" Id="R660c76c2c0954b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584b644865430d" /><Relationship Type="http://schemas.openxmlformats.org/officeDocument/2006/relationships/notesMaster" Target="/ppt/notesMasters/notesMaster1.xml" Id="R6f6147e65f7242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7e585cd4d047e1" /><Relationship Type="http://schemas.openxmlformats.org/officeDocument/2006/relationships/notesMaster" Target="/ppt/notesMasters/notesMaster1.xml" Id="R649b158c6cf942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078ccf29f74e88" /><Relationship Type="http://schemas.openxmlformats.org/officeDocument/2006/relationships/notesMaster" Target="/ppt/notesMasters/notesMaster1.xml" Id="R230723ed9b9d44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4555e300044924" /><Relationship Type="http://schemas.openxmlformats.org/officeDocument/2006/relationships/notesMaster" Target="/ppt/notesMasters/notesMaster1.xml" Id="Rdb6061e9008c45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ce4cd91b1e4c62" /><Relationship Type="http://schemas.openxmlformats.org/officeDocument/2006/relationships/notesMaster" Target="/ppt/notesMasters/notesMaster1.xml" Id="Rfcf1bb3001ac4e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b95c2f4310410e" /><Relationship Type="http://schemas.openxmlformats.org/officeDocument/2006/relationships/notesMaster" Target="/ppt/notesMasters/notesMaster1.xml" Id="Rd3439033d6f540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df637d7da14e1e" /><Relationship Type="http://schemas.openxmlformats.org/officeDocument/2006/relationships/notesMaster" Target="/ppt/notesMasters/notesMaster1.xml" Id="R44585af5bb9f43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4b4379d7b740be" /><Relationship Type="http://schemas.openxmlformats.org/officeDocument/2006/relationships/notesMaster" Target="/ppt/notesMasters/notesMaster1.xml" Id="Rb1a70042fd3b47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來源：YC 官方影片 How to Get and Evaluate Startup Ideas，Jared Friedman。https://www.youtube.com/watch?v=Th8JoIan4dg 。相關段落約 20:22–21:13，依官方影片自動字幕核對並意譯，非逐字引用。YC 系列資訊：https://www.ycombinator.com/blog/startup-school-videos 。本頁選取適合 Week 2 的觀點，並非完整影片所有建議。學生例子為虛構教學情境，不能當成使用者證據。痛點卡欄位、三位受訪者、兩題比較與 Week 5 MVP 時程都是本課延伸，不是 YC 要求。教師可先解釋觀念，再請學生找出自己卡片相應欄位補充真實事件。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來源：YC 官方影片 How to Get and Evaluate Startup Ideas，Jared Friedman。https://www.youtube.com/watch?v=Th8JoIan4dg 。相關段落約 1:47–3:16，依官方影片自動字幕核對並意譯，非逐字引用。YC 系列資訊：https://www.ycombinator.com/blog/startup-school-videos 。本頁選取適合 Week 2 的觀點，並非完整影片所有建議。學生例子為虛構教學情境，不能當成使用者證據。痛點卡欄位、三位受訪者、兩題比較與 Week 5 MVP 時程都是本課延伸，不是 YC 要求。教師可先解釋觀念，再請學生找出自己卡片相應欄位補充真實事件。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來源：YC 官方影片 How to Get and Evaluate Startup Ideas，Jared Friedman。https://www.youtube.com/watch?v=Th8JoIan4dg 。相關段落約 6:39–7:58；9:31–9:52，依官方影片自動字幕核對並意譯，非逐字引用。YC 系列資訊：https://www.ycombinator.com/blog/startup-school-videos 。本頁選取適合 Week 2 的觀點，並非完整影片所有建議。學生例子為虛構教學情境，不能當成使用者證據。痛點卡欄位、三位受訪者、兩題比較與 Week 5 MVP 時程都是本課延伸，不是 YC 要求。教師可先解釋觀念，再請學生找出自己卡片相應欄位補充真實事件。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來源：YC 官方影片 How to Get and Evaluate Startup Ideas，Jared Friedman。https://www.youtube.com/watch?v=Th8JoIan4dg 。相關段落約 9:10–9:30；17:59–19:34，依官方影片自動字幕核對並意譯，非逐字引用。YC 系列資訊：https://www.ycombinator.com/blog/startup-school-videos 。本頁選取適合 Week 2 的觀點，並非完整影片所有建議。學生例子為虛構教學情境，不能當成使用者證據。痛點卡欄位、三位受訪者、兩題比較與 Week 5 MVP 時程都是本課延伸，不是 YC 要求。教師可先解釋觀念，再請學生找出自己卡片相應欄位補充真實事件。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來源：YC 官方影片 How to Get and Evaluate Startup Ideas，Jared Friedman。https://www.youtube.com/watch?v=Th8JoIan4dg 。相關段落約 5:39–6:29，依官方影片自動字幕核對並意譯，非逐字引用。YC 系列資訊：https://www.ycombinator.com/blog/startup-school-videos 。本頁選取適合 Week 2 的觀點，並非完整影片所有建議。學生例子為虛構教學情境，不能當成使用者證據。痛點卡欄位、三位受訪者、兩題比較與 Week 5 MVP 時程都是本課延伸，不是 YC 要求。教師可先解釋觀念，再請學生找出自己卡片相應欄位補充真實事件。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教學對象：50 位學生，每堂 120 分鐘。例子為假設教學情境，不能當成學生真實證據。Week 1–4 保留個人探索，Week 5 每組最多三人依證據選 MVP。AI 為形成性建議，不決定成績。來源：https://www.youtube.com/watch?v=Th8JoIan4dg；https://www.ycombinator.com/blog/startup-school-videos。YC 2022 系列，課堂規則為本課教學應用。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de335dda5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31e3cb9d94436" /><Relationship Type="http://schemas.openxmlformats.org/officeDocument/2006/relationships/slideLayout" Target="/ppt/slideLayouts/slideLayout1.xml" Id="R2400e1906020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be6cf46f548c9" /><Relationship Type="http://schemas.openxmlformats.org/officeDocument/2006/relationships/notesSlide" Target="/ppt/notesSlides/notesSlide1.xml" Id="Ra8b27ae773b845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61316f45b4efb" /><Relationship Type="http://schemas.openxmlformats.org/officeDocument/2006/relationships/notesSlide" Target="/ppt/notesSlides/notesSlide2.xml" Id="R3dd1f31c2ba9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4c085517245c1" /><Relationship Type="http://schemas.openxmlformats.org/officeDocument/2006/relationships/notesSlide" Target="/ppt/notesSlides/notesSlide3.xml" Id="Rabaa6d9196c64e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c47930dc44ed2" /><Relationship Type="http://schemas.openxmlformats.org/officeDocument/2006/relationships/notesSlide" Target="/ppt/notesSlides/notesSlide4.xml" Id="Re234ea8f4c814c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834c68e784a5d" /><Relationship Type="http://schemas.openxmlformats.org/officeDocument/2006/relationships/notesSlide" Target="/ppt/notesSlides/notesSlide5.xml" Id="R218dd536d80744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b86bd7bde4a78" /><Relationship Type="http://schemas.openxmlformats.org/officeDocument/2006/relationships/notesSlide" Target="/ppt/notesSlides/notesSlide6.xml" Id="R0760dfd1c8b4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ae4c885fe4f29" /><Relationship Type="http://schemas.openxmlformats.org/officeDocument/2006/relationships/notesSlide" Target="/ppt/notesSlides/notesSlide7.xml" Id="R80d11ef9b8a648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3713b95e40a8" /><Relationship Type="http://schemas.openxmlformats.org/officeDocument/2006/relationships/notesSlide" Target="/ppt/notesSlides/notesSlide8.xml" Id="R69c649fd7e55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caf2ef1034275" /><Relationship Type="http://schemas.openxmlformats.org/officeDocument/2006/relationships/notesSlide" Target="/ppt/notesSlides/notesSlide9.xml" Id="R7757e5d5b1a249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9c888dfac4e6a" /><Relationship Type="http://schemas.openxmlformats.org/officeDocument/2006/relationships/notesSlide" Target="/ppt/notesSlides/notesSlide10.xml" Id="R2f1db315b9274b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bbab72acc40aa" /><Relationship Type="http://schemas.openxmlformats.org/officeDocument/2006/relationships/notesSlide" Target="/ppt/notesSlides/notesSlide11.xml" Id="Rf4e86abb98ec4b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50f4476bb4b30" /><Relationship Type="http://schemas.openxmlformats.org/officeDocument/2006/relationships/notesSlide" Target="/ppt/notesSlides/notesSlide12.xml" Id="Rd7aa4b71b43545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d454db12d47a9" /><Relationship Type="http://schemas.openxmlformats.org/officeDocument/2006/relationships/notesSlide" Target="/ppt/notesSlides/notesSlide13.xml" Id="R9f88c1855b2b45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b590fbc154ab0" /><Relationship Type="http://schemas.openxmlformats.org/officeDocument/2006/relationships/notesSlide" Target="/ppt/notesSlides/notesSlide14.xml" Id="R5514fab9000c4c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8589804e54706" /><Relationship Type="http://schemas.openxmlformats.org/officeDocument/2006/relationships/notesSlide" Target="/ppt/notesSlides/notesSlide15.xml" Id="Rdcf5aae1f8284f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82e8600464481" /><Relationship Type="http://schemas.openxmlformats.org/officeDocument/2006/relationships/notesSlide" Target="/ppt/notesSlides/notesSlide16.xml" Id="R488cdbd24e2943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674d7c74047bd" /><Relationship Type="http://schemas.openxmlformats.org/officeDocument/2006/relationships/notesSlide" Target="/ppt/notesSlides/notesSlide17.xml" Id="R0c72c0b4c7b343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6eeb7c6d44796" /><Relationship Type="http://schemas.openxmlformats.org/officeDocument/2006/relationships/notesSlide" Target="/ppt/notesSlides/notesSlide18.xml" Id="R0ddc99371a1240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b24b63aff4d3a" /><Relationship Type="http://schemas.openxmlformats.org/officeDocument/2006/relationships/notesSlide" Target="/ppt/notesSlides/notesSlide19.xml" Id="R220470ea71e14c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f4fc6f45146f2" /><Relationship Type="http://schemas.openxmlformats.org/officeDocument/2006/relationships/notesSlide" Target="/ppt/notesSlides/notesSlide20.xml" Id="R7cd89d241eae41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86937e9444473" /><Relationship Type="http://schemas.openxmlformats.org/officeDocument/2006/relationships/notesSlide" Target="/ppt/notesSlides/notesSlide21.xml" Id="R62e31e2ee5b54e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7dc983ab49e6" /><Relationship Type="http://schemas.openxmlformats.org/officeDocument/2006/relationships/notesSlide" Target="/ppt/notesSlides/notesSlide22.xml" Id="R7dc24ae6d7f043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0ee61f2794c32" /><Relationship Type="http://schemas.openxmlformats.org/officeDocument/2006/relationships/notesSlide" Target="/ppt/notesSlides/notesSlide23.xml" Id="Rd76156c77b3a44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8e8e722a64862" /><Relationship Type="http://schemas.openxmlformats.org/officeDocument/2006/relationships/notesSlide" Target="/ppt/notesSlides/notesSlide24.xml" Id="Ra2ca03d5857b41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4768ef4714a50" /><Relationship Type="http://schemas.openxmlformats.org/officeDocument/2006/relationships/notesSlide" Target="/ppt/notesSlides/notesSlide25.xml" Id="R149d4a5b845b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問題探索與選題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兩個候選痛點，選一個方向驗證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本週任務：準備三位受訪者與兩個訪談問題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192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4B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00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57275"/>
            <a:ext cx="1143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95247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本週共同成果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50 位學生各自留下觀察，Week 5 再選小組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2 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候選痛點，一個暫定方向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取回 Week 1 起點卡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未提交者先補交；已提交者可查看與修訂，保留原始紀錄。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比較後說明選擇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記下人物、情境、阻礙、頻率、代價、替代方法、證據與假設。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準備接觸真實使用者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每人列出三位受訪者與兩題問題；Week 5 組隊最多三人。</a:t>
            </a:r>
          </a:p>
        </p:txBody>
      </p:sp>
    </p:spTree>
    <p:extLst>
      <p:ext uri="{BB962C8B-B14F-4D97-AF65-F5344CB8AC3E}">
        <p14:creationId xmlns:p14="http://schemas.microsoft.com/office/powerpoint/2010/main" val="18984895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120 分鐘課堂流程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先取回觀察，再比較候選痛點，最後修訂與提交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回顧與影片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0–10 取回起點卡與回饋
10–25 影片重點導讀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25–55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95B"/>
          </a:solidFill>
          <a:ln xmlns:a="http://schemas.openxmlformats.org/drawingml/2006/main" w="9525">
            <a:solidFill>
              <a:srgbClr val="143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案例與示範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25–45 痛點與解法案例
45–55 三種路徑示範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55–100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27"/>
          </a:solidFill>
          <a:ln xmlns:a="http://schemas.openxmlformats.org/drawingml/2006/main" w="9525">
            <a:solidFill>
              <a:srgbClr val="C998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探索與互評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55–65 休息
65–85 探索
85–100 同儕檢核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100–120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修訂與提交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100–110 規則與 AI 檢查
110–120 提交、準備訪談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本週完成可訪談的暫定痛點；是否適合成為 MVP，要等待後續證據。</a:t>
            </a:r>
          </a:p>
        </p:txBody>
      </p:sp>
    </p:spTree>
    <p:extLst>
      <p:ext uri="{BB962C8B-B14F-4D97-AF65-F5344CB8AC3E}">
        <p14:creationId xmlns:p14="http://schemas.microsoft.com/office/powerpoint/2010/main" val="18588838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三種引導路徑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依今天需要的協助選擇，切換路徑會保留回答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一步一步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一次回答一題，從生活場景、最近事件與目前做法開始。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95B"/>
          </a:solidFill>
          <a:ln xmlns:a="http://schemas.openxmlformats.org/drawingml/2006/main" w="9525">
            <a:solidFill>
              <a:srgbClr val="143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623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檢查想法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623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比較兩至三題的人物、頻率、代價、證據與可接觸性。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27"/>
          </a:solidFill>
          <a:ln xmlns:a="http://schemas.openxmlformats.org/drawingml/2006/main" w="9525">
            <a:solidFill>
              <a:srgbClr val="C9982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148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進階挑戰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148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找反例、付費者與最危險假設，練習最低成本驗證。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共同成果不變，路徑不代表能力等級；AI 不決定成績或能否提交。</a:t>
            </a:r>
          </a:p>
        </p:txBody>
      </p:sp>
    </p:spTree>
    <p:extLst>
      <p:ext uri="{BB962C8B-B14F-4D97-AF65-F5344CB8AC3E}">
        <p14:creationId xmlns:p14="http://schemas.microsoft.com/office/powerpoint/2010/main" val="6824717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兩個候選痛點的比較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以下為教學情境，請用自己的真實觀察取代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候選 A：午休購餐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午休空檔短的學生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排隊壓縮用餐時間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目前改買便利商店食物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頻率與代價仍需驗證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28875"/>
            <a:ext cx="38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候選 B：分組約時間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課表不同的分組成員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反覆確認可開會時間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目前在群組逐一詢問</a:t>
            </a:r>
          </a:p>
          <a:p xmlns:a="http://schemas.openxmlformats.org/drawingml/2006/main"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耗時與影響仍需驗證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選題理由：目前知道什麼？能接觸誰？什麼新證據會讓你改變選擇？</a:t>
            </a:r>
          </a:p>
        </p:txBody>
      </p:sp>
    </p:spTree>
    <p:extLst>
      <p:ext uri="{BB962C8B-B14F-4D97-AF65-F5344CB8AC3E}">
        <p14:creationId xmlns:p14="http://schemas.microsoft.com/office/powerpoint/2010/main" val="337204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635BE-3EC3-46CF-8521-D60667B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C87ED-DFF8-45BD-AB94-149DA64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午餐排隊，困擾發生在哪裡？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B84B-9BC9-4C52-A25B-2F1FF44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保留原句，再補時間、地點與人物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3D2D0-F2B6-4AEA-9D63-2E807A9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693C-BC4D-46F8-BE93-FD68E474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81695-5675-4D2C-A0AD-57CB062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E9758-1074-4800-BC68-A8EA754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9246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3A0D5-2350-4792-9DCE-EFB7208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51EDB-7E14-4C4F-B67B-5D5501C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6229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 xmlns:a="http://schemas.openxmlformats.org/drawingml/2006/main"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5FBF1-E297-4C20-A32E-F2F959A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15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星期三中午  /  校園餐廳外  /  通勤同學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C5E7-8CDE-4F33-92F6-656640C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71775"/>
            <a:ext cx="3305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DE6FE-4084-4883-825E-FECA9C4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校園餐廳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AD12A-7A09-46C5-996C-CEFF3D7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0AC28-8FB7-4957-A9C4-85B7860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CC67B-F573-4E95-AD9C-24E912E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BA32B-F350-4B1F-AF92-2DAB162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B3D5E-3E31-46DE-8AA8-7D8C218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CD36-EC97-485D-92FD-6C37088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7CC69-72DE-4E07-878B-3ECE8A5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9A704-B3C7-4122-8AA3-C065310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D60C-D707-4FC2-BE2F-55B296B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458D7-8388-4F60-B024-A8249B1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7161A-F112-4D15-A01F-1AA4C30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60602-FDDD-401C-9ACA-59F2625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23766-27D3-4D4D-BFE5-010DE82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6150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9209A-0562-4EAE-B62C-A545A6E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6385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FC0D9-77BD-448C-B77B-E04A3351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766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B356F-5F7B-4013-B995-09FAE01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29200"/>
            <a:ext cx="3495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E11BE-F545-4D47-A7F8-F63D275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待驗證：排隊、距離、價格，哪一項才是主要困擾？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47F41-F816-4276-ABEC-7015C8F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816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</p:spTree>
    <p:extLst>
      <p:ext uri="{BB962C8B-B14F-4D97-AF65-F5344CB8AC3E}">
        <p14:creationId xmlns:p14="http://schemas.microsoft.com/office/powerpoint/2010/main" val="55228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影片的五個選題提醒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Get and Evaluate Startup Ideas 的教學意譯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從熟悉領域與真實問題找起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避免先愛上解法，再替它找問題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檢查自己的理解與接觸使用者的優勢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910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了解既有替代方式與競爭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先選暫定方向，隨新證據調整</a:t>
            </a:r>
          </a:p>
        </p:txBody>
      </p:sp>
    </p:spTree>
    <p:extLst>
      <p:ext uri="{BB962C8B-B14F-4D97-AF65-F5344CB8AC3E}">
        <p14:creationId xmlns:p14="http://schemas.microsoft.com/office/powerpoint/2010/main" val="744320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51CBA-82C8-49B5-A679-27E21DDA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9374-2343-4BE3-AE6F-481B7C3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 YC 影片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6ED46-4B5C-4DE7-94D9-EF51017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Get and Evaluate Startup Ideas · Jared Friedman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743C-E6CE-49C9-BD81-75FB94A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1E72-43CF-4ECE-A142-A56C8C1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9966-2A99-4B30-A195-E662ECA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6F5E4-C3D8-4E4D-8F60-4C7501D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7AC2-3FA7-4FF0-91BB-4CE9E08D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7D7B0-EB44-4452-8EC9-27585F6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5000-F6DE-4B6B-AB29-8976DBD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我的觀察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9BBE-5B34-47BC-AC81-43C2149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哪一個問題來自</a:t>
            </a:r>
          </a:p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自己的真實經驗？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711E8-48F8-4470-B2F2-9B9309A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2E1C9-ED85-4072-8D04-16B70667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DF27D-3C58-4069-AC3A-1DFF4E8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AED7C-4A37-439A-AD2D-EC14CC7F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我的未知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30F38-691F-4AD4-AB4F-B49E192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哪些只是推測，</a:t>
            </a:r>
          </a:p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還要問使用者？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8B680-9E4E-4BFF-81B0-EC04CA5C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C8991-0650-474B-940A-AE6FFAE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F71F3-B5CE-448C-A307-D2AC2F3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F892-140A-4F15-A4D1-276CA717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64BC5-91BD-4DD7-9BF4-DE15765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能接觸誰，</a:t>
            </a:r>
          </a:p>
          <a:p xmlns:a="http://schemas.openxmlformats.org/drawingml/2006/main"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取得什麼證據？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80CEC-8842-4BB2-942D-C861E4E0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YC Startup School 2022 系列；本課採用選題框架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F63D8-2087-40C4-9F97-289B055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影片：youtube.com/watch?v=Th8JoIan4dg</a:t>
            </a:r>
          </a:p>
        </p:txBody>
      </p:sp>
    </p:spTree>
    <p:extLst>
      <p:ext uri="{BB962C8B-B14F-4D97-AF65-F5344CB8AC3E}">
        <p14:creationId xmlns:p14="http://schemas.microsoft.com/office/powerpoint/2010/main" val="1121047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1：熟悉領域與真實問題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深入工作與生活經驗，
更容易注意到真正未被滿足的需要。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從你能描述、能查證的事件找起。
熟悉情境有助於發現問題，仍要驗證。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本課例子：打工交班時，
漏記缺貨品項，下一班又重新盤點。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填「已有觀察與來源」及「受到影響的人」。
記下最近一次事件，未知之處列為假設。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2：避免解法先行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先想用 AI 做什麼，再硬找問題，
容易選到使用者其實不在意的困擾。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先確認誰想完成什麼、卡在哪裡。
能做出功能，不等於有人需要它。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本課例子：先記錄買餐等候的事件，
不要只寫「我要做 AI 訂餐 App」。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填「想完成的事情」與「遇到的阻礙」。
拿掉產品名稱，檢查困擾能否說清楚。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3：團隊與問題的適配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Founder–market fit：
團隊的經驗與能力是否適合處理此題？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選擇自己有理解基礎的方向。
若不認識需要它的人，就先去接觸使用者。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本課例子：有排班經驗的打工學生，
較容易理解換班流程與相關角色。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填「選題理由」與受訪者的角色、接觸方式。
三位受訪者是本課要求，並非 YC 規定。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4：競爭與既有替代方式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有競爭者不一定是壞事。
面對既有業者，需要新的理解或切入點。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別只問「別人做過嗎」。
也問現有選擇漏掉了哪些需求。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本課例子：分組已用群組與投票約時間，
仍要確認卡在回覆、時段或決策。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填「目前處理方法」及「代價或待驗證」。
記下為何仍使用它，再找尚未解決的阻礙。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5：可調整的起點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不要直接投入第一個念頭，
也不要一直等完美點子才開始。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先選值得探索的起點，
再隨使用者證據修正方向。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本課例子：比較排隊與約時間的困擾，
先選能接觸當事人的一題訪談。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填「會改變選擇的證據」與痛點陳述。
兩題比較、Week 5 選 MVP 都是本課安排。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頻率、代價與替代方式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不確定可標記待驗證，並說明怎麼查證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發生頻率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最近一週遇到幾次？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不知道時先標示待驗證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造成代價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8140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等待多久？錯過什麼？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5765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也可記錄金錢、機會或情緒影響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目前做法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現在怎麼處理？為何選它？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578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例如改買餐點、提前出門或忍耐</a:t>
            </a:r>
          </a:p>
        </p:txBody>
      </p:sp>
    </p:spTree>
    <p:extLst>
      <p:ext uri="{BB962C8B-B14F-4D97-AF65-F5344CB8AC3E}">
        <p14:creationId xmlns:p14="http://schemas.microsoft.com/office/powerpoint/2010/main" val="11807076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人物與情境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讓同學知道下週要找誰訪談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中午兩堂課間隔很短</a:t>
            </a:r>
          </a:p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的通勤學生，在餐廳</a:t>
            </a:r>
          </a:p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排隊時來不及吃飯。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什麼時候？在哪裡？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哪類學生真的遇過？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「所有學生」太廣；先描述可接觸、有相同情境的對象。</a:t>
            </a:r>
          </a:p>
        </p:txBody>
      </p:sp>
    </p:spTree>
    <p:extLst>
      <p:ext uri="{BB962C8B-B14F-4D97-AF65-F5344CB8AC3E}">
        <p14:creationId xmlns:p14="http://schemas.microsoft.com/office/powerpoint/2010/main" val="110252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問題與產品構想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先描述目前發生的阻礙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解法先行的例子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「我要做一個</a:t>
            </a:r>
          </a:p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訂餐 App。」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使用者想完成什麼？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拿掉 App 名稱，</a:t>
            </a:r>
          </a:p>
          <a:p xmlns:a="http://schemas.openxmlformats.org/drawingml/2006/main"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遇到的阻礙還是什麼？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可以有產品想法，但需要先找真實問題與使用者證據。</a:t>
            </a:r>
          </a:p>
        </p:txBody>
      </p:sp>
    </p:spTree>
    <p:extLst>
      <p:ext uri="{BB962C8B-B14F-4D97-AF65-F5344CB8AC3E}">
        <p14:creationId xmlns:p14="http://schemas.microsoft.com/office/powerpoint/2010/main" val="1195954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AF06B-144A-4A96-B49C-2E71E3D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BC339-A0B6-42D3-8A8E-4305C418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事實與觀察來源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A7BF4-4954-413B-8C5B-7EE13B29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交代真實事件、時間及資料來源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CCA24-C90C-4AC9-B08C-76D9915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0C966-124B-4D5C-8E84-C7D0796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4A360-A1BF-4395-9A63-31FDBD9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17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2FF7-5422-4527-9283-E7FB9EC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F40A1-F748-4CD6-8C45-46E4FB9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F9EB-35F8-4D32-8ACF-9021618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CEFE7-8FAF-4F0E-A3B3-5D63468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我在星期三中午，</a:t>
            </a:r>
          </a:p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記錄自己在餐廳</a:t>
            </a:r>
          </a:p>
          <a:p xmlns:a="http://schemas.openxmlformats.org/drawingml/2006/main"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開始與結束等候的時間。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51824-B881-4CAE-80DB-01C0CCF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16C6-1E98-4F6C-AD27-375E1B7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哪些是親身觀察？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B4C04-78D1-4EFC-9323-45BC7D6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4763-1F7F-43DA-81BE-D51ECFE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哪些來自他人原話？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2092A-4D51-4639-9619-2FF162B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一次個人觀察，不能直接推論全班或全校都遇到同樣問題。</a:t>
            </a:r>
          </a:p>
        </p:txBody>
      </p:sp>
    </p:spTree>
    <p:extLst>
      <p:ext uri="{BB962C8B-B14F-4D97-AF65-F5344CB8AC3E}">
        <p14:creationId xmlns:p14="http://schemas.microsoft.com/office/powerpoint/2010/main" val="10453496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28F05-7C65-4498-B38D-E705A99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577F5-BFBD-4B0C-9DC2-8068A84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假設與可能的反例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7C534-3C74-43B6-913C-16C1246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寫下會使你改變選擇的證據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1133-4200-4B6F-9CEE-5722164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5D04-D424-463C-A3C0-24F671A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82062-99BC-4CC4-96B2-29A7201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18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A4CA-17E2-4DD5-B9C6-C1A6B9B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16438-45F4-42A9-9F1D-A85AC0AE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8CDEF-17FE-4567-8A90-8165A12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仍待驗證的想法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A299-D7C3-4772-9E83-544E07D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我猜其他通勤同學</a:t>
            </a:r>
          </a:p>
          <a:p xmlns:a="http://schemas.openxmlformats.org/drawingml/2006/main"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也常因排隊太久，</a:t>
            </a:r>
          </a:p>
          <a:p xmlns:a="http://schemas.openxmlformats.org/drawingml/2006/main"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來不及吃完午餐。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B7223-C1B6-443D-A09E-BC25CA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B3A6D-F741-4453-8E90-956BE00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誰沒有這個困擾？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E581B-F7EA-41C0-933A-86CADDD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8E166-5CED-4A9A-A28D-4B61ECE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如果大家更在意價格，</a:t>
            </a:r>
          </a:p>
          <a:p xmlns:a="http://schemas.openxmlformats.org/drawingml/2006/main"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我會如何調整題目？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55943-4972-48DF-9A48-1C155A9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AI 提出的方向與模擬回答都不是使用者證據。</a:t>
            </a:r>
          </a:p>
        </p:txBody>
      </p:sp>
    </p:spTree>
    <p:extLst>
      <p:ext uri="{BB962C8B-B14F-4D97-AF65-F5344CB8AC3E}">
        <p14:creationId xmlns:p14="http://schemas.microsoft.com/office/powerpoint/2010/main" val="1121159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兩個非引導式問題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詢問過去真實經驗，讓使用者用自己的話回答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19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上次午休買餐時，</a:t>
            </a:r>
          </a:p>
          <a:p xmlns:a="http://schemas.openxmlformats.org/drawingml/2006/main"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發生了什麼？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第二題：當時怎麼處理？為何選那個方法？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你是不是也覺得排隊很糟？</a:t>
            </a:r>
          </a:p>
          <a:p xmlns:a="http://schemas.openxmlformats.org/drawingml/2006/main"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你會使用我的 App 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這些問法暗示答案，或要求預測未來行為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訪談前確認：沒有推銷產品，也沒有替對方決定答案。</a:t>
            </a:r>
          </a:p>
        </p:txBody>
      </p:sp>
    </p:spTree>
    <p:extLst>
      <p:ext uri="{BB962C8B-B14F-4D97-AF65-F5344CB8AC3E}">
        <p14:creationId xmlns:p14="http://schemas.microsoft.com/office/powerpoint/2010/main" val="19064308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758EE-CD86-48B7-9528-D7F1ABB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8B2D-B5A5-4C29-AC67-4F609BC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三位可接觸的受訪者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344C-5FEC-4E4B-ADC7-6A1F81F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寫角色與接觸方式，不填姓名、Email、電話或敏感資料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DA960-2142-4AA8-995C-CA8324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1B358-EF55-433A-8C01-0CA7654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8098-6BDA-42DF-A127-0FA3683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20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7CC-9AE6-46B1-9743-23518AD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4A629-9C9A-413E-B4D0-4A97011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B910-5196-43A9-BEA5-4EEAB468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3840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A：下課後先詢問意願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A165C-D9D7-43F9-ACA1-D8242F9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2895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C1EEE-5161-4193-8F3E-7037FA3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4F02C-5EE6-4782-B407-6B2ECB4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D529-F489-4B5D-89AC-1E01DFEC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0992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B：社團活動後詢問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FCBDC-21FE-44B9-894A-F61DFD2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00475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E1DD2-4CD5-4252-ABCC-53AC026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A06E9-B0C2-4FDE-90A6-C2391F0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CEE49-84FB-4548-8DE8-7C47D42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8145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C：午休時詢問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18B70-D194-4C9C-8FE3-6F5886E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0C033-9B59-4F45-B65B-E28E242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17F3F-EA23-412B-8332-A63CBF0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符合的條件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E5E0B-8F52-432E-AB48-77C1222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5297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都曾遇過你想了解的情境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F7644-0D00-471F-B615-B1B17A0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5734-41A4-4D8E-AB83-784EDE4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其他組同學也可以；先確認符合對象，再安排 Week 3 訪談。</a:t>
            </a:r>
          </a:p>
        </p:txBody>
      </p:sp>
    </p:spTree>
    <p:extLst>
      <p:ext uri="{BB962C8B-B14F-4D97-AF65-F5344CB8AC3E}">
        <p14:creationId xmlns:p14="http://schemas.microsoft.com/office/powerpoint/2010/main" val="10833296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同儕檢核的四個問題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每人交換自己的卡，指出一個具體缺口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21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誰、何時、何地？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例：午休空檔短的通勤同學，在餐廳排隊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最近一次發生什麼？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請描述真實事件，區分觀察與自己的解讀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代價與替代方法？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例：改買便利商店食物；耗時仍待驗證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什麼證據會推翻？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例：同學其實更在意價格，而非等候時間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FA8C43-4D14-4E8C-855D-2889AFA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ED36-4AA3-4F9F-9C60-211D2D8A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進階挑戰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A5486-E8D9-4987-855E-C6CD366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核心成果相同，額外練習尋找反證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4BA38-8990-412B-9C1D-0A8E390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054D-90AA-4ABA-B0B0-B3C720B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A8A27-4E4A-4434-B71C-4B3B7CA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22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D3F80-E2AD-43FA-9AFB-1FBFA3C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9ABDC-4359-4ED4-BB66-A1ED698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DD043-484B-4C4A-B588-72EC2FA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8BC1-6030-49A9-A850-933F9CE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誰沒有問題？最大的反例？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1FD6-4D57-4EE3-9121-C6B9E15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不要只找支持自己想法的例子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2CB0C-DADA-4EF6-9188-22027D6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3E805-98A1-43EE-8DF6-38C4DB2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4AED-AC06-4358-BA1C-DF61F51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15D75-B599-4B34-AA8C-DABD956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9139F-08DB-4996-BDAA-D6A9B34A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為何接受現在的方法？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AF7D7-1561-488C-94AC-F6C0FDB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理解改變習慣的成本與現有方法的好處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9A6C0-5AB0-423D-BB2B-D84337A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CEDE4-238E-4285-93C9-C6D5E45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9DA36-489E-40FA-AA2C-1E1024E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A975C-BB8D-4E24-9AD9-B9306A4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CD130-7FBF-4137-A50A-C8E9AA79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使用者、受益者與付費者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EB1A9-C2E4-4B8F-BA67-C669AF3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這些角色是否相同？不要先假設會付費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D0B71-E992-4185-9356-2C5A207D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16008-54D5-4AF7-AF78-8DEDE60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4CA82-DE00-48D0-9AB8-9C49637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2A4D8-F5BC-4374-83B4-B3FE8D20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1134F-C9C8-44DF-9CAB-24A0022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最危險假設與最低成本測試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8F6E3-4705-46D0-A1EC-BB3B66B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哪項證據會讓你放棄或縮小這個題目？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E9309-FE12-4B5B-83F7-C857AF7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27401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修訂後的痛點陳述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把情境、人物、工作、阻礙與未知連起來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23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0287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在＿＿情境中，＿＿的人想要＿＿，</a:t>
            </a:r>
          </a:p>
          <a:p xmlns:a="http://schemas.openxmlformats.org/drawingml/2006/main"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但因為＿＿而遇到＿＿，目前用＿＿處理；</a:t>
            </a:r>
          </a:p>
          <a:p xmlns:a="http://schemas.openxmlformats.org/drawingml/2006/main"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我仍需驗證＿＿。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選題理由：為什麼先研究這一題？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本週形成暫定方向，Week 5 再依證據選定小組 MVP。</a:t>
            </a:r>
          </a:p>
        </p:txBody>
      </p:sp>
    </p:spTree>
    <p:extLst>
      <p:ext uri="{BB962C8B-B14F-4D97-AF65-F5344CB8AC3E}">
        <p14:creationId xmlns:p14="http://schemas.microsoft.com/office/powerpoint/2010/main" val="14562074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離堂前提交清單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必要欄位通過即可提交，教師待抽查時仍可準備訪談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24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383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至少兩個不同候選痛點，九項核心欄位已填寫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已選一題並說明理由，以及會改變選擇的證據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已完成自己的痛點陳述，事實與假設分開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已有三位可接觸受訪者與兩個非引導式問題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已在網站保存，並看到正式提交成功訊息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如有使用 AI，保留建議與修訂，不當成真實證據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25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若老師要求先討論，確認安全、隱私與倫理風險後再訪談。</a:t>
            </a:r>
          </a:p>
        </p:txBody>
      </p:sp>
    </p:spTree>
    <p:extLst>
      <p:ext uri="{BB962C8B-B14F-4D97-AF65-F5344CB8AC3E}">
        <p14:creationId xmlns:p14="http://schemas.microsoft.com/office/powerpoint/2010/main" val="14811287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卡關、修訂與教師互動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無法使用或額度用完，仍可保存與提交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25 /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卡關時探索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先填生活場景與一個真實事件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最多給三個待驗證方向，不代寫作業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檢查與修訂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8140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先規則檢查，再選用 AI 建議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5765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引導 3 次，標準／挑戰 2 次；教師可調整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保存與訪談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提交後可修改，原版本會保留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578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教師可確認、請修訂，或要求先討論</a:t>
            </a:r>
          </a:p>
        </p:txBody>
      </p:sp>
    </p:spTree>
    <p:extLst>
      <p:ext uri="{BB962C8B-B14F-4D97-AF65-F5344CB8AC3E}">
        <p14:creationId xmlns:p14="http://schemas.microsoft.com/office/powerpoint/2010/main" val="1180707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