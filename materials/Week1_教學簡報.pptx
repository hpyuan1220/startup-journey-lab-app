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80d0260b1c4619" /><Relationship Type="http://schemas.openxmlformats.org/officeDocument/2006/relationships/extended-properties" Target="/docProps/app.xml" Id="Rc3a669f1a459420b" /><Relationship Type="http://schemas.openxmlformats.org/officeDocument/2006/relationships/officeDocument" Target="/ppt/presentation.xml" Id="Rb4a14d4e87a249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cc5c488ce4cbe"/>
  </p:sldMasterIdLst>
  <p:notesMasterIdLst>
    <p:notesMasterId xmlns:r="http://schemas.openxmlformats.org/officeDocument/2006/relationships" r:id="Rc01ce924d8504db2"/>
  </p:notesMasterIdLst>
  <p:sldIdLst>
    <p:sldId xmlns:r="http://schemas.openxmlformats.org/officeDocument/2006/relationships" id="256" r:id="Rec511aa6395c451d"/>
    <p:sldId xmlns:r="http://schemas.openxmlformats.org/officeDocument/2006/relationships" id="257" r:id="Ra8f070cffa504d90"/>
    <p:sldId xmlns:r="http://schemas.openxmlformats.org/officeDocument/2006/relationships" id="258" r:id="R0d9ae8b601024fa6"/>
    <p:sldId xmlns:r="http://schemas.openxmlformats.org/officeDocument/2006/relationships" id="259" r:id="Rf92bef66b96b4f04"/>
    <p:sldId xmlns:r="http://schemas.openxmlformats.org/officeDocument/2006/relationships" id="260" r:id="R68c6eee568324509"/>
    <p:sldId xmlns:r="http://schemas.openxmlformats.org/officeDocument/2006/relationships" id="261" r:id="R2608e10d400e494d"/>
    <p:sldId xmlns:r="http://schemas.openxmlformats.org/officeDocument/2006/relationships" id="262" r:id="R79e66aeffdbb4496"/>
    <p:sldId xmlns:r="http://schemas.openxmlformats.org/officeDocument/2006/relationships" id="263" r:id="R484c3919920d46f4"/>
    <p:sldId xmlns:r="http://schemas.openxmlformats.org/officeDocument/2006/relationships" id="264" r:id="Re810ced6637f460b"/>
    <p:sldId xmlns:r="http://schemas.openxmlformats.org/officeDocument/2006/relationships" id="265" r:id="R7d5f44e752114540"/>
    <p:sldId xmlns:r="http://schemas.openxmlformats.org/officeDocument/2006/relationships" id="266" r:id="Rff0a6cb589e446e8"/>
    <p:sldId xmlns:r="http://schemas.openxmlformats.org/officeDocument/2006/relationships" id="267" r:id="R3bc41eb53d444b48"/>
    <p:sldId xmlns:r="http://schemas.openxmlformats.org/officeDocument/2006/relationships" id="268" r:id="R58bf40ab1e284b05"/>
    <p:sldId xmlns:r="http://schemas.openxmlformats.org/officeDocument/2006/relationships" id="269" r:id="R9140295d0ef74e79"/>
    <p:sldId xmlns:r="http://schemas.openxmlformats.org/officeDocument/2006/relationships" id="270" r:id="R537f99ebb9db4e92"/>
    <p:sldId xmlns:r="http://schemas.openxmlformats.org/officeDocument/2006/relationships" id="271" r:id="R13057c88c57e4cb1"/>
    <p:sldId xmlns:r="http://schemas.openxmlformats.org/officeDocument/2006/relationships" id="272" r:id="R30d4f3fd3f614180"/>
    <p:sldId xmlns:r="http://schemas.openxmlformats.org/officeDocument/2006/relationships" id="273" r:id="Re2fdeaefb04249ad"/>
    <p:sldId xmlns:r="http://schemas.openxmlformats.org/officeDocument/2006/relationships" id="274" r:id="R6b7d0f55839645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42363227dc4763" /><Relationship Type="http://schemas.openxmlformats.org/officeDocument/2006/relationships/slideMaster" Target="/ppt/slideMasters/slideMaster1.xml" Id="Rc49cc5c488ce4cbe" /><Relationship Type="http://schemas.openxmlformats.org/officeDocument/2006/relationships/notesMaster" Target="/ppt/notesMasters/notesMaster1.xml" Id="Rc01ce924d8504db2" /><Relationship Type="http://schemas.openxmlformats.org/officeDocument/2006/relationships/presProps" Target="/ppt/presProps.xml" Id="R9fe0c3ad8e4a4db4" /><Relationship Type="http://schemas.openxmlformats.org/officeDocument/2006/relationships/tableStyles" Target="/ppt/tableStyles.xml" Id="R33c67c870b6c42db" /><Relationship Type="http://schemas.openxmlformats.org/officeDocument/2006/relationships/slide" Target="/ppt/slides/slide1.xml" Id="Rec511aa6395c451d" /><Relationship Type="http://schemas.openxmlformats.org/officeDocument/2006/relationships/slide" Target="/ppt/slides/slide2.xml" Id="Ra8f070cffa504d90" /><Relationship Type="http://schemas.openxmlformats.org/officeDocument/2006/relationships/slide" Target="/ppt/slides/slide3.xml" Id="R0d9ae8b601024fa6" /><Relationship Type="http://schemas.openxmlformats.org/officeDocument/2006/relationships/slide" Target="/ppt/slides/slide4.xml" Id="Rf92bef66b96b4f04" /><Relationship Type="http://schemas.openxmlformats.org/officeDocument/2006/relationships/slide" Target="/ppt/slides/slide5.xml" Id="R68c6eee568324509" /><Relationship Type="http://schemas.openxmlformats.org/officeDocument/2006/relationships/slide" Target="/ppt/slides/slide6.xml" Id="R2608e10d400e494d" /><Relationship Type="http://schemas.openxmlformats.org/officeDocument/2006/relationships/slide" Target="/ppt/slides/slide7.xml" Id="R79e66aeffdbb4496" /><Relationship Type="http://schemas.openxmlformats.org/officeDocument/2006/relationships/slide" Target="/ppt/slides/slide8.xml" Id="R484c3919920d46f4" /><Relationship Type="http://schemas.openxmlformats.org/officeDocument/2006/relationships/slide" Target="/ppt/slides/slide9.xml" Id="Re810ced6637f460b" /><Relationship Type="http://schemas.openxmlformats.org/officeDocument/2006/relationships/slide" Target="/ppt/slides/slide10.xml" Id="R7d5f44e752114540" /><Relationship Type="http://schemas.openxmlformats.org/officeDocument/2006/relationships/slide" Target="/ppt/slides/slide11.xml" Id="Rff0a6cb589e446e8" /><Relationship Type="http://schemas.openxmlformats.org/officeDocument/2006/relationships/slide" Target="/ppt/slides/slide12.xml" Id="R3bc41eb53d444b48" /><Relationship Type="http://schemas.openxmlformats.org/officeDocument/2006/relationships/slide" Target="/ppt/slides/slide13.xml" Id="R58bf40ab1e284b05" /><Relationship Type="http://schemas.openxmlformats.org/officeDocument/2006/relationships/slide" Target="/ppt/slides/slide14.xml" Id="R9140295d0ef74e79" /><Relationship Type="http://schemas.openxmlformats.org/officeDocument/2006/relationships/slide" Target="/ppt/slides/slide15.xml" Id="R537f99ebb9db4e92" /><Relationship Type="http://schemas.openxmlformats.org/officeDocument/2006/relationships/slide" Target="/ppt/slides/slide16.xml" Id="R13057c88c57e4cb1" /><Relationship Type="http://schemas.openxmlformats.org/officeDocument/2006/relationships/slide" Target="/ppt/slides/slide17.xml" Id="R30d4f3fd3f614180" /><Relationship Type="http://schemas.openxmlformats.org/officeDocument/2006/relationships/slide" Target="/ppt/slides/slide18.xml" Id="Re2fdeaefb04249ad" /><Relationship Type="http://schemas.openxmlformats.org/officeDocument/2006/relationships/slide" Target="/ppt/slides/slide19.xml" Id="R6b7d0f55839645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e3fce1b7e9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ce32444354e20" /><Relationship Type="http://schemas.openxmlformats.org/officeDocument/2006/relationships/notesMaster" Target="/ppt/notesMasters/notesMaster1.xml" Id="Rf6b3288ac3f64f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ae230d48249df" /><Relationship Type="http://schemas.openxmlformats.org/officeDocument/2006/relationships/notesMaster" Target="/ppt/notesMasters/notesMaster1.xml" Id="Rafe213a80ed145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e57b8315524415" /><Relationship Type="http://schemas.openxmlformats.org/officeDocument/2006/relationships/notesMaster" Target="/ppt/notesMasters/notesMaster1.xml" Id="Rf917d3cd8a3645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675c241b64c73" /><Relationship Type="http://schemas.openxmlformats.org/officeDocument/2006/relationships/notesMaster" Target="/ppt/notesMasters/notesMaster1.xml" Id="R49234f08cfd446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39faaca0584a68" /><Relationship Type="http://schemas.openxmlformats.org/officeDocument/2006/relationships/notesMaster" Target="/ppt/notesMasters/notesMaster1.xml" Id="R36b55d6bbd9b48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f21919d1d743a6" /><Relationship Type="http://schemas.openxmlformats.org/officeDocument/2006/relationships/notesMaster" Target="/ppt/notesMasters/notesMaster1.xml" Id="R6cffae0a505f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9e12d4ffe4faa" /><Relationship Type="http://schemas.openxmlformats.org/officeDocument/2006/relationships/notesMaster" Target="/ppt/notesMasters/notesMaster1.xml" Id="R62ed508b91f144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fe9197cc6a450c" /><Relationship Type="http://schemas.openxmlformats.org/officeDocument/2006/relationships/notesMaster" Target="/ppt/notesMasters/notesMaster1.xml" Id="R84ee80680d9c48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08093ed0c44aed" /><Relationship Type="http://schemas.openxmlformats.org/officeDocument/2006/relationships/notesMaster" Target="/ppt/notesMasters/notesMaster1.xml" Id="R359ac0a8455848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25cc4a1824937" /><Relationship Type="http://schemas.openxmlformats.org/officeDocument/2006/relationships/notesMaster" Target="/ppt/notesMasters/notesMaster1.xml" Id="R0513548b6d7e4d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41efba20fd45be" /><Relationship Type="http://schemas.openxmlformats.org/officeDocument/2006/relationships/notesMaster" Target="/ppt/notesMasters/notesMaster1.xml" Id="R4d58ff0ea5a6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849b48ec6443c7" /><Relationship Type="http://schemas.openxmlformats.org/officeDocument/2006/relationships/notesMaster" Target="/ppt/notesMasters/notesMaster1.xml" Id="R9817dc8d546649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5c0bceb12848c3" /><Relationship Type="http://schemas.openxmlformats.org/officeDocument/2006/relationships/notesMaster" Target="/ppt/notesMasters/notesMaster1.xml" Id="R81a8605cdfcd47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6b2b07854341c0" /><Relationship Type="http://schemas.openxmlformats.org/officeDocument/2006/relationships/notesMaster" Target="/ppt/notesMasters/notesMaster1.xml" Id="R504ba2d004024f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417b36078a4501" /><Relationship Type="http://schemas.openxmlformats.org/officeDocument/2006/relationships/notesMaster" Target="/ppt/notesMasters/notesMaster1.xml" Id="R943aa0565c3c4f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d150661ecb471b" /><Relationship Type="http://schemas.openxmlformats.org/officeDocument/2006/relationships/notesMaster" Target="/ppt/notesMasters/notesMaster1.xml" Id="Re796b5c2c1d74a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1da58037f440b4" /><Relationship Type="http://schemas.openxmlformats.org/officeDocument/2006/relationships/notesMaster" Target="/ppt/notesMasters/notesMaster1.xml" Id="Rdad7cc0dba8b49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145661a6864cc5" /><Relationship Type="http://schemas.openxmlformats.org/officeDocument/2006/relationships/notesMaster" Target="/ppt/notesMasters/notesMaster1.xml" Id="Rd73ee51318d34a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e0dc07adef4aa2" /><Relationship Type="http://schemas.openxmlformats.org/officeDocument/2006/relationships/notesMaster" Target="/ppt/notesMasters/notesMaster1.xml" Id="R74f1f874dd9346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開場：本週不需要立即決定創業題目，也不需要提出產品或商業模式。先找到你願意持續理解的真實問題。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老師簡介資料來源：Irene Yuan LinkedIn 公開個人頁面 https://www.linkedin.com/in/irene-yuan-1043323b ，查閱日期 2026-09-17。課堂使用前可由老師更新職稱與照片。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課程流程依老師於 2026-09-17 提供的規則整理：每人先完成痛點探索與訪談，Week 5 小組選出一題並確定 MVP，之後共同推進。小組最多三人。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課堂說明重點：學生可分組，但每人必須先交出一份痛點地圖並完成訪談。小組最多三人。Week 5 才以證據選定共同題目與 MVP。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個人與小組產出依 Startup Journey Lab 課程藍圖及老師於 2026-09-17 提供的分組規則整理。小組最多三人。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請同學想一個自己的校園經驗。示例人物與場景來自指南，不是實測研究資料。先描述發生了什麼。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以五項學習成果說明本週進度。創業題目、產品與商業模式不屬於本週提交要求。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影片連結：https://www.youtube.com/watch?v=BUE-icVYRFU</a:t>
            </a:r>
          </a:p>
          <a:p xmlns:a="http://schemas.openxmlformats.org/drawingml/2006/main">
            <a:r>
              <a:t>這三點是學習指南的教學整理，不是影片逐字引言。播放影片後，引導學生連回自己的經驗。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帶學生循序完成三段記錄。若不知道發生頻率，不必猜測，先寫待確認。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本頁原句與學生回答均為指南教學示例，非實測資料。請同學先自行思考，再和同伴分享自己的回答。自己的感受是線索；</a:t>
            </a:r>
          </a:p>
          <a:p xmlns:a="http://schemas.openxmlformats.org/drawingml/2006/main">
            <a:r>
              <a:t>其他人的經驗仍要了解。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本頁原句與學生回答均為指南教學示例，非實測資料。請同學先自行思考，再和同伴分享自己的回答。把原句與自己的解讀分開。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本頁原句與學生回答均為指南教學示例，非實測資料。請同學先自行思考，再和同伴分享自己的回答。約 20 人排隊，</a:t>
            </a:r>
          </a:p>
          <a:p xmlns:a="http://schemas.openxmlformats.org/drawingml/2006/main">
            <a:r>
              <a:t>不等於每個人等了 20 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本頁原句與學生回答均為指南教學示例，非實測資料。請同學先自行思考，再和同伴分享自己的回答。願意提前選餐，</a:t>
            </a:r>
          </a:p>
          <a:p xmlns:a="http://schemas.openxmlformats.org/drawingml/2006/main">
            <a:r>
              <a:t>目前仍是待驗證的假設。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左右兩欄為指南教學示例。請學生說明每個事實的觀察來源，再將還未確認的內容留在假設欄。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範例摘自指南；人物條件、20分鐘等數字不是實測結論。發生頻率若尚未觀察，就寫待確認。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請學生填寫自己的個人起點卡前四欄。投影片欄位是可編輯文字與線條；課堂提交依網站與老師指定方式進行。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確認第8欄包含期待與擔心兩項。完成後，請同伴協助檢查事實與假設有沒有混在一起。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這是配合指南目標新增的延伸提問示例。下週將從多個問題中挑選一個值得深入研究的方向；保留本週觀察，作為訪談與測試的起點。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不自行添加截止時間或網站網址。請依老師指定的網站與提交方式操作。最後確認學生已保存資料並檢查完成度。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內容來源：startup-journey-lab/docs/WEEK1_學習指南.md</a:t>
            </a:r>
          </a:p>
          <a:p xmlns:a="http://schemas.openxmlformats.org/drawingml/2006/main">
            <a:r>
              <a:t>版型參考：使用者提供 AI創新引爆點_TRIZ_SECI_editable_merged - Repaired.pptx。僅取視覺概念。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c8d8b19f1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046d415664bbe" /><Relationship Type="http://schemas.openxmlformats.org/officeDocument/2006/relationships/slideLayout" Target="/ppt/slideLayouts/slideLayout1.xml" Id="Rc2dbf0fd285c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dbf0fd285c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db56785da4906" /><Relationship Type="http://schemas.openxmlformats.org/officeDocument/2006/relationships/notesSlide" Target="/ppt/notesSlides/notesSlide1.xml" Id="R380ad452aaaf49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ad85f6baa42f8" /><Relationship Type="http://schemas.openxmlformats.org/officeDocument/2006/relationships/notesSlide" Target="/ppt/notesSlides/notesSlide2.xml" Id="Rb2cd1b330a22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cd6e7fdd54fc6" /><Relationship Type="http://schemas.openxmlformats.org/officeDocument/2006/relationships/notesSlide" Target="/ppt/notesSlides/notesSlide3.xml" Id="R9148ffd447a141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d82229df8437c" /><Relationship Type="http://schemas.openxmlformats.org/officeDocument/2006/relationships/notesSlide" Target="/ppt/notesSlides/notesSlide4.xml" Id="Rca0f5cbe796443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25ba997144f1f" /><Relationship Type="http://schemas.openxmlformats.org/officeDocument/2006/relationships/notesSlide" Target="/ppt/notesSlides/notesSlide5.xml" Id="R20eb705aee984e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9c8bfa4954d10" /><Relationship Type="http://schemas.openxmlformats.org/officeDocument/2006/relationships/notesSlide" Target="/ppt/notesSlides/notesSlide6.xml" Id="Ra3f41953440c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585230c434649" /><Relationship Type="http://schemas.openxmlformats.org/officeDocument/2006/relationships/notesSlide" Target="/ppt/notesSlides/notesSlide7.xml" Id="Rf62966ba7b894a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5a813b3aa4969" /><Relationship Type="http://schemas.openxmlformats.org/officeDocument/2006/relationships/notesSlide" Target="/ppt/notesSlides/notesSlide8.xml" Id="R1ebb16a9e0a4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18fccc35e4294" /><Relationship Type="http://schemas.openxmlformats.org/officeDocument/2006/relationships/notesSlide" Target="/ppt/notesSlides/notesSlide9.xml" Id="Ra8fd25f34df84f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5e89c8f8742c3" /><Relationship Type="http://schemas.openxmlformats.org/officeDocument/2006/relationships/notesSlide" Target="/ppt/notesSlides/notesSlide10.xml" Id="R23852e1f203446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487d52084532" /><Relationship Type="http://schemas.openxmlformats.org/officeDocument/2006/relationships/notesSlide" Target="/ppt/notesSlides/notesSlide11.xml" Id="R6148c4f4f70a48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f5781d21649d2" /><Relationship Type="http://schemas.openxmlformats.org/officeDocument/2006/relationships/notesSlide" Target="/ppt/notesSlides/notesSlide12.xml" Id="R450e779723ab4f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91b8b3304207" /><Relationship Type="http://schemas.openxmlformats.org/officeDocument/2006/relationships/notesSlide" Target="/ppt/notesSlides/notesSlide13.xml" Id="R047c3d8ea8404f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775b538ba4968" /><Relationship Type="http://schemas.openxmlformats.org/officeDocument/2006/relationships/notesSlide" Target="/ppt/notesSlides/notesSlide14.xml" Id="R599adccea24b4b8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1dd89d01c4388" /><Relationship Type="http://schemas.openxmlformats.org/officeDocument/2006/relationships/notesSlide" Target="/ppt/notesSlides/notesSlide15.xml" Id="R173d497a390546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03e2353434660" /><Relationship Type="http://schemas.openxmlformats.org/officeDocument/2006/relationships/notesSlide" Target="/ppt/notesSlides/notesSlide16.xml" Id="Re73a4c59885e4b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7094c71ed4b21" /><Relationship Type="http://schemas.openxmlformats.org/officeDocument/2006/relationships/notesSlide" Target="/ppt/notesSlides/notesSlide17.xml" Id="R36943bb864904d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f546414914712" /><Relationship Type="http://schemas.openxmlformats.org/officeDocument/2006/relationships/notesSlide" Target="/ppt/notesSlides/notesSlide18.xml" Id="R83d9912b33c54ff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833d1c2244516" /><Relationship Type="http://schemas.openxmlformats.org/officeDocument/2006/relationships/notesSlide" Target="/ppt/notesSlides/notesSlide19.xml" Id="R77ea3ea5fc47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Should You Start A Startup?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Should You Start</a:t>
            </a:r>
          </a:p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 Startup?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857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從你親身看見的問題開始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本週任務：記下一個值得理解的生活困擾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192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4B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6002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57275"/>
            <a:ext cx="1143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240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95247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授課老師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Irene Yuan 袁孝平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把產業經驗帶進問題探索、驗證與產品實作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25+ 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IT 與科技產業經驗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571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創業與跨國商務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RELinkage 共同創辦人暨 CEO，長期參與國際商務與企業發展。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科技產業實務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具半導體與科技產業經驗，重視問題、證據與執行。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教學與分享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具講師資格與大學授課紀錄，陪學生把想法轉成可測試的行動。</a:t>
            </a:r>
          </a:p>
        </p:txBody>
      </p:sp>
    </p:spTree>
    <p:extLst>
      <p:ext uri="{BB962C8B-B14F-4D97-AF65-F5344CB8AC3E}">
        <p14:creationId xmlns:p14="http://schemas.microsoft.com/office/powerpoint/2010/main" val="18984895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課程地圖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十週完成路徑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前四週人人探索，Week 5 選題，之後小組共同完成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W1–2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每人提出一個生活痛點，完成自己的痛點地圖。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W3–4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95B"/>
          </a:solidFill>
          <a:ln xmlns:a="http://schemas.openxmlformats.org/drawingml/2006/main" w="9525">
            <a:solidFill>
              <a:srgbClr val="143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訪談驗證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每人訪談真實使用者，整理原話、事實與仍待驗證的假設。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W5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27"/>
          </a:solidFill>
          <a:ln xmlns:a="http://schemas.openxmlformats.org/drawingml/2006/main" w="9525">
            <a:solidFill>
              <a:srgbClr val="C9982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小組選題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最多三人一組，比較證據後選一題，定義要測試的 MVP 產品。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W6–10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9525">
            <a:solidFill>
              <a:srgbClr val="12121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共同推進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957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同一組持續完成 MVP、使用者測試、商業模式與成果展示。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5 是轉折點：在此之前保留個人證據，在此之後小組只推進一個共同題目。</a:t>
            </a:r>
          </a:p>
        </p:txBody>
      </p:sp>
    </p:spTree>
    <p:extLst>
      <p:ext uri="{BB962C8B-B14F-4D97-AF65-F5344CB8AC3E}">
        <p14:creationId xmlns:p14="http://schemas.microsoft.com/office/powerpoint/2010/main" val="185888388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個人與小組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個人先完成，再組隊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分組可以共享能力，個人作業仍要留下自己的觀察與證據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9525">
            <a:solidFill>
              <a:srgbClr val="E639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每人一份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每位學生提交自己的痛點地圖，不以一份小組版本取代。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95B"/>
          </a:solidFill>
          <a:ln xmlns:a="http://schemas.openxmlformats.org/drawingml/2006/main" w="9525">
            <a:solidFill>
              <a:srgbClr val="1439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623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每人訪談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623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訪談真正受影響的人，也可訪談其他同學或其他組組員。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719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827"/>
          </a:solidFill>
          <a:ln xmlns:a="http://schemas.openxmlformats.org/drawingml/2006/main" w="9525">
            <a:solidFill>
              <a:srgbClr val="C9982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148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最多三人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148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小組比較每人的證據，Week 5 選出一個題目與 MVP 產品。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選題依據：問題是否具體、使用者是否可接觸、目前證據是否足以支持下一步測試。</a:t>
            </a:r>
          </a:p>
        </p:txBody>
      </p:sp>
    </p:spTree>
    <p:extLst>
      <p:ext uri="{BB962C8B-B14F-4D97-AF65-F5344CB8AC3E}">
        <p14:creationId xmlns:p14="http://schemas.microsoft.com/office/powerpoint/2010/main" val="6824717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9525">
            <a:solidFill>
              <a:srgbClr val="F6F3EE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學期產出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這學期要交出什麼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個人留下探索證據，小組完成一個可測試、可說明的 Startup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62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個人產出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一份痛點地圖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訪談紀錄與使用者原話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事實、假設與選題反思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個人學習與貢獻說明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28875"/>
            <a:ext cx="38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7"/>
          </a:solidFill>
          <a:ln xmlns:a="http://schemas.openxmlformats.org/drawingml/2006/main" w="9525">
            <a:solidFill>
              <a:srgbClr val="D6D0C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小組產出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選題理由與問題證據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Week 5 確定的 MVP 產品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使用者測試、數據與修改紀錄</a:t>
            </a:r>
          </a:p>
          <a:p xmlns:a="http://schemas.openxmlformats.org/drawingml/2006/main">
            <a:pPr algn="l">
              <a:def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商業模式、團隊章程與期末提案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期末成果：一份能說明問題、證據、產品與下一步的 Startup Portfolio。</a:t>
            </a:r>
          </a:p>
        </p:txBody>
      </p:sp>
    </p:spTree>
    <p:extLst>
      <p:ext uri="{BB962C8B-B14F-4D97-AF65-F5344CB8AC3E}">
        <p14:creationId xmlns:p14="http://schemas.microsoft.com/office/powerpoint/2010/main" val="337204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7635BE-3EC3-46CF-8521-D60667B0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校園情境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C87ED-DFF8-45BD-AB94-149DA64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午餐排隊，為什麼讓人這麼困擾？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B84B-9BC9-4C52-A25B-2F1FF44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先看見一個具體現場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3D2D0-F2B6-4AEA-9D63-2E807A9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693C-BC4D-46F8-BE93-FD68E474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81695-5675-4D2C-A0AD-57CB062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E9758-1074-4800-BC68-A8EA754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9246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3A0D5-2350-4792-9DCE-EFB72089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51EDB-7E14-4C4F-B67B-5D5501CA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62293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 xmlns:a="http://schemas.openxmlformats.org/drawingml/2006/main">
            <a:pPr>
              <a:buNone/>
              <a:def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5FBF1-E297-4C20-A32E-F2F959A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15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星期三中午  /  校園餐廳外  /  同學小芸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DC5E7-8CDE-4F33-92F6-656640CF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71775"/>
            <a:ext cx="3305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DE6FE-4084-4883-825E-FECA9C49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校園餐廳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AD12A-7A09-46C5-996C-CEFF3D7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0AC28-8FB7-4957-A9C4-85B78606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CC67B-F573-4E95-AD9C-24E912E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BA32B-F350-4B1F-AF92-2DAB1627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7B3D5E-3E31-46DE-8AA8-7D8C2183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4CD36-EC97-485D-92FD-6C370881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7CC69-72DE-4E07-878B-3ECE8A5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9A704-B3C7-4122-8AA3-C065310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CD60C-D707-4FC2-BE2F-55B296B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62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458D7-8388-4F60-B024-A8249B1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476250" cy="6096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7161A-F112-4D15-A01F-1AA4C30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60602-FDDD-401C-9ACA-59F2625B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9600"/>
            <a:ext cx="13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D23766-27D3-4D4D-BFE5-010DE82E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6150"/>
            <a:ext cx="742950" cy="742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9209A-0562-4EAE-B62C-A545A6EA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6385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6FC0D9-77BD-448C-B77B-E04A3351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8766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B356F-5F7B-4013-B995-09FAE01A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29200"/>
            <a:ext cx="3495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E11BE-F545-4D47-A7F8-F63D275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你最近聽到的抱怨，發生在哪個現場？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647F41-F816-4276-ABEC-7015C8FD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8162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教學示例</a:t>
            </a:r>
          </a:p>
        </p:txBody>
      </p:sp>
    </p:spTree>
    <p:extLst>
      <p:ext uri="{BB962C8B-B14F-4D97-AF65-F5344CB8AC3E}">
        <p14:creationId xmlns:p14="http://schemas.microsoft.com/office/powerpoint/2010/main" val="55228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學習目標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本週完成五件事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把生活中的困擾，記成可以追問的觀察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說出為何要從真實問題與使用者開始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2417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記下一句親耳聽到或親身經歷的抱怨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909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說清楚時間、地點、人物與情境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91025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243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分開「已知事實」與「待驗證假設」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1026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寫下下週最想問使用者的一題</a:t>
            </a:r>
          </a:p>
        </p:txBody>
      </p:sp>
    </p:spTree>
    <p:extLst>
      <p:ext uri="{BB962C8B-B14F-4D97-AF65-F5344CB8AC3E}">
        <p14:creationId xmlns:p14="http://schemas.microsoft.com/office/powerpoint/2010/main" val="744320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51CBA-82C8-49B5-A679-27E21DDA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課堂影片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9374-2343-4BE3-AE6F-481B7C3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影片重點：你願意持續理解什麼問題？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6ED46-4B5C-4DE7-94D9-EF51017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Should You Start A Startup?｜YC Startup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743C-E6CE-49C9-BD81-75FB94AC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1E72-43CF-4ECE-A142-A56C8C16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09966-2A99-4B30-A195-E662ECAA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6F5E4-C3D8-4E4D-8F60-4C7501D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E7AC2-3FA7-4FF0-91BB-4CE9E08D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7D7B0-EB44-4452-8EC9-27585F6E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F5000-F6DE-4B6B-AB29-8976DBD3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你真正關心什麼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69BBE-5B34-47BC-AC81-43C21498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留意自己願意持續</a:t>
            </a:r>
          </a:p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探索的生活問題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711E8-48F8-4470-B2F2-9B9309AA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2E1C9-ED85-4072-8D04-16B70667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DF27D-3C58-4069-AC3A-1DFF4E8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AED7C-4A37-439A-AD2D-EC14CC7F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先理解人與問題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30F38-691F-4AD4-AB4F-B49E192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從真實情境出發，</a:t>
            </a:r>
          </a:p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了解使用者的困擾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8B680-9E4E-4BFF-81B0-EC04CA5C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C8991-0650-474B-940A-AE6FFAE5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3840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F71F3-B5CE-448C-A307-D2AC2F3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76525"/>
            <a:ext cx="95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F892-140A-4F15-A4D1-276CA717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接受不確定與修改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64BC5-91BD-4DD7-9BF4-DE15765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314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探索過程中，</a:t>
            </a:r>
          </a:p>
          <a:p xmlns:a="http://schemas.openxmlformats.org/drawingml/2006/main">
            <a:pPr>
              <a:buNone/>
              <a:def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持續學習與調整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80CEC-8842-4BB2-942D-C861E4E0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重點依本週學習指南整理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F63D8-2087-40C4-9F97-289B0558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影片：youtube.com/watch?v=BUE-icVYRFU</a:t>
            </a:r>
          </a:p>
        </p:txBody>
      </p:sp>
    </p:spTree>
    <p:extLst>
      <p:ext uri="{BB962C8B-B14F-4D97-AF65-F5344CB8AC3E}">
        <p14:creationId xmlns:p14="http://schemas.microsoft.com/office/powerpoint/2010/main" val="1121047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練習流程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三段痛點發現練習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原句與現場 → 痛點輪廓 → 事實與未知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原句與現場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誰說的？何時？在哪裡？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保留一句沒有修飾的抱怨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9090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痛點輪廓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8140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誰常遇到？多久一次？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5765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影響是什麼？現在怎麼處理？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91050"/>
            <a:ext cx="10201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事實與未知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781550"/>
            <a:ext cx="6715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看見什麼？猜測什麼？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257800"/>
            <a:ext cx="671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下週最想追問哪一題？</a:t>
            </a:r>
          </a:p>
        </p:txBody>
      </p:sp>
    </p:spTree>
    <p:extLst>
      <p:ext uri="{BB962C8B-B14F-4D97-AF65-F5344CB8AC3E}">
        <p14:creationId xmlns:p14="http://schemas.microsoft.com/office/powerpoint/2010/main" val="1180707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1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我為什麼關心這個問題？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把個人經驗與生活影響說清楚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我常因午餐排隊太久，</a:t>
            </a:r>
          </a:p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吃得很趕，</a:t>
            </a:r>
          </a:p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下午上課也很累。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哪段經驗讓你在意？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它如何影響你的生活？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自己的感受是線索；其他人的經驗仍要了解。</a:t>
            </a:r>
          </a:p>
        </p:txBody>
      </p:sp>
    </p:spTree>
    <p:extLst>
      <p:ext uri="{BB962C8B-B14F-4D97-AF65-F5344CB8AC3E}">
        <p14:creationId xmlns:p14="http://schemas.microsoft.com/office/powerpoint/2010/main" val="110252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2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我聽到或看到的原句是什麼？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保留當事人的說法，再補上現場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「我又要遲到了，</a:t>
            </a:r>
          </a:p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午餐排隊根本來不及。」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人物：同學小芸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時間與地點：</a:t>
            </a:r>
          </a:p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星期三中午，校園餐廳外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把原句與自己的解讀分開。</a:t>
            </a:r>
          </a:p>
        </p:txBody>
      </p:sp>
    </p:spTree>
    <p:extLst>
      <p:ext uri="{BB962C8B-B14F-4D97-AF65-F5344CB8AC3E}">
        <p14:creationId xmlns:p14="http://schemas.microsoft.com/office/powerpoint/2010/main" val="1195954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AF06B-144A-4A96-B49C-2E71E3D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討論 3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BC339-A0B6-42D3-8A8E-4305C418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哪些是事實？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A7BF4-4954-413B-8C5B-7EE13B29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寫下可以交代時間、地點與觀察的內容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CCA24-C90C-4AC9-B08C-76D9915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0C966-124B-4D5C-8E84-C7D0796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4A360-A1BF-4395-9A63-31FDBD9D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A2FF7-5422-4527-9283-E7FB9EC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F40A1-F748-4CD6-8C45-46E4FB9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BF9EB-35F8-4D32-8ACF-9021618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CEFE7-8FAF-4F0E-A3B3-5D634686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 12:10 至 12:30，</a:t>
            </a:r>
          </a:p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我看到餐廳外</a:t>
            </a:r>
          </a:p>
          <a:p xmlns:a="http://schemas.openxmlformats.org/drawingml/2006/main">
            <a:pPr>
              <a:buNone/>
              <a:def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約 20 人排隊。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51824-B881-4CAE-80DB-01C0CCF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16C6-1E98-4F6C-AD27-375E1B72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什麼時候？在哪裡？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B4C04-78D1-4EFC-9323-45BC7D62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94763-1F7F-43DA-81BE-D51ECFE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你實際看到什麼？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2092A-4D51-4639-9619-2FF162B0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約 20 人排隊，不等於每個人等了 20 分鐘。</a:t>
            </a:r>
          </a:p>
        </p:txBody>
      </p:sp>
    </p:spTree>
    <p:extLst>
      <p:ext uri="{BB962C8B-B14F-4D97-AF65-F5344CB8AC3E}">
        <p14:creationId xmlns:p14="http://schemas.microsoft.com/office/powerpoint/2010/main" val="1045349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28F05-7C65-4498-B38D-E705A99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討論 4 /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577F5-BFBD-4B0C-9DC2-8068A841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哪些還不知道？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7C534-3C74-43B6-913C-16C1246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把猜測寫成待確認的問題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1133-4200-4B6F-9CEE-5722164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F5D04-D424-463C-A3C0-24F671A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82062-99BC-4CC4-96B2-29A72019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13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AA4CA-17E2-4DD5-B9C6-C1A6B9B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4293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16438-45F4-42A9-9F1D-A85AC0AE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66675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8CDEF-17FE-4567-8A90-8165A121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學生回答示例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A299-D7C3-4772-9E83-544E07D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85787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我不知道學生是否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願意提前選餐，</a:t>
            </a:r>
          </a:p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換取較短的等待時間。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B7223-C1B6-443D-A09E-BC25CA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3790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一起追問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B3A6D-F741-4453-8E90-956BE00F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377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其他人也有相同困擾嗎？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E581B-F7EA-41C0-933A-86CADDD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8E166-5CED-4A9A-A28D-4B61ECE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90975"/>
            <a:ext cx="3781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現在如何處理？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願意改變習慣嗎？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55943-4972-48DF-9A48-1C155A9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願意提前選餐，目前仍是待驗證的假設。</a:t>
            </a:r>
          </a:p>
        </p:txBody>
      </p:sp>
    </p:spTree>
    <p:extLst>
      <p:ext uri="{BB962C8B-B14F-4D97-AF65-F5344CB8AC3E}">
        <p14:creationId xmlns:p14="http://schemas.microsoft.com/office/powerpoint/2010/main" val="112115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辨識證據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事實與假設，分開寫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已經看見的，與仍需確認的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事實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星期三 12:10–12:30，</a:t>
            </a:r>
          </a:p>
          <a:p xmlns:a="http://schemas.openxmlformats.org/drawingml/2006/main">
            <a:pPr>
              <a:buNone/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餐廳外約 20 人排隊。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這次現場觀察到了什麼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53721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479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假設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67075"/>
            <a:ext cx="4886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學生願意提前選餐，</a:t>
            </a:r>
          </a:p>
          <a:p xmlns:a="http://schemas.openxmlformats.org/drawingml/2006/main">
            <a:pPr>
              <a:buNone/>
              <a:def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換取較短的等待時間。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57725"/>
            <a:ext cx="4886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這個想法尚待確認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有排隊現象，不代表預約取餐就是需要的解法</a:t>
            </a:r>
          </a:p>
        </p:txBody>
      </p:sp>
    </p:spTree>
    <p:extLst>
      <p:ext uri="{BB962C8B-B14F-4D97-AF65-F5344CB8AC3E}">
        <p14:creationId xmlns:p14="http://schemas.microsoft.com/office/powerpoint/2010/main" val="19064308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758EE-CD86-48B7-9528-D7F1ABB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教學示例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08B2D-B5A5-4C29-AC67-4F609BC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把痛點輪廓補完整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344C-5FEC-4E4B-ADC7-6A1F81F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了解受影響的人，也記錄他們現在怎麼處理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DA960-2142-4AA8-995C-CA83244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1B358-EF55-433A-8C01-0CA7654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8098-6BDA-42DF-A127-0FA3683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7CC-9AE6-46B1-9743-23518AD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4A629-9C9A-413E-B4D0-4A97011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受影響的人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1B910-5196-43A9-BEA5-4EEAB468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3840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中午只有 50 分鐘空檔的學生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A165C-D9D7-43F9-ACA1-D8242F9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2895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C1EEE-5161-4193-8F3E-7037FA3F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4F02C-5EE6-4782-B407-6B2ECB4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發生的情境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FD529-F489-4B5D-89AC-1E01DFEC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0992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午餐尖峰時段排隊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FCBDC-21FE-44B9-894A-F61DFD2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00475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E1DD2-4CD5-4252-ABCC-53AC0262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A06E9-B0C2-4FDE-90A6-C2391F0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生活中的影響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CEE49-84FB-4548-8DE8-7C47D42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81450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吃得很趕，甚至不吃午餐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18B70-D194-4C9C-8FE3-6F5886EC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816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0C033-9B59-4F45-B65B-E28E2425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428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17F3F-EA23-412B-8332-A63CBF0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2171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目前的做法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E5E0B-8F52-432E-AB48-77C12225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52975"/>
            <a:ext cx="795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提早 20 分鐘排隊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F7644-0D00-471F-B615-B1B17A0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55734-41A4-4D8E-AB83-784EDE4A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待確認：發生頻率，以及其他學生是否有相同經驗</a:t>
            </a:r>
          </a:p>
        </p:txBody>
      </p:sp>
    </p:spTree>
    <p:extLst>
      <p:ext uri="{BB962C8B-B14F-4D97-AF65-F5344CB8AC3E}">
        <p14:creationId xmlns:p14="http://schemas.microsoft.com/office/powerpoint/2010/main" val="10833296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本週產出 1 /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個人起點卡｜先記下觀察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用你自己的真實經驗填寫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一句原話或親身的抱怨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保留原意，寫下具體說法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發生的情境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時間、地點、人物與當時發生的事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受到影響的人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誰遇到這個困擾？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生活不便的描述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它如何影響日常生活？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39407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FA8C43-4D14-4E8C-855D-2889AFA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本週產出 2 /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9ED36-4AA3-4F9F-9C60-211D2D8A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個人起點卡｜再寫下未知與期待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A5486-E8D9-4987-855E-C6CD366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先分清證據，再留下下週要追問的方向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4BA38-8990-412B-9C1D-0A8E390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4054D-90AA-4ABA-B0B0-B3C720BA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A8A27-4E4A-4434-B71C-4B3B7CA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17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D3F80-E2AD-43FA-9AFB-1FBFA3C3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9ABDC-4359-4ED4-BB66-A1ED698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DD043-484B-4C4A-B588-72EC2FA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8BC1-6030-49A9-A850-933F9CE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目前知道的事實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C1FD6-4D57-4EE3-9121-C6B9E15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記錄看見或聽到的內容與情境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2CB0C-DADA-4EF6-9188-22027D6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3E805-98A1-43EE-8DF6-38C4DB29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4AED-AC06-4358-BA1C-DF61F51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15D75-B599-4B34-AA8C-DABD956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9139F-08DB-4996-BDAA-D6A9B34A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05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仍待驗證的假設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AF7D7-1561-488C-94AC-F6C0FDB1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哪些還是猜測？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9A6C0-5AB0-423D-BB2B-D84337A1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CEDE4-238E-4285-93C9-C6D5E45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9DA36-489E-40FA-AA2C-1E1024E9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A975C-BB8D-4E24-9AD9-B9306A4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CD130-7FBF-4137-A50A-C8E9AA79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下週最想問的一題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EB1A9-C2E4-4B8F-BA67-C669AF3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先了解使用者的真實經驗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D0B71-E992-4185-9356-2C5A207D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16008-54D5-4AF7-AF78-8DEDE60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5372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74CA82-DE00-48D0-9AB8-9C49637D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2A4D8-F5BC-4374-83B4-B3FE8D20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1134F-C9C8-44DF-9CAB-24A00222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最期待與最擔心的事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8F6E3-4705-46D0-A1EC-BB3B66B9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19675"/>
            <a:ext cx="48672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期待：＿＿＿＿　擔心：＿＿＿＿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E9309-FE12-4B5B-83F7-C857AF7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29275"/>
            <a:ext cx="490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27401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1  /  準備訪談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下週，我想問使用者什麼？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先了解最近一次真實經驗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18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94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0287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「你最近一次午餐排隊，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從開始排到吃完，</a:t>
            </a: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發生了什麼事？」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可以追問：當時怎麼處理？造成什麼困擾？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延伸提問示例｜請換成你想了解的問題與情境</a:t>
            </a:r>
          </a:p>
        </p:txBody>
      </p:sp>
    </p:spTree>
    <p:extLst>
      <p:ext uri="{BB962C8B-B14F-4D97-AF65-F5344CB8AC3E}">
        <p14:creationId xmlns:p14="http://schemas.microsoft.com/office/powerpoint/2010/main" val="14562074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1  /  本週完成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離堂前提交清單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保存、確認，再依老師指定方式繳交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03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19 / 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383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原話、情境、受影響的人與生活不便已填寫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已分開目前事實與待驗證假設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2422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已寫下下週最想問使用者的一題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D3A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已寫下最期待與最擔心的事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已在網站保存資料，並確認完成度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394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已依老師指定方式繳交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A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25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保留本週觀察，帶到下週。</a:t>
            </a:r>
          </a:p>
        </p:txBody>
      </p:sp>
    </p:spTree>
    <p:extLst>
      <p:ext uri="{BB962C8B-B14F-4D97-AF65-F5344CB8AC3E}">
        <p14:creationId xmlns:p14="http://schemas.microsoft.com/office/powerpoint/2010/main" val="1481128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2026-09-17T00:47:06.2240000Z</dcterms:created>
  <dcterms:modified xsi:type="dcterms:W3CDTF">2026-09-17T00:47:06.2240000Z</dcterms:modified>
</coreProperties>
</file>