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aa2c494ff6534158" Type="http://schemas.openxmlformats.org/package/2006/relationships/metadata/core-properties" Target="docProps/core.xml"/><Relationship Id="Rd7e0ccb774ee4da3" Type="http://schemas.openxmlformats.org/officeDocument/2006/relationships/officeDocument" Target="ppt/presentation.xml"/><Relationship Id="Red5eaeb31f1f489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9d81ccdc3d4373"/>
  </p:sldMasterIdLst>
  <p:notesMasterIdLst>
    <p:notesMasterId xmlns:r="http://schemas.openxmlformats.org/officeDocument/2006/relationships" r:id="Rae5565e222f94311"/>
  </p:notesMasterIdLst>
  <p:sldIdLst>
    <p:sldId xmlns:ns0="http://schemas.openxmlformats.org/officeDocument/2006/relationships" id="281" ns0:id="rId31"/>
    <p:sldId xmlns:ns0="http://schemas.openxmlformats.org/officeDocument/2006/relationships" id="282" ns0:id="rId32"/>
    <p:sldId xmlns:ns0="http://schemas.openxmlformats.org/officeDocument/2006/relationships" id="283" ns0:id="rId33"/>
    <p:sldId xmlns:ns0="http://schemas.openxmlformats.org/officeDocument/2006/relationships" id="284" ns0:id="rId34"/>
    <p:sldId xmlns:ns0="http://schemas.openxmlformats.org/officeDocument/2006/relationships" id="285" ns0:id="rId35"/>
    <p:sldId xmlns:ns0="http://schemas.openxmlformats.org/officeDocument/2006/relationships" id="286" ns0:id="rId36"/>
    <p:sldId xmlns:ns0="http://schemas.openxmlformats.org/officeDocument/2006/relationships" id="287" ns0:id="rId37"/>
    <p:sldId xmlns:ns0="http://schemas.openxmlformats.org/officeDocument/2006/relationships" id="288" ns0:id="rId38"/>
    <p:sldId xmlns:ns0="http://schemas.openxmlformats.org/officeDocument/2006/relationships" id="289" ns0:id="rId39"/>
    <p:sldId xmlns:ns0="http://schemas.openxmlformats.org/officeDocument/2006/relationships" id="290" ns0:id="rId40"/>
    <p:sldId xmlns:ns0="http://schemas.openxmlformats.org/officeDocument/2006/relationships" id="291" ns0:id="rId41"/>
    <p:sldId xmlns:ns0="http://schemas.openxmlformats.org/officeDocument/2006/relationships" id="292" ns0:id="rId42"/>
    <p:sldId xmlns:ns0="http://schemas.openxmlformats.org/officeDocument/2006/relationships" id="293" ns0:id="rId43"/>
    <p:sldId xmlns:ns0="http://schemas.openxmlformats.org/officeDocument/2006/relationships" id="294" ns0:id="rId44"/>
    <p:sldId xmlns:ns0="http://schemas.openxmlformats.org/officeDocument/2006/relationships" id="295" ns0:id="rId45"/>
    <p:sldId xmlns:ns0="http://schemas.openxmlformats.org/officeDocument/2006/relationships" id="296" ns0:id="rId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f9775db36e4347" Type="http://schemas.openxmlformats.org/officeDocument/2006/relationships/theme" Target="theme/theme1.xml"/><Relationship Id="R209d81ccdc3d4373" Type="http://schemas.openxmlformats.org/officeDocument/2006/relationships/slideMaster" Target="slideMasters/slideMaster1.xml"/><Relationship Id="Rae5565e222f94311" Type="http://schemas.openxmlformats.org/officeDocument/2006/relationships/notesMaster" Target="notesMasters/notesMaster1.xml"/><Relationship Id="Rc3130170706542df" Type="http://schemas.openxmlformats.org/officeDocument/2006/relationships/presProps" Target="presProps.xml"/><Relationship Id="Rdae1bc0b7b5049c6" Type="http://schemas.openxmlformats.org/officeDocument/2006/relationships/tableStyles" Target="tableStyles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4636b259947a4c7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'1.0' encoding='UTF-8' standalone='yes'?>
<Relationships xmlns="http://schemas.openxmlformats.org/package/2006/relationships"><Relationship Id="Ra21de335dda5480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400e1906020446b" Type="http://schemas.openxmlformats.org/officeDocument/2006/relationships/slideLayout" Target="../slideLayouts/slideLayout1.xml"/><Relationship Id="R42e31e3cb9d94436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00e190602044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3" name="">
            <a:extLst>
              <a:ext uri="{FF2B5EF4-FFF2-40B4-BE49-F238E27FC236}">
                <a16:creationId xmlns:a16="http://schemas.microsoft.com/office/drawing/2014/main" id="{B610B403-B5AE-4645-BFCA-BCD615455D8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4F53071F-7357-4072-9247-7EBFB78BD22B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5B87038-7D87-4EF3-B380-7070A034192B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09B105CA-B3D7-4A85-B7E2-2F9A43F502C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01 / 16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BC0733B6-EB6B-43EB-877A-C39DF623DF80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8096250" cy="1866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5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三個機會比一比，選最值得創業的一個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0DE52D0-9EC0-4155-9667-C91406C521CE}"/>
              </a:ext>
            </a:extLst>
          </p:cNvPr>
          <p:cNvSpPr>
            <a:spLocks noGrp="1"/>
          </p:cNvSpPr>
          <p:nvPr/>
        </p:nvSpPr>
        <p:spPr>
          <a:xfrm>
            <a:off x="609600" y="3505200"/>
            <a:ext cx="857250" cy="666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4CCD487-64AF-492D-974A-CFA516763AC0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五問計分、AI 反方三回合，讓證據替你選；寫一頁「為什麼這是好的商業痛點」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57AE6CC-17D3-43F0-840B-ADD9C52C97A1}"/>
              </a:ext>
            </a:extLst>
          </p:cNvPr>
          <p:cNvSpPr>
            <a:spLocks noGrp="1"/>
          </p:cNvSpPr>
          <p:nvPr/>
        </p:nvSpPr>
        <p:spPr>
          <a:xfrm>
            <a:off x="609600" y="4857750"/>
            <a:ext cx="9525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本週：課堂兩題＋3×5 計分表＋選一個＋反方三回合＋一頁六段；課後研究筆記 v2 ＝ 期中 PDF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7233630-81BE-42E3-99E0-8D1098FE04BD}"/>
              </a:ext>
            </a:extLst>
          </p:cNvPr>
          <p:cNvSpPr>
            <a:spLocks noGrp="1"/>
          </p:cNvSpPr>
          <p:nvPr/>
        </p:nvSpPr>
        <p:spPr>
          <a:xfrm>
            <a:off x="9848850" y="1219200"/>
            <a:ext cx="1524000" cy="1524000"/>
          </a:xfrm>
          <a:prstGeom prst="ellipse">
            <a:avLst/>
          </a:prstGeom>
          <a:noFill/>
          <a:ln w="19050">
            <a:solidFill>
              <a:srgbClr val="4B4B4B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4CC1D9C-10A4-485F-9F4A-496C98CD1B49}"/>
              </a:ext>
            </a:extLst>
          </p:cNvPr>
          <p:cNvSpPr>
            <a:spLocks noGrp="1"/>
          </p:cNvSpPr>
          <p:nvPr/>
        </p:nvSpPr>
        <p:spPr>
          <a:xfrm>
            <a:off x="10229850" y="1600200"/>
            <a:ext cx="762000" cy="7620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4E63A64-AA39-427E-8BEF-CAE4CF94631B}"/>
              </a:ext>
            </a:extLst>
          </p:cNvPr>
          <p:cNvSpPr>
            <a:spLocks noGrp="1"/>
          </p:cNvSpPr>
          <p:nvPr/>
        </p:nvSpPr>
        <p:spPr>
          <a:xfrm>
            <a:off x="10553700" y="1057275"/>
            <a:ext cx="114300" cy="184785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7F60DA69-ABAF-45C4-B82B-278A8483BC8F}"/>
              </a:ext>
            </a:extLst>
          </p:cNvPr>
          <p:cNvSpPr>
            <a:spLocks noGrp="1"/>
          </p:cNvSpPr>
          <p:nvPr/>
        </p:nvSpPr>
        <p:spPr>
          <a:xfrm>
            <a:off x="9658350" y="1924050"/>
            <a:ext cx="1924050" cy="1143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先回顧：Week 4 的三個機會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每個機會一句話：誰的哪個困難 → 第一個付錢的人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02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有名字嗎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「第一個付錢的人」是一個人，不是一個產業：「管 50 套分租套房的包租業者」可以，「所有餐飲業者」不行。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有證據嗎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卡 1 的錢流與困難、卡 2 有來源的六題，就是今天計分表每一格要填的證據。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三個都在 app 裡嗎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比較頁會自動從卡 3 帶出三句；卡 3 空的同學先回 Week 4 補，不然今天沒東西可比。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請兩位同學唸自己的 A／B／C。全班只聽一件事：第一個付錢的人有沒有名字。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課前預習回顧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影片下面的三題：這一格該打幾分？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03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「老闆請了工讀生專門回 LINE，月薪兩萬」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 分。有名字（老闆）、有數字（兩萬）、有付給誰（工讀生）：已經有人付錢給替代方案。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「現在 AI 很強，什麼都做得到」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 分。套在任何題目都成立，等於沒說。要說近三年哪一個具體改變讓這個痛變得可解。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「全台灣的餐飲業者都需要」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 分。「所有業者」不是一個人。第一個付錢的人要有名字、接觸得到。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沒看影片的同學現在知道今天的規則了：2 分＝有名字、有數字、說得出為什麼。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">
            <a:extLst>
              <a:ext uri="{FF2B5EF4-FFF2-40B4-BE49-F238E27FC236}">
                <a16:creationId xmlns:a16="http://schemas.microsoft.com/office/drawing/2014/main" id="{F3FCDF75-2150-48E4-B56F-54EE85CB8E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62117E7-3FEE-4F02-9D1B-FE1381C73976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3B93369F-C690-4E39-99F1-43A84D86102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本週共同成果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723C0CB-9629-42A9-BAD8-A60726031031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每人一個選定的機會、一份反方紀錄、一頁六段；加上 Week 4 筆記就是期中 PDF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CDD7C55-A052-46C0-87AF-EC4BB7EE358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49BDE64-B47E-4B0D-A413-005295AA6EA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18BF7E24-C488-4726-A5FF-321EE84BADC9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04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95D2251-FE5C-4EEC-A522-725F6A0A6105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31432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3 × 5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68D357CF-B3B1-4D53-8508-4A38FEEE02DE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計分表：三個機會 × 五個問題，每格 0／1／2 ＋ 一句證據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105E5CF5-D6FE-490E-B9A5-6F8A95CD06B6}"/>
              </a:ext>
            </a:extLst>
          </p:cNvPr>
          <p:cNvSpPr>
            <a:spLocks noGrp="1"/>
          </p:cNvSpPr>
          <p:nvPr/>
        </p:nvSpPr>
        <p:spPr>
          <a:xfrm>
            <a:off x="4333875" y="2476500"/>
            <a:ext cx="57150" cy="276225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F9524EDB-3A59-47EA-BB11-2F0D55356ABC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D7FCDB6-2A20-44EC-BA71-2375E21CE9DB}"/>
              </a:ext>
            </a:extLst>
          </p:cNvPr>
          <p:cNvSpPr>
            <a:spLocks noGrp="1"/>
          </p:cNvSpPr>
          <p:nvPr/>
        </p:nvSpPr>
        <p:spPr>
          <a:xfrm>
            <a:off x="4762500" y="2914650"/>
            <a:ext cx="6191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在比較頁最上面。上課時段內存檔＝出席；可以按「讓 AI 評我的答案」，選填、不計分。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4DED09D-724E-4EDF-A764-092D4FEF1F7C}"/>
              </a:ext>
            </a:extLst>
          </p:cNvPr>
          <p:cNvSpPr>
            <a:spLocks noGrp="1"/>
          </p:cNvSpPr>
          <p:nvPr/>
        </p:nvSpPr>
        <p:spPr>
          <a:xfrm>
            <a:off x="4762500" y="3762375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選一個＋反方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4820CB8D-FACD-4040-B274-01B197A61A6B}"/>
              </a:ext>
            </a:extLst>
          </p:cNvPr>
          <p:cNvSpPr>
            <a:spLocks noGrp="1"/>
          </p:cNvSpPr>
          <p:nvPr/>
        </p:nvSpPr>
        <p:spPr>
          <a:xfrm>
            <a:off x="4762500" y="4200525"/>
            <a:ext cx="6191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最高分的交給 AI 反方拒絕三回合；選非最高分也可以，多寫一段理由。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455EB71-7177-43A7-83A1-197F8F1C670B}"/>
              </a:ext>
            </a:extLst>
          </p:cNvPr>
          <p:cNvSpPr>
            <a:spLocks noGrp="1"/>
          </p:cNvSpPr>
          <p:nvPr/>
        </p:nvSpPr>
        <p:spPr>
          <a:xfrm>
            <a:off x="4762500" y="49530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一頁六段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BCD5218-7EF4-4D85-AB21-A2BF59B8C003}"/>
              </a:ext>
            </a:extLst>
          </p:cNvPr>
          <p:cNvSpPr>
            <a:spLocks noGrp="1"/>
          </p:cNvSpPr>
          <p:nvPr/>
        </p:nvSpPr>
        <p:spPr>
          <a:xfrm>
            <a:off x="4762500" y="5391150"/>
            <a:ext cx="61912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照五問順序，每段一句主張、一個證據、一個理論名；第六段寫反方與回應。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">
            <a:extLst>
              <a:ext uri="{FF2B5EF4-FFF2-40B4-BE49-F238E27FC236}">
                <a16:creationId xmlns:a16="http://schemas.microsoft.com/office/drawing/2014/main" id="{5531F714-86A9-41DF-AD33-70581D9C98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6B808D6-018D-47D8-9ED1-E258414C863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FBFC5E8F-C9C1-4177-B8F6-345D5EAE0A5D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120 分鐘課堂流程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2E84BB7-4F61-40AE-A611-46F8EFD8B6C0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先把尺講清楚，再動手：打分、反方、寫一頁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57C7377-C278-49DF-BE76-49263FE104B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11D6D99-8225-4FBC-9CA5-6628D9A8E51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65ED00B1-C76C-4031-9373-985BE7591EA6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05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7B5694A-186D-4385-8D67-2E07E7CE303F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0–45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A1E3B43-C9CB-4B29-80A2-6C96B832E5B3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2381250" cy="66675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79F13F-07E9-48B5-BE87-307165CEAF2F}"/>
              </a:ext>
            </a:extLst>
          </p:cNvPr>
          <p:cNvSpPr>
            <a:spLocks noGrp="1"/>
          </p:cNvSpPr>
          <p:nvPr/>
        </p:nvSpPr>
        <p:spPr>
          <a:xfrm>
            <a:off x="6096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回顧與理論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0ACA1704-15B0-460F-9117-A5F2DBF2B37C}"/>
              </a:ext>
            </a:extLst>
          </p:cNvPr>
          <p:cNvSpPr>
            <a:spLocks noGrp="1"/>
          </p:cNvSpPr>
          <p:nvPr/>
        </p:nvSpPr>
        <p:spPr>
          <a:xfrm>
            <a:off x="6096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0–20 回顧三個機會、課前三題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20–45 五問的理論與 0／1／2 怎麼判；課堂兩題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74765FF-AABC-4783-A111-0B879A99DC27}"/>
              </a:ext>
            </a:extLst>
          </p:cNvPr>
          <p:cNvSpPr>
            <a:spLocks noGrp="1"/>
          </p:cNvSpPr>
          <p:nvPr/>
        </p:nvSpPr>
        <p:spPr>
          <a:xfrm>
            <a:off x="33528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45–75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CD84D9D-1D7F-49AA-A3C8-C262DFA0BF81}"/>
              </a:ext>
            </a:extLst>
          </p:cNvPr>
          <p:cNvSpPr>
            <a:spLocks noGrp="1"/>
          </p:cNvSpPr>
          <p:nvPr/>
        </p:nvSpPr>
        <p:spPr>
          <a:xfrm>
            <a:off x="3352800" y="3028950"/>
            <a:ext cx="2381250" cy="66675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227B89E0-6965-4B71-9EAD-C9AC5A3753A0}"/>
              </a:ext>
            </a:extLst>
          </p:cNvPr>
          <p:cNvSpPr>
            <a:spLocks noGrp="1"/>
          </p:cNvSpPr>
          <p:nvPr/>
        </p:nvSpPr>
        <p:spPr>
          <a:xfrm>
            <a:off x="33528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打分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88ADD9B-7BEF-4514-8B56-96583D3706AF}"/>
              </a:ext>
            </a:extLst>
          </p:cNvPr>
          <p:cNvSpPr>
            <a:spLocks noGrp="1"/>
          </p:cNvSpPr>
          <p:nvPr/>
        </p:nvSpPr>
        <p:spPr>
          <a:xfrm>
            <a:off x="33528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每格先按 0／1／2，再寫一句證據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總分出來、最高分亮起；選一個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3E6CEEB3-3205-4A53-B9AC-D7B5700A7E9F}"/>
              </a:ext>
            </a:extLst>
          </p:cNvPr>
          <p:cNvSpPr>
            <a:spLocks noGrp="1"/>
          </p:cNvSpPr>
          <p:nvPr/>
        </p:nvSpPr>
        <p:spPr>
          <a:xfrm>
            <a:off x="60960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rPr>
              <a:t>75–100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DDC319AD-69AD-479E-B19E-FBD96DD46C11}"/>
              </a:ext>
            </a:extLst>
          </p:cNvPr>
          <p:cNvSpPr>
            <a:spLocks noGrp="1"/>
          </p:cNvSpPr>
          <p:nvPr/>
        </p:nvSpPr>
        <p:spPr>
          <a:xfrm>
            <a:off x="6096000" y="3028950"/>
            <a:ext cx="2381250" cy="66675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E54D6ADA-B64A-4DA4-8783-D3D9E9761224}"/>
              </a:ext>
            </a:extLst>
          </p:cNvPr>
          <p:cNvSpPr>
            <a:spLocks noGrp="1"/>
          </p:cNvSpPr>
          <p:nvPr/>
        </p:nvSpPr>
        <p:spPr>
          <a:xfrm>
            <a:off x="60960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AI 反方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0BADEF1-F633-46E5-8E61-6A281FD20719}"/>
              </a:ext>
            </a:extLst>
          </p:cNvPr>
          <p:cNvSpPr>
            <a:spLocks noGrp="1"/>
          </p:cNvSpPr>
          <p:nvPr/>
        </p:nvSpPr>
        <p:spPr>
          <a:xfrm>
            <a:off x="60960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老師先示範一回合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每人三回合，整份【反方紀錄】貼回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3E1DDD8-EC9C-418F-BCD1-ADF0F0A2639A}"/>
              </a:ext>
            </a:extLst>
          </p:cNvPr>
          <p:cNvSpPr>
            <a:spLocks noGrp="1"/>
          </p:cNvSpPr>
          <p:nvPr/>
        </p:nvSpPr>
        <p:spPr>
          <a:xfrm>
            <a:off x="88392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100–120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09E56B5-E7B9-4A5E-A980-C3280EEB9076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381250" cy="66675"/>
          </a:xfrm>
          <a:prstGeom prst="rect">
            <a:avLst/>
          </a:prstGeom>
          <a:solidFill>
            <a:srgbClr val="121212"/>
          </a:solidFill>
          <a:ln w="9525">
            <a:solidFill>
              <a:srgbClr val="121212"/>
            </a:solidFill>
          </a:ln>
        </p:spPr>
        <p:txBody>
          <a:bodyPr/>
          <a:p/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8C8F516-616B-4DBB-8CDA-B91EFD22AB35}"/>
              </a:ext>
            </a:extLst>
          </p:cNvPr>
          <p:cNvSpPr>
            <a:spLocks noGrp="1"/>
          </p:cNvSpPr>
          <p:nvPr/>
        </p:nvSpPr>
        <p:spPr>
          <a:xfrm>
            <a:off x="88392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寫一頁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70207311-E971-4993-97A4-9C6CE29C1EB7}"/>
              </a:ext>
            </a:extLst>
          </p:cNvPr>
          <p:cNvSpPr>
            <a:spLocks noGrp="1"/>
          </p:cNvSpPr>
          <p:nvPr/>
        </p:nvSpPr>
        <p:spPr>
          <a:xfrm>
            <a:off x="88392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按「用計分表填草稿」，改成完整句子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課後：研究筆記 v2、期中 PDF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D51E96A9-5429-4684-BD65-9D59AE5A04BC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整頁一直開著、沒有截止；每個欄位只記你實際存檔的時間（課中／課後）。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一、為什麼要比，而不是選最喜歡的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1 頁：同一把尺、證據先於意見、故意找人反駁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06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Hale：六個形容詞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YC Startup School 2019：好問題 popular／growing／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urgent／expensive／mandatory／frequent，一題一題打分。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Denzin：三角驗證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同一件事要兩個以上的來源交叉看。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計分表每一格的那一句證據，就是在做這件事。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Klein：pre-mortem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決定之前先假設它一年後失敗了，寫下為什麼。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本課交給 AI 老闆來做：拒絕你三回合。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對你的意義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今天的流程就是這三件事：計分表 → 每格一句證據 → 反方三回合 → 一頁「為什麼選它」。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五問，和每一問的 2 分長什麼樣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2 頁的表；共同點：有名字、有數字、說得出為什麼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07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有人正在為它花錢嗎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 分＝已經有人付錢給某個替代方案（人力、外包、平台）。Blank 的 earlyvangelist。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多久一次、一次損失多少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 分＝每週以上，一次損失有數字（錢或小時）。Gurley 的「頻率」、Hale 的 expensive。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為什麼是現在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 分＝近三年有一個明確的改變（法規、工具、行為、成本），直接讓它變得可解。Sequoia 的 Why now。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為什麼還沒被解好／小團隊進得去嗎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 分＝沒人做或做不好且說得出原因（Christensen 兩個立足點、schlep blindness）；第一個付錢的人有名字、接觸得到（Aulet 灘頭市場）。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0 分和 2 分的差別：形容詞 vs 證據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同一個機會（合租室友 → 包租代管業者），兩種寫法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08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 分的寫法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很多人都有這個困擾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現在 AI 很強，什麼都做得到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全台灣的租屋業者都需要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沒有人做過類似的東西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2 分的寫法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包租業者請工讀生回 LINE，月薪兩萬（來源：卡 1）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包租代管業者三年 1,090→2,479 家（來源：經濟日報）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學校附近三家民營包租業者，接觸得到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591 做刊登不做配對（來源：卡 2）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右邊每一句都有名字、數字或來源。寫不出右邊的，就老實打 0 或標「估計」——反方會專挑那一格打。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8" name="">
            <a:extLst>
              <a:ext uri="{FF2B5EF4-FFF2-40B4-BE49-F238E27FC236}">
                <a16:creationId xmlns:a16="http://schemas.microsoft.com/office/drawing/2014/main" id="{D1FF9B12-42DF-4CE9-BF0D-741F41A8CDF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5381029-2582-4954-BADA-5AC2133D493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課堂兩題：上課時段內答完＝出席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D6027C06-BE95-40B4-8221-2F0AF12260A3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在比較頁最上面；上課日 13:00–17:00 內存檔才算課中，之後補答算課後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9C9D1FA-BBBD-4DCF-865A-F25A23A281C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0C117AE-379A-41E5-8F5C-334AB9BEFB5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5A6B6E40-3AD0-44CE-BE66-94CF93864EF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09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FE5F87A7-5C09-4184-9C9E-5072096B7FFD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19235E3-A4B4-4386-9211-141AF1C6C79F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6000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97E1725-E6E1-4C0B-90A6-0AE7474D1471}"/>
              </a:ext>
            </a:extLst>
          </p:cNvPr>
          <p:cNvSpPr>
            <a:spLocks noGrp="1"/>
          </p:cNvSpPr>
          <p:nvPr/>
        </p:nvSpPr>
        <p:spPr>
          <a:xfrm>
            <a:off x="8477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Q1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9C3086-7718-47B4-AB17-A75CAE41CE55}"/>
              </a:ext>
            </a:extLst>
          </p:cNvPr>
          <p:cNvSpPr>
            <a:spLocks noGrp="1"/>
          </p:cNvSpPr>
          <p:nvPr/>
        </p:nvSpPr>
        <p:spPr>
          <a:xfrm>
            <a:off x="8477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Blank 說的 earlyvangelist</a:t>
            </a:r>
          </a:p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有五個特徵，寫出其中兩個。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3E6DD5C0-71D2-499D-BFCE-51756BB46D48}"/>
              </a:ext>
            </a:extLst>
          </p:cNvPr>
          <p:cNvSpPr>
            <a:spLocks noGrp="1"/>
          </p:cNvSpPr>
          <p:nvPr/>
        </p:nvSpPr>
        <p:spPr>
          <a:xfrm>
            <a:off x="8477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有問題、知道有問題、正在找解法、已拼湊臨時解法、有預算。（講義第 2 頁）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40365797-818B-4385-9DF7-D37377C44469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92F980E-26CA-487C-A734-C04546AC0497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6000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B6C4D193-36DB-428B-98D3-173C23A294AC}"/>
              </a:ext>
            </a:extLst>
          </p:cNvPr>
          <p:cNvSpPr>
            <a:spLocks noGrp="1"/>
          </p:cNvSpPr>
          <p:nvPr/>
        </p:nvSpPr>
        <p:spPr>
          <a:xfrm>
            <a:off x="64484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Q2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01A9483F-8891-4CB3-B394-A511CCCC90A6}"/>
              </a:ext>
            </a:extLst>
          </p:cNvPr>
          <p:cNvSpPr>
            <a:spLocks noGrp="1"/>
          </p:cNvSpPr>
          <p:nvPr/>
        </p:nvSpPr>
        <p:spPr>
          <a:xfrm>
            <a:off x="64484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你的三個機會裡，哪一個最可能被</a:t>
            </a:r>
          </a:p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「為什麼是現在」這一問刷掉？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E6C33FC-D249-4056-B1D5-01C7E06142C6}"/>
              </a:ext>
            </a:extLst>
          </p:cNvPr>
          <p:cNvSpPr>
            <a:spLocks noGrp="1"/>
          </p:cNvSpPr>
          <p:nvPr/>
        </p:nvSpPr>
        <p:spPr>
          <a:xfrm>
            <a:off x="64484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為什麼？一句話。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E098819-560F-4917-967E-74B954010B31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答完可按「讓 AI 評我的答案」，貼回一句評語——選填、不計分。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計分表怎麼打：每格兩個動作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比較頁第 2 區。五題，每題三列 A／B／C；app 自動加總、最高分亮起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noGrp="1"/>
          </p:cNvSpPr>
          <p:nvPr/>
        </p:nvSpPr>
        <p:spPr>
          <a:xfrm>
            <a:off x="609600" y="253365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noGrp="1"/>
          </p:cNvSpPr>
          <p:nvPr/>
        </p:nvSpPr>
        <p:spPr>
          <a:xfrm>
            <a:off x="1381125" y="24765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按 0／1／2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noGrp="1"/>
          </p:cNvSpPr>
          <p:nvPr/>
        </p:nvSpPr>
        <p:spPr>
          <a:xfrm>
            <a:off x="4695825" y="23812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先看那一題展開的「0／1／2 各是什麼意思」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noGrp="1"/>
          </p:cNvSpPr>
          <p:nvPr/>
        </p:nvSpPr>
        <p:spPr>
          <a:xfrm>
            <a:off x="4695825" y="28575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拿不準就往低打：反方會幫你校正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noGrp="1"/>
          </p:cNvSpPr>
          <p:nvPr/>
        </p:nvSpPr>
        <p:spPr>
          <a:xfrm>
            <a:off x="1381125" y="339090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noGrp="1"/>
          </p:cNvSpPr>
          <p:nvPr/>
        </p:nvSpPr>
        <p:spPr>
          <a:xfrm>
            <a:off x="704850" y="37719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noGrp="1"/>
          </p:cNvSpPr>
          <p:nvPr/>
        </p:nvSpPr>
        <p:spPr>
          <a:xfrm>
            <a:off x="1381125" y="367665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寫一句證據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noGrp="1"/>
          </p:cNvSpPr>
          <p:nvPr/>
        </p:nvSpPr>
        <p:spPr>
          <a:xfrm>
            <a:off x="4695825" y="358140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貼卡 1 或卡 2 裡的那一句，寫（來源：XX）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noGrp="1"/>
          </p:cNvSpPr>
          <p:nvPr/>
        </p:nvSpPr>
        <p:spPr>
          <a:xfrm>
            <a:off x="4695825" y="405765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沒證據就寫「估計」；打了分卻沒證據，格子會變橘色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noGrp="1"/>
          </p:cNvSpPr>
          <p:nvPr/>
        </p:nvSpPr>
        <p:spPr>
          <a:xfrm>
            <a:off x="1381125" y="459105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noGrp="1"/>
          </p:cNvSpPr>
          <p:nvPr/>
        </p:nvSpPr>
        <p:spPr>
          <a:xfrm>
            <a:off x="704850" y="49720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noGrp="1"/>
          </p:cNvSpPr>
          <p:nvPr/>
        </p:nvSpPr>
        <p:spPr>
          <a:xfrm>
            <a:off x="1381125" y="48768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看總分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noGrp="1"/>
          </p:cNvSpPr>
          <p:nvPr/>
        </p:nvSpPr>
        <p:spPr>
          <a:xfrm>
            <a:off x="4695825" y="47815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三個總分出來，最高分變綠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noGrp="1"/>
          </p:cNvSpPr>
          <p:nvPr/>
        </p:nvSpPr>
        <p:spPr>
          <a:xfrm>
            <a:off x="4695825" y="52578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選一個：選最高分直接走；選別的要寫一段理由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AI 反方三回合：撐了十年的老闆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比較頁第 4 區。按「複製問題、開 AI 反方」（建議 Claude），它會帶著你選的機會和五格證據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它扮演：做這一行十年、生意過得去、不想多花一毛錢、對學生的點子很懷疑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每回合它只給一個拒絕理由，然後等你回；你回了它才給下一個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規則：用證據回，不用形容詞；回不出來就老實寫「這一題我沒證據」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三回合後它會輸出【反方紀錄】：拒絕 1–3、我的回應 1–3、總結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整份複製，貼回 app；app 會拆成三回合給老師看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總結裡的「最該補的一個證據」＝你期中前要做的事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AI 回「我沒辦法提供這方面的幫助」＝誤判：重新產生或換工具再送一次。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老闆會怎麼拒絕你：五種常見的，和證據回法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3 頁的表；左邊是會輸的回法，右邊是會贏的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12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形容詞回法（會輸）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我們的系統更方便、更智慧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我們很認真、會努力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我們做得更好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只要花你五分鐘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我們比較便宜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證據回法（會贏）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你上個月漏單 12 筆、每筆 350 元（來源：訪談）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先免費做兩週，兩週後看數字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那家倒在 2019，當時沒有 LINE API 和租賃專法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開學前兩週你的客服量是平常三倍（來源：卡 2）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591 做刊登不做配對；客戶是房東不是你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輸一回合不扣分；用形容詞硬撐才會。老師現在示範一回合。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一頁六段：為什麼這是好的商業痛點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比較頁第 5 區。先按「用計分表填草稿」，再改成完整句子；每段一句主張、一個證據、一個理論名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13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 1–2 段：誰在花錢、多久一次損失多少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例：包租業者已在付工讀生回 LINE（來源：訪談）——Blank 的 earlyvangelist；開學前兩週爆量、退租空置一個月（來源：卡 2，估計）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 3–4 段：為什麼是現在、為什麼還沒被解好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例：包租代管三年 1,090→2,479 家（來源：經濟日報）——Why now；591 做刊登不做配對——Christensen 的「沒人看見」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 5 段：第一個付錢的人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例：學校附近三家民營包租業者，接觸得到；大公司不做小業者的生意——Aulet 灘頭市場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 6 段：反方說了什麼、我怎麼回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例：第一回合「LINE 就好」我用漏單數字回；第三回合「抽成都付了」我沒證據——期中前要補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1" name="">
            <a:extLst>
              <a:ext uri="{FF2B5EF4-FFF2-40B4-BE49-F238E27FC236}">
                <a16:creationId xmlns:a16="http://schemas.microsoft.com/office/drawing/2014/main" id="{C6D0CAD6-B885-41E3-AC59-A87FF78723F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70BFE92-9CDB-41C8-93AD-15AA964A3D8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課後：研究筆記 v2 ＝ 期中 PDF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36A6F80-9E9B-47FA-A237-6F0029F534F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用 app 教材區的「研究筆記 v2 範本（Word）」；11/13 上課前上傳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FA9FE16B-105F-4D22-B84C-4EEB432A1492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E034F5BE-21E8-4AD0-85E5-C46B2C6A6E17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88EC3A3-0BCA-4476-BE5D-09FF55247BCC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14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4015D264-51A9-4F59-BB80-F22B14549689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76200" cy="198120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6DD6C3B-65F4-4D75-95BD-1A5C4AC6B697}"/>
              </a:ext>
            </a:extLst>
          </p:cNvPr>
          <p:cNvSpPr>
            <a:spLocks noGrp="1"/>
          </p:cNvSpPr>
          <p:nvPr/>
        </p:nvSpPr>
        <p:spPr>
          <a:xfrm>
            <a:off x="914400" y="2419350"/>
            <a:ext cx="10287000" cy="2076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① 產業一句話　② 錢流　③ 三個挑戰（附來源）　④ 三個機會　⑤ 不確定的事（＝Week 4 筆記 v1）</a:t>
            </a:r>
          </a:p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⑥ 五問計分表（三個機會各五格，含證據）　⑦ 一頁六段　⑧ 反方紀錄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B609C82-52E6-4AA5-82EA-559E40CBB310}"/>
              </a:ext>
            </a:extLst>
          </p:cNvPr>
          <p:cNvSpPr>
            <a:spLocks noGrp="1"/>
          </p:cNvSpPr>
          <p:nvPr/>
        </p:nvSpPr>
        <p:spPr>
          <a:xfrm>
            <a:off x="914400" y="4886325"/>
            <a:ext cx="102870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評分看三件事：每個主張有沒有來源（AI 說的不算）；第一個付錢的人有沒有名字；反方那一段有沒有老實寫輸在哪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8494B6-3A89-4418-8951-FB3F9528344E}"/>
              </a:ext>
            </a:extLst>
          </p:cNvPr>
          <p:cNvSpPr>
            <a:spLocks noGrp="1"/>
          </p:cNvSpPr>
          <p:nvPr/>
        </p:nvSpPr>
        <p:spPr>
          <a:xfrm>
            <a:off x="914400" y="5676900"/>
            <a:ext cx="10287000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11/13 期中：每人上台 3 分鐘，講第 1、5、6 段就好；不看文筆、不看頁數、不看選了哪個機會。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離堂前清單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全部在比較頁上；整頁一直開著，沒做完的課後補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15 / 16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課堂兩題已存（上課時段內＝出席）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三個機會都在，每格 0／1／2 都按了，每格有一句證據或「估計」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選了一個；選非最高分的，理由寫了（至少 20 字）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反方三回合做完，整份【反方紀錄】貼回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一頁六段都有字；證據後面有（來源：XX）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最下面那格變綠：「✅ Week 5 比較頁完成」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課後：研究筆記 v2 合成 PDF；11/13 上課前上傳、上台 3 分鐘。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5  /  三個機會比一比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接下來三週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期中之前還有兩堂課，期中就是你這兩週的東西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16 / 16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6（11/6）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新創現況：現在誰在做什麼、錢往哪流、台灣在哪裡。老師講；課堂兩題；PDF 上傳功能上線。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7（11/13）期中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個人報告：上台 3 分鐘＋課前上傳 PDF（Week 4 筆記＋Week 5 一頁）。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8（11/20）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agent 工具更新＋建組：三人一組、一組一個產業、三個方向分給三個人。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期中看的是證據，不是點子有多酷。選定的機會之後會帶進小組的第二輪研究。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2026-09-28T13:12:49.7880000Z</dcterms:created>
  <dcterms:modified xsi:type="dcterms:W3CDTF">2026-09-28T13:12:49.7880000Z</dcterms:modified>
</coreProperties>
</file>