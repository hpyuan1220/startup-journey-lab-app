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a2c494ff6534158" Type="http://schemas.openxmlformats.org/package/2006/relationships/metadata/core-properties" Target="docProps/core.xml"/><Relationship Id="Rd7e0ccb774ee4da3" Type="http://schemas.openxmlformats.org/officeDocument/2006/relationships/officeDocument" Target="ppt/presentation.xml"/><Relationship Id="Red5eaeb31f1f489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f9775db36e4347" Type="http://schemas.openxmlformats.org/officeDocument/2006/relationships/theme" Target="theme/theme1.xml"/><Relationship Id="R209d81ccdc3d4373" Type="http://schemas.openxmlformats.org/officeDocument/2006/relationships/slideMaster" Target="slideMasters/slideMaster1.xml"/><Relationship Id="Rae5565e222f94311" Type="http://schemas.openxmlformats.org/officeDocument/2006/relationships/notesMaster" Target="notesMasters/notesMaster1.xml"/><Relationship Id="Rc3130170706542df" Type="http://schemas.openxmlformats.org/officeDocument/2006/relationships/presProps" Target="presProps.xml"/><Relationship Id="Rdae1bc0b7b5049c6" Type="http://schemas.openxmlformats.org/officeDocument/2006/relationships/tableStyles" Target="tableStyles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4636b259947a4c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21de335dda548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00e1906020446b" Type="http://schemas.openxmlformats.org/officeDocument/2006/relationships/slideLayout" Target="../slideLayouts/slideLayout1.xml"/><Relationship Id="R42e31e3cb9d9443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3" name="">
            <a:extLst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16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96250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三個機會比一比，選最值得創業的一個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857250" cy="666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五問計分、AI 反方三回合，讓證據替你選；寫一頁「為什麼這是好的商業痛點」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本週：課堂兩題＋3×5 計分表＋選一個＋反方三回合＋一頁六段；課後研究筆記 v2 ＝ 期中 PDF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noGrp="1"/>
          </p:cNvSpPr>
          <p:nvPr/>
        </p:nvSpPr>
        <p:spPr>
          <a:xfrm>
            <a:off x="9848850" y="1219200"/>
            <a:ext cx="1524000" cy="1524000"/>
          </a:xfrm>
          <a:prstGeom prst="ellipse">
            <a:avLst/>
          </a:prstGeom>
          <a:noFill/>
          <a:ln w="19050">
            <a:solidFill>
              <a:srgbClr val="4B4B4B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noGrp="1"/>
          </p:cNvSpPr>
          <p:nvPr/>
        </p:nvSpPr>
        <p:spPr>
          <a:xfrm>
            <a:off x="10229850" y="1600200"/>
            <a:ext cx="762000" cy="762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noGrp="1"/>
          </p:cNvSpPr>
          <p:nvPr/>
        </p:nvSpPr>
        <p:spPr>
          <a:xfrm>
            <a:off x="10553700" y="1057275"/>
            <a:ext cx="114300" cy="184785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24050" cy="1143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先回顧：Week 4 的三個機會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每個機會一句話：誰的哪個困難 → 第一個付錢的人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有名字嗎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「第一個付錢的人」是一個人，不是一個產業：「管 50 套分租套房的包租業者」可以，「所有餐飲業者」不行。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有證據嗎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卡 1 的錢流與困難、卡 2 有來源的六題，就是今天計分表每一格要填的證據。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三個都在 app 裡嗎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比較頁會自動從卡 3 帶出三句；卡 3 空的同學先回 Week 4 補，不然今天沒東西可比。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請兩位同學唸自己的 A／B／C。全班只聽一件事：第一個付錢的人有沒有名字。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課前預習回顧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影片下面的三題：這一格該打幾分？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「老闆請了工讀生專門回 LINE，月薪兩萬」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 分。有名字（老闆）、有數字（兩萬）、有付給誰（工讀生）：已經有人付錢給替代方案。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「現在 AI 很強，什麼都做得到」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 分。套在任何題目都成立，等於沒說。要說近三年哪一個具體改變讓這個痛變得可解。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「全台灣的餐飲業者都需要」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 分。「所有業者」不是一個人。第一個付錢的人要有名字、接觸得到。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沒看影片的同學現在知道今天的規則了：2 分＝有名字、有數字、說得出為什麼。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">
            <a:extLst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本週共同成果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每人一個選定的機會、一份反方紀錄、一頁六段；加上 Week 4 筆記就是期中 PDF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3 × 5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計分表：三個機會 × 五個問題，每格 0／1／2 ＋ 一句證據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noGrp="1"/>
          </p:cNvSpPr>
          <p:nvPr/>
        </p:nvSpPr>
        <p:spPr>
          <a:xfrm>
            <a:off x="4333875" y="2476500"/>
            <a:ext cx="57150" cy="276225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在比較頁最上面。上課時段內存檔＝出席；可以按「讓 AI 評我的答案」，選填、不計分。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選一個＋反方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noGrp="1"/>
          </p:cNvSpPr>
          <p:nvPr/>
        </p:nvSpPr>
        <p:spPr>
          <a:xfrm>
            <a:off x="4762500" y="4200525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最高分的交給 AI 反方拒絕三回合；選非最高分也可以，多寫一段理由。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一頁六段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noGrp="1"/>
          </p:cNvSpPr>
          <p:nvPr/>
        </p:nvSpPr>
        <p:spPr>
          <a:xfrm>
            <a:off x="4762500" y="5391150"/>
            <a:ext cx="6191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照五問順序，每段一句主張、一個證據、一個理論名；第六段寫反方與回應。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">
            <a:extLst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120 分鐘課堂流程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先把尺講清楚，再動手：打分、反方、寫一頁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0–45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381250" cy="66675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回顧與理論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0–20 回顧三個機會、課前三題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20–45 五問的理論與 0／1／2 怎麼判；課堂兩題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noGrp="1"/>
          </p:cNvSpPr>
          <p:nvPr/>
        </p:nvSpPr>
        <p:spPr>
          <a:xfrm>
            <a:off x="33528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45–75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81250" cy="66675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noGrp="1"/>
          </p:cNvSpPr>
          <p:nvPr/>
        </p:nvSpPr>
        <p:spPr>
          <a:xfrm>
            <a:off x="33528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打分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noGrp="1"/>
          </p:cNvSpPr>
          <p:nvPr/>
        </p:nvSpPr>
        <p:spPr>
          <a:xfrm>
            <a:off x="33528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每格先按 0／1／2，再寫一句證據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總分出來、最高分亮起；選一個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75–100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2381250" cy="66675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反方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noGrp="1"/>
          </p:cNvSpPr>
          <p:nvPr/>
        </p:nvSpPr>
        <p:spPr>
          <a:xfrm>
            <a:off x="60960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老師先示範一回合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每人三回合，整份【反方紀錄】貼回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100–120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381250" cy="66675"/>
          </a:xfrm>
          <a:prstGeom prst="rect">
            <a:avLst/>
          </a:prstGeom>
          <a:solidFill>
            <a:srgbClr val="121212"/>
          </a:solidFill>
          <a:ln w="9525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noGrp="1"/>
          </p:cNvSpPr>
          <p:nvPr/>
        </p:nvSpPr>
        <p:spPr>
          <a:xfrm>
            <a:off x="88392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寫一頁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noGrp="1"/>
          </p:cNvSpPr>
          <p:nvPr/>
        </p:nvSpPr>
        <p:spPr>
          <a:xfrm>
            <a:off x="88392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按「用計分表填草稿」，改成完整句子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課後：研究筆記 v2、期中 PDF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整頁一直開著、沒有截止；每個欄位只記你實際存檔的時間（課中／課後）。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一、為什麼要比，而不是選最喜歡的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1 頁：同一把尺、證據先於意見、故意找人反駁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Hale：六個形容詞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YC Startup School 2019：好問題 popular／growing／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urgent／expensive／mandatory／frequent，一題一題打分。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Denzin：三角驗證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同一件事要兩個以上的來源交叉看。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計分表每一格的那一句證據，就是在做這件事。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Klein：pre-mortem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決定之前先假設它一年後失敗了，寫下為什麼。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本課交給 AI 老闆來做：拒絕你三回合。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對你的意義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今天的流程就是這三件事：計分表 → 每格一句證據 → 反方三回合 → 一頁「為什麼選它」。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五問，和每一問的 2 分長什麼樣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2 頁的表；共同點：有名字、有數字、說得出為什麼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有人正在為它花錢嗎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 分＝已經有人付錢給某個替代方案（人力、外包、平台）。Blank 的 earlyvangelist。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多久一次、一次損失多少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 分＝每週以上，一次損失有數字（錢或小時）。Gurley 的「頻率」、Hale 的 expensive。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為什麼是現在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 分＝近三年有一個明確的改變（法規、工具、行為、成本），直接讓它變得可解。Sequoia 的 Why now。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為什麼還沒被解好／小團隊進得去嗎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 分＝沒人做或做不好且說得出原因（Christensen 兩個立足點、schlep blindness）；第一個付錢的人有名字、接觸得到（Aulet 灘頭市場）。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0 分和 2 分的差別：形容詞 vs 證據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同一個機會（合租室友 → 包租代管業者），兩種寫法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 分的寫法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很多人都有這個困擾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現在 AI 很強，什麼都做得到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全台灣的租屋業者都需要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沒有人做過類似的東西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2 分的寫法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包租業者請工讀生回 LINE，月薪兩萬（來源：卡 1）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包租代管業者三年 1,090→2,479 家（來源：經濟日報）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學校附近三家民營包租業者，接觸得到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591 做刊登不做配對（來源：卡 2）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右邊每一句都有名字、數字或來源。寫不出右邊的，就老實打 0 或標「估計」——反方會專挑那一格打。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8" name="">
            <a:extLst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課堂兩題：上課時段內答完＝出席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在比較頁最上面；上課日 13:00–17:00 內存檔才算課中，之後補答算課後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6000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noGrp="1"/>
          </p:cNvSpPr>
          <p:nvPr/>
        </p:nvSpPr>
        <p:spPr>
          <a:xfrm>
            <a:off x="8477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Q1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Blank 說的 earlyvangelist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有五個特徵，寫出其中兩個。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noGrp="1"/>
          </p:cNvSpPr>
          <p:nvPr/>
        </p:nvSpPr>
        <p:spPr>
          <a:xfrm>
            <a:off x="8477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有問題、知道有問題、正在找解法、已拼湊臨時解法、有預算。（講義第 2 頁）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6000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noGrp="1"/>
          </p:cNvSpPr>
          <p:nvPr/>
        </p:nvSpPr>
        <p:spPr>
          <a:xfrm>
            <a:off x="64484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Q2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noGrp="1"/>
          </p:cNvSpPr>
          <p:nvPr/>
        </p:nvSpPr>
        <p:spPr>
          <a:xfrm>
            <a:off x="64484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你的三個機會裡，哪一個最可能被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「為什麼是現在」這一問刷掉？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noGrp="1"/>
          </p:cNvSpPr>
          <p:nvPr/>
        </p:nvSpPr>
        <p:spPr>
          <a:xfrm>
            <a:off x="64484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為什麼？一句話。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答完可按「讓 AI 評我的答案」，貼回一句評語——選填、不計分。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計分表怎麼打：每格兩個動作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比較頁第 2 區。五題，每題三列 A／B／C；app 自動加總、最高分亮起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按 0／1／2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先看那一題展開的「0／1／2 各是什麼意思」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拿不準就往低打：反方會幫你校正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寫一句證據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貼卡 1 或卡 2 裡的那一句，寫（來源：XX）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沒證據就寫「估計」；打了分卻沒證據，格子會變橘色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看總分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三個總分出來，最高分變綠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選一個：選最高分直接走；選別的要寫一段理由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反方三回合：撐了十年的老闆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比較頁第 4 區。按「複製問題、開 AI 反方」（建議 Claude），它會帶著你選的機會和五格證據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它扮演：做這一行十年、生意過得去、不想多花一毛錢、對學生的點子很懷疑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每回合它只給一個拒絕理由，然後等你回；你回了它才給下一個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規則：用證據回，不用形容詞；回不出來就老實寫「這一題我沒證據」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三回合後它會輸出【反方紀錄】：拒絕 1–3、我的回應 1–3、總結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整份複製，貼回 app；app 會拆成三回合給老師看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總結裡的「最該補的一個證據」＝你期中前要做的事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回「我沒辦法提供這方面的幫助」＝誤判：重新產生或換工具再送一次。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老闆會怎麼拒絕你：五種常見的，和證據回法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3 頁的表；左邊是會輸的回法，右邊是會贏的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形容詞回法（會輸）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我們的系統更方便、更智慧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我們很認真、會努力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我們做得更好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只要花你五分鐘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我們比較便宜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證據回法（會贏）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你上個月漏單 12 筆、每筆 350 元（來源：訪談）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先免費做兩週，兩週後看數字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那家倒在 2019，當時沒有 LINE API 和租賃專法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開學前兩週你的客服量是平常三倍（來源：卡 2）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591 做刊登不做配對；客戶是房東不是你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輸一回合不扣分；用形容詞硬撐才會。老師現在示範一回合。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一頁六段：為什麼這是好的商業痛點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比較頁第 5 區。先按「用計分表填草稿」，再改成完整句子；每段一句主張、一個證據、一個理論名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第 1–2 段：誰在花錢、多久一次損失多少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例：包租業者已在付工讀生回 LINE（來源：訪談）——Blank 的 earlyvangelist；開學前兩週爆量、退租空置一個月（來源：卡 2，估計）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第 3–4 段：為什麼是現在、為什麼還沒被解好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例：包租代管三年 1,090→2,479 家（來源：經濟日報）——Why now；591 做刊登不做配對——Christensen 的「沒人看見」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第 5 段：第一個付錢的人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例：學校附近三家民營包租業者，接觸得到；大公司不做小業者的生意——Aulet 灘頭市場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第 6 段：反方說了什麼、我怎麼回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例：第一回合「LINE 就好」我用漏單數字回；第三回合「抽成都付了」我沒證據——期中前要補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1" name="">
            <a:extLst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課後：研究筆記 v2 ＝ 期中 PDF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用 app 教材區的「研究筆記 v2 範本（Word）」；11/13 上課前上傳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14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76200" cy="1981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0287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① 產業一句話　② 錢流　③ 三個挑戰（附來源）　④ 三個機會　⑤ 不確定的事（＝Week 4 筆記 v1）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⑥ 五問計分表（三個機會各五格，含證據）　⑦ 一頁六段　⑧ 反方紀錄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評分看三件事：每個主張有沒有來源（AI 說的不算）；第一個付錢的人有沒有名字；反方那一段有沒有老實寫輸在哪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11/13 期中：每人上台 3 分鐘，講第 1、5、6 段就好；不看文筆、不看頁數、不看選了哪個機會。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離堂前清單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全部在比較頁上；整頁一直開著，沒做完的課後補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16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課堂兩題已存（上課時段內＝出席）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三個機會都在，每格 0／1／2 都按了，每格有一句證據或「估計」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選了一個；選非最高分的，理由寫了（至少 20 字）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反方三回合做完，整份【反方紀錄】貼回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一頁六段都有字；證據後面有（來源：XX）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最下面那格變綠：「✅ Week 5 比較頁完成」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課後：研究筆記 v2 合成 PDF；11/13 上課前上傳、上台 3 分鐘。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 /  三個機會比一比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接下來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今天後半場先看 AI 新創地圖；期中就是你 Week 4、5 的東西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16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今天後半場（約 60 分鐘）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新創地圖：錢往哪流、4 大區、10 座島。老師講；PDF 上傳功能上線。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7（11/13）期中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個人報告：上台 3 分鐘＋課前上傳 PDF（Week 4 筆記＋Week 5 一頁）。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8（11/20）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agent 工具更新＋建組：三人一組、一組一個產業、三個方向分給三個人。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期中看的是證據，不是點子有多酷。選定的機會之後會帶進小組的第二輪研究。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