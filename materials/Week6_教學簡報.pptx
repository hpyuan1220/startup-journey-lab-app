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aa2c494ff6534158" Type="http://schemas.openxmlformats.org/package/2006/relationships/metadata/core-properties" Target="docProps/core.xml"/><Relationship Id="Rd7e0ccb774ee4da3" Type="http://schemas.openxmlformats.org/officeDocument/2006/relationships/officeDocument" Target="ppt/presentation.xml"/><Relationship Id="Red5eaeb31f1f4892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09d81ccdc3d4373"/>
  </p:sldMasterIdLst>
  <p:notesMasterIdLst>
    <p:notesMasterId xmlns:r="http://schemas.openxmlformats.org/officeDocument/2006/relationships" r:id="Rae5565e222f94311"/>
  </p:notesMasterIdLst>
  <p:sldIdLst>
    <p:sldId xmlns:ns0="http://schemas.openxmlformats.org/officeDocument/2006/relationships" id="281" ns0:id="rId31"/>
    <p:sldId xmlns:ns0="http://schemas.openxmlformats.org/officeDocument/2006/relationships" id="282" ns0:id="rId32"/>
    <p:sldId xmlns:ns0="http://schemas.openxmlformats.org/officeDocument/2006/relationships" id="283" ns0:id="rId33"/>
    <p:sldId xmlns:ns0="http://schemas.openxmlformats.org/officeDocument/2006/relationships" id="284" ns0:id="rId34"/>
    <p:sldId xmlns:ns0="http://schemas.openxmlformats.org/officeDocument/2006/relationships" id="285" ns0:id="rId35"/>
    <p:sldId xmlns:ns0="http://schemas.openxmlformats.org/officeDocument/2006/relationships" id="286" ns0:id="rId36"/>
    <p:sldId xmlns:ns0="http://schemas.openxmlformats.org/officeDocument/2006/relationships" id="287" ns0:id="rId37"/>
    <p:sldId xmlns:ns0="http://schemas.openxmlformats.org/officeDocument/2006/relationships" id="288" ns0:id="rId38"/>
    <p:sldId xmlns:ns0="http://schemas.openxmlformats.org/officeDocument/2006/relationships" id="289" ns0:id="rId39"/>
    <p:sldId xmlns:ns0="http://schemas.openxmlformats.org/officeDocument/2006/relationships" id="290" ns0:id="rId40"/>
    <p:sldId xmlns:ns0="http://schemas.openxmlformats.org/officeDocument/2006/relationships" id="291" ns0:id="rId41"/>
    <p:sldId xmlns:ns0="http://schemas.openxmlformats.org/officeDocument/2006/relationships" id="292" ns0:id="rId42"/>
    <p:sldId xmlns:ns0="http://schemas.openxmlformats.org/officeDocument/2006/relationships" id="293" ns0:id="rId4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1ef9775db36e4347" Type="http://schemas.openxmlformats.org/officeDocument/2006/relationships/theme" Target="theme/theme1.xml"/><Relationship Id="R209d81ccdc3d4373" Type="http://schemas.openxmlformats.org/officeDocument/2006/relationships/slideMaster" Target="slideMasters/slideMaster1.xml"/><Relationship Id="Rae5565e222f94311" Type="http://schemas.openxmlformats.org/officeDocument/2006/relationships/notesMaster" Target="notesMasters/notesMaster1.xml"/><Relationship Id="Rc3130170706542df" Type="http://schemas.openxmlformats.org/officeDocument/2006/relationships/presProps" Target="presProps.xml"/><Relationship Id="Rdae1bc0b7b5049c6" Type="http://schemas.openxmlformats.org/officeDocument/2006/relationships/tableStyles" Target="tableStyles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4636b259947a4c70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Layouts/_rels/slideLayout1.xml.rels><?xml version='1.0' encoding='UTF-8' standalone='yes'?>
<Relationships xmlns="http://schemas.openxmlformats.org/package/2006/relationships"><Relationship Id="Ra21de335dda54802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2400e1906020446b" Type="http://schemas.openxmlformats.org/officeDocument/2006/relationships/slideLayout" Target="../slideLayouts/slideLayout1.xml"/><Relationship Id="R42e31e3cb9d94436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400e1906020446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/>
      <p:sp>
        <p:nvSpPr>
          <p:cNvPr id="13" name="">
            <a:extLst>
              <a:ext uri="{FF2B5EF4-FFF2-40B4-BE49-F238E27FC236}">
                <a16:creationId xmlns:a16="http://schemas.microsoft.com/office/drawing/2014/main" id="{B610B403-B5AE-4645-BFCA-BCD615455D8E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3B041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3B041"/>
                </a:solidFill>
                <a:latin typeface="PingFang TC"/>
                <a:ea typeface="PingFang TC"/>
                <a:cs typeface="PingFang TC"/>
              </a:rPr>
              <a:t>WEEK 6  /  AI 新創地圖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4F53071F-7357-4072-9247-7EBFB78BD22B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404040"/>
          </a:solidFill>
          <a:ln w="0">
            <a:noFill/>
          </a:ln>
        </p:spPr>
        <p:txBody>
          <a:bodyPr/>
          <a:p/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E5B87038-7D87-4EF3-B380-7070A034192B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09B105CA-B3D7-4A85-B7E2-2F9A43F502C7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01 / 13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BC0733B6-EB6B-43EB-877A-C39DF623DF80}"/>
              </a:ext>
            </a:extLst>
          </p:cNvPr>
          <p:cNvSpPr>
            <a:spLocks noGrp="1"/>
          </p:cNvSpPr>
          <p:nvPr/>
        </p:nvSpPr>
        <p:spPr>
          <a:xfrm>
            <a:off x="609600" y="1352550"/>
            <a:ext cx="8096250" cy="1866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54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AI 新創地圖 2026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30DE52D0-9EC0-4155-9667-C91406C521CE}"/>
              </a:ext>
            </a:extLst>
          </p:cNvPr>
          <p:cNvSpPr>
            <a:spLocks noGrp="1"/>
          </p:cNvSpPr>
          <p:nvPr/>
        </p:nvSpPr>
        <p:spPr>
          <a:xfrm>
            <a:off x="609600" y="3505200"/>
            <a:ext cx="857250" cy="66675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04CCD487-64AF-492D-974A-CFA516763AC0}"/>
              </a:ext>
            </a:extLst>
          </p:cNvPr>
          <p:cNvSpPr>
            <a:spLocks noGrp="1"/>
          </p:cNvSpPr>
          <p:nvPr/>
        </p:nvSpPr>
        <p:spPr>
          <a:xfrm>
            <a:off x="609600" y="3848100"/>
            <a:ext cx="10572750" cy="685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30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330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錢往哪流、誰在做什麼、你的產業線會落在哪一層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057AE6CC-17D3-43F0-840B-ADD9C52C97A1}"/>
              </a:ext>
            </a:extLst>
          </p:cNvPr>
          <p:cNvSpPr>
            <a:spLocks noGrp="1"/>
          </p:cNvSpPr>
          <p:nvPr/>
        </p:nvSpPr>
        <p:spPr>
          <a:xfrm>
            <a:off x="609600" y="4857750"/>
            <a:ext cx="9525000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DDD9D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DDD9D2"/>
                </a:solidFill>
                <a:latin typeface="PingFang TC"/>
                <a:ea typeface="PingFang TC"/>
                <a:cs typeface="PingFang TC"/>
              </a:rPr>
              <a:t>11/6 後半場約 60 分鐘：今天只看地圖；11/27 才玩群島遊戲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B7233630-81BE-42E3-99E0-8D1098FE04BD}"/>
              </a:ext>
            </a:extLst>
          </p:cNvPr>
          <p:cNvSpPr>
            <a:spLocks noGrp="1"/>
          </p:cNvSpPr>
          <p:nvPr/>
        </p:nvSpPr>
        <p:spPr>
          <a:xfrm>
            <a:off x="9848850" y="1219200"/>
            <a:ext cx="1524000" cy="1524000"/>
          </a:xfrm>
          <a:prstGeom prst="ellipse">
            <a:avLst/>
          </a:prstGeom>
          <a:noFill/>
          <a:ln w="19050">
            <a:solidFill>
              <a:srgbClr val="4B4B4B"/>
            </a:solidFill>
          </a:ln>
        </p:spPr>
        <p:txBody>
          <a:bodyPr/>
          <a:p/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94CC1D9C-10A4-485F-9F4A-496C98CD1B49}"/>
              </a:ext>
            </a:extLst>
          </p:cNvPr>
          <p:cNvSpPr>
            <a:spLocks noGrp="1"/>
          </p:cNvSpPr>
          <p:nvPr/>
        </p:nvSpPr>
        <p:spPr>
          <a:xfrm>
            <a:off x="10229850" y="1600200"/>
            <a:ext cx="762000" cy="762000"/>
          </a:xfrm>
          <a:prstGeom prst="ellipse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C4E63A64-AA39-427E-8BEF-CAE4CF94631B}"/>
              </a:ext>
            </a:extLst>
          </p:cNvPr>
          <p:cNvSpPr>
            <a:spLocks noGrp="1"/>
          </p:cNvSpPr>
          <p:nvPr/>
        </p:nvSpPr>
        <p:spPr>
          <a:xfrm>
            <a:off x="10553700" y="1057275"/>
            <a:ext cx="114300" cy="1847850"/>
          </a:xfrm>
          <a:prstGeom prst="rect">
            <a:avLst/>
          </a:prstGeom>
          <a:solidFill>
            <a:srgbClr val="121212"/>
          </a:solidFill>
          <a:ln w="0">
            <a:noFill/>
          </a:ln>
        </p:spPr>
        <p:txBody>
          <a:bodyPr/>
          <a:p/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7F60DA69-ABAF-45C4-B82B-278A8483BC8F}"/>
              </a:ext>
            </a:extLst>
          </p:cNvPr>
          <p:cNvSpPr>
            <a:spLocks noGrp="1"/>
          </p:cNvSpPr>
          <p:nvPr/>
        </p:nvSpPr>
        <p:spPr>
          <a:xfrm>
            <a:off x="9658350" y="1924050"/>
            <a:ext cx="1924050" cy="114300"/>
          </a:xfrm>
          <a:prstGeom prst="rect">
            <a:avLst/>
          </a:prstGeom>
          <a:solidFill>
            <a:srgbClr val="121212"/>
          </a:solidFill>
          <a:ln w="0">
            <a:noFill/>
          </a:ln>
        </p:spPr>
        <p:txBody>
          <a:bodyPr/>
          <a:p/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5" name="">
            <a:extLst>
              <a:ext uri="{FF2B5EF4-FFF2-40B4-BE49-F238E27FC236}">
                <a16:creationId xmlns:a16="http://schemas.microsoft.com/office/drawing/2014/main" id="{5531F714-86A9-41DF-AD33-70581D9C989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E"/>
          </a:solidFill>
          <a:ln w="9525">
            <a:solidFill>
              <a:srgbClr val="F6F3EE"/>
            </a:solidFill>
          </a:ln>
        </p:spPr>
        <p:txBody>
          <a:bodyPr/>
          <a:p/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A6B808D6-018D-47D8-9ED1-E258414C863E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444"/>
          </a:bodyPr>
          <a:lstStyle/>
          <a:p>
            <a:pPr algn="l"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6  /  AI 新創地圖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FBFC5E8F-C9C1-4177-B8F6-345D5EAE0A5D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60 分鐘流程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B2E84BB7-4F61-40AE-A611-46F8EFD8B6C0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先看錢，再看地圖，最後看台灣和接下來四週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157C7377-C278-49DF-BE76-49263FE104B7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711D6D99-8225-4FBC-9CA5-6628D9A8E518}"/>
              </a:ext>
            </a:extLst>
          </p:cNvPr>
          <p:cNvSpPr>
            <a:spLocks noGrp="1"/>
          </p:cNvSpPr>
          <p:nvPr/>
        </p:nvSpPr>
        <p:spPr>
          <a:xfrm>
            <a:off x="609600" y="636270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l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65ED00B1-C76C-4031-9373-985BE7591EA6}"/>
              </a:ext>
            </a:extLst>
          </p:cNvPr>
          <p:cNvSpPr>
            <a:spLocks noGrp="1"/>
          </p:cNvSpPr>
          <p:nvPr/>
        </p:nvSpPr>
        <p:spPr>
          <a:xfrm>
            <a:off x="10477500" y="6362700"/>
            <a:ext cx="11049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r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02 / 13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57B5694A-186D-4385-8D67-2E07E7CE303F}"/>
              </a:ext>
            </a:extLst>
          </p:cNvPr>
          <p:cNvSpPr>
            <a:spLocks noGrp="1"/>
          </p:cNvSpPr>
          <p:nvPr/>
        </p:nvSpPr>
        <p:spPr>
          <a:xfrm>
            <a:off x="609600" y="2524125"/>
            <a:ext cx="23812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6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0–10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A1E3B43-C9CB-4B29-80A2-6C96B832E5B3}"/>
              </a:ext>
            </a:extLst>
          </p:cNvPr>
          <p:cNvSpPr>
            <a:spLocks noGrp="1"/>
          </p:cNvSpPr>
          <p:nvPr/>
        </p:nvSpPr>
        <p:spPr>
          <a:xfrm>
            <a:off x="609600" y="3028950"/>
            <a:ext cx="2381250" cy="66675"/>
          </a:xfrm>
          <a:prstGeom prst="rect">
            <a:avLst/>
          </a:prstGeom>
          <a:solidFill>
            <a:srgbClr val="E63946"/>
          </a:solidFill>
          <a:ln w="9525">
            <a:solidFill>
              <a:srgbClr val="E63946"/>
            </a:solidFill>
          </a:ln>
        </p:spPr>
        <p:txBody>
          <a:bodyPr/>
          <a:p/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0179F13F-07E9-48B5-BE87-307165CEAF2F}"/>
              </a:ext>
            </a:extLst>
          </p:cNvPr>
          <p:cNvSpPr>
            <a:spLocks noGrp="1"/>
          </p:cNvSpPr>
          <p:nvPr/>
        </p:nvSpPr>
        <p:spPr>
          <a:xfrm>
            <a:off x="609600" y="3295650"/>
            <a:ext cx="23812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三個數字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0ACA1704-15B0-460F-9117-A5F2DBF2B37C}"/>
              </a:ext>
            </a:extLst>
          </p:cNvPr>
          <p:cNvSpPr>
            <a:spLocks noGrp="1"/>
          </p:cNvSpPr>
          <p:nvPr/>
        </p:nvSpPr>
        <p:spPr>
          <a:xfrm>
            <a:off x="609600" y="3895725"/>
            <a:ext cx="238125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錢往哪流</a:t>
            </a:r>
          </a:p>
          <a:p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AI 拿走多少創投的錢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C74765FF-AABC-4783-A111-0B879A99DC27}"/>
              </a:ext>
            </a:extLst>
          </p:cNvPr>
          <p:cNvSpPr>
            <a:spLocks noGrp="1"/>
          </p:cNvSpPr>
          <p:nvPr/>
        </p:nvSpPr>
        <p:spPr>
          <a:xfrm>
            <a:off x="3352800" y="2524125"/>
            <a:ext cx="23812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650" b="1">
                <a:solidFill>
                  <a:srgbClr val="14395B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4395B"/>
                </a:solidFill>
                <a:latin typeface="PingFang TC"/>
                <a:ea typeface="PingFang TC"/>
                <a:cs typeface="PingFang TC"/>
              </a:rPr>
              <a:t>10–25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9CD84D9D-1D7F-49AA-A3C8-C262DFA0BF81}"/>
              </a:ext>
            </a:extLst>
          </p:cNvPr>
          <p:cNvSpPr>
            <a:spLocks noGrp="1"/>
          </p:cNvSpPr>
          <p:nvPr/>
        </p:nvSpPr>
        <p:spPr>
          <a:xfrm>
            <a:off x="3352800" y="3028950"/>
            <a:ext cx="2381250" cy="66675"/>
          </a:xfrm>
          <a:prstGeom prst="rect">
            <a:avLst/>
          </a:prstGeom>
          <a:solidFill>
            <a:srgbClr val="14395B"/>
          </a:solidFill>
          <a:ln w="9525">
            <a:solidFill>
              <a:srgbClr val="14395B"/>
            </a:solidFill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227B89E0-6965-4B71-9EAD-C9AC5A3753A0}"/>
              </a:ext>
            </a:extLst>
          </p:cNvPr>
          <p:cNvSpPr>
            <a:spLocks noGrp="1"/>
          </p:cNvSpPr>
          <p:nvPr/>
        </p:nvSpPr>
        <p:spPr>
          <a:xfrm>
            <a:off x="3352800" y="3295650"/>
            <a:ext cx="23812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一張地圖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D88ADD9B-7BEF-4514-8B56-96583D3706AF}"/>
              </a:ext>
            </a:extLst>
          </p:cNvPr>
          <p:cNvSpPr>
            <a:spLocks noGrp="1"/>
          </p:cNvSpPr>
          <p:nvPr/>
        </p:nvSpPr>
        <p:spPr>
          <a:xfrm>
            <a:off x="3352800" y="3895725"/>
            <a:ext cx="238125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發電廠、引擎、零件、汽車</a:t>
            </a:r>
          </a:p>
          <a:p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4 大區、10 座島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3E6CEEB3-3205-4A53-B9AC-D7B5700A7E9F}"/>
              </a:ext>
            </a:extLst>
          </p:cNvPr>
          <p:cNvSpPr>
            <a:spLocks noGrp="1"/>
          </p:cNvSpPr>
          <p:nvPr/>
        </p:nvSpPr>
        <p:spPr>
          <a:xfrm>
            <a:off x="6096000" y="2524125"/>
            <a:ext cx="23812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650" b="1">
                <a:solidFill>
                  <a:srgbClr val="C99827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99827"/>
                </a:solidFill>
                <a:latin typeface="PingFang TC"/>
                <a:ea typeface="PingFang TC"/>
                <a:cs typeface="PingFang TC"/>
              </a:rPr>
              <a:t>25–45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DDC319AD-69AD-479E-B19E-FBD96DD46C11}"/>
              </a:ext>
            </a:extLst>
          </p:cNvPr>
          <p:cNvSpPr>
            <a:spLocks noGrp="1"/>
          </p:cNvSpPr>
          <p:nvPr/>
        </p:nvSpPr>
        <p:spPr>
          <a:xfrm>
            <a:off x="6096000" y="3028950"/>
            <a:ext cx="2381250" cy="66675"/>
          </a:xfrm>
          <a:prstGeom prst="rect">
            <a:avLst/>
          </a:prstGeom>
          <a:solidFill>
            <a:srgbClr val="C99827"/>
          </a:solidFill>
          <a:ln w="9525">
            <a:solidFill>
              <a:srgbClr val="C99827"/>
            </a:solidFill>
          </a:ln>
        </p:spPr>
        <p:txBody>
          <a:bodyPr/>
          <a:p/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E54D6ADA-B64A-4DA4-8783-D3D9E9761224}"/>
              </a:ext>
            </a:extLst>
          </p:cNvPr>
          <p:cNvSpPr>
            <a:spLocks noGrp="1"/>
          </p:cNvSpPr>
          <p:nvPr/>
        </p:nvSpPr>
        <p:spPr>
          <a:xfrm>
            <a:off x="6096000" y="3295650"/>
            <a:ext cx="23812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三個方向</a:t>
            </a:r>
          </a:p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60BADEF1-F633-46E5-8E61-6A281FD20719}"/>
              </a:ext>
            </a:extLst>
          </p:cNvPr>
          <p:cNvSpPr>
            <a:spLocks noGrp="1"/>
          </p:cNvSpPr>
          <p:nvPr/>
        </p:nvSpPr>
        <p:spPr>
          <a:xfrm>
            <a:off x="6096000" y="3895725"/>
            <a:ext cx="238125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基礎設施／原生服務／實體世界</a:t>
            </a:r>
          </a:p>
          <a:p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每區看 2–3 家公司</a:t>
            </a:r>
          </a:p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43E1DDD8-EC9C-418F-BCD1-ADF0F0A2639A}"/>
              </a:ext>
            </a:extLst>
          </p:cNvPr>
          <p:cNvSpPr>
            <a:spLocks noGrp="1"/>
          </p:cNvSpPr>
          <p:nvPr/>
        </p:nvSpPr>
        <p:spPr>
          <a:xfrm>
            <a:off x="8839200" y="2524125"/>
            <a:ext cx="23812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6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45–60</a:t>
            </a:r>
          </a:p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509E56B5-E7B9-4A5E-A980-C3280EEB9076}"/>
              </a:ext>
            </a:extLst>
          </p:cNvPr>
          <p:cNvSpPr>
            <a:spLocks noGrp="1"/>
          </p:cNvSpPr>
          <p:nvPr/>
        </p:nvSpPr>
        <p:spPr>
          <a:xfrm>
            <a:off x="8839200" y="3028950"/>
            <a:ext cx="2381250" cy="66675"/>
          </a:xfrm>
          <a:prstGeom prst="rect">
            <a:avLst/>
          </a:prstGeom>
          <a:solidFill>
            <a:srgbClr val="121212"/>
          </a:solidFill>
          <a:ln w="9525">
            <a:solidFill>
              <a:srgbClr val="121212"/>
            </a:solidFill>
          </a:ln>
        </p:spPr>
        <p:txBody>
          <a:bodyPr/>
          <a:p/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38C8F516-616B-4DBB-8CDA-B91EFD22AB35}"/>
              </a:ext>
            </a:extLst>
          </p:cNvPr>
          <p:cNvSpPr>
            <a:spLocks noGrp="1"/>
          </p:cNvSpPr>
          <p:nvPr/>
        </p:nvSpPr>
        <p:spPr>
          <a:xfrm>
            <a:off x="8839200" y="3295650"/>
            <a:ext cx="23812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台灣與接下來</a:t>
            </a:r>
          </a:p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70207311-E971-4993-97A4-9C6CE29C1EB7}"/>
              </a:ext>
            </a:extLst>
          </p:cNvPr>
          <p:cNvSpPr>
            <a:spLocks noGrp="1"/>
          </p:cNvSpPr>
          <p:nvPr/>
        </p:nvSpPr>
        <p:spPr>
          <a:xfrm>
            <a:off x="8839200" y="3895725"/>
            <a:ext cx="238125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台灣在哪一層</a:t>
            </a:r>
          </a:p>
          <a:p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11/20 建組、11/27 群島遊戲</a:t>
            </a:r>
          </a:p>
        </p:txBody>
      </p:sp>
      <p:sp>
        <p:nvSpPr>
          <p:cNvPr id="24" name="">
            <a:extLst>
              <a:ext uri="{FF2B5EF4-FFF2-40B4-BE49-F238E27FC236}">
                <a16:creationId xmlns:a16="http://schemas.microsoft.com/office/drawing/2014/main" id="{D51E96A9-5429-4684-BD65-9D59AE5A04BC}"/>
              </a:ext>
            </a:extLst>
          </p:cNvPr>
          <p:cNvSpPr>
            <a:spLocks noGrp="1"/>
          </p:cNvSpPr>
          <p:nvPr/>
        </p:nvSpPr>
        <p:spPr>
          <a:xfrm>
            <a:off x="609600" y="5619750"/>
            <a:ext cx="109728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7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57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今天不用記公司細節：只要知道每座島「做什麼」，11/27 會讓你猜它們怎麼賺錢。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" name="">
            <a:extLst>
              <a:ext uri="{FF2B5EF4-FFF2-40B4-BE49-F238E27FC236}">
                <a16:creationId xmlns:a16="http://schemas.microsoft.com/office/drawing/2014/main" id="{482E03A9-F1BB-408B-BE0F-61666E3C367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E"/>
          </a:solidFill>
          <a:ln w="9525">
            <a:solidFill>
              <a:srgbClr val="F6F3EE"/>
            </a:solidFill>
          </a:ln>
        </p:spPr>
        <p:txBody>
          <a:bodyPr/>
          <a:p/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32821D0B-7BB9-4BEA-8568-4AEA506F821E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444"/>
          </a:bodyPr>
          <a:lstStyle/>
          <a:p>
            <a:pPr algn="l"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6  /  AI 新創地圖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7ED7AA5C-1BBF-4A51-9587-BA5F6F04C78E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三個數字：AI 拿走了多少錢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698E7BB7-A40C-43D3-9FF0-18E046A80787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資料：Crunchbase 2026 Q1、Q3 全球創投報告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CDDA15AF-D83A-474D-A456-43204758A811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77B95A0A-8FD1-49B6-8553-75CAA5444E19}"/>
              </a:ext>
            </a:extLst>
          </p:cNvPr>
          <p:cNvSpPr>
            <a:spLocks noGrp="1"/>
          </p:cNvSpPr>
          <p:nvPr/>
        </p:nvSpPr>
        <p:spPr>
          <a:xfrm>
            <a:off x="609600" y="636270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l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9B45994A-9DF8-4526-9B16-24CAE03C38D1}"/>
              </a:ext>
            </a:extLst>
          </p:cNvPr>
          <p:cNvSpPr>
            <a:spLocks noGrp="1"/>
          </p:cNvSpPr>
          <p:nvPr/>
        </p:nvSpPr>
        <p:spPr>
          <a:xfrm>
            <a:off x="10477500" y="6362700"/>
            <a:ext cx="11049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r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03 / 13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382371FE-697D-40E4-BB3A-4680C9492111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457200" cy="457200"/>
          </a:xfrm>
          <a:prstGeom prst="rect">
            <a:avLst/>
          </a:prstGeom>
          <a:solidFill>
            <a:srgbClr val="E63946"/>
          </a:solidFill>
          <a:ln w="9525">
            <a:solidFill>
              <a:srgbClr val="E63946"/>
            </a:solidFill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3C320CB9-C3AD-46D4-B730-D814052F3DBA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AEF2220A-25C8-4436-884F-D94EFAE572B1}"/>
              </a:ext>
            </a:extLst>
          </p:cNvPr>
          <p:cNvSpPr>
            <a:spLocks noGrp="1"/>
          </p:cNvSpPr>
          <p:nvPr/>
        </p:nvSpPr>
        <p:spPr>
          <a:xfrm>
            <a:off x="1314450" y="2409825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436"/>
          </a:bodyPr>
          <a:lstStyle/>
          <a:p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約 80%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9C8C0427-9A41-4804-B115-6DB5C54BE26C}"/>
              </a:ext>
            </a:extLst>
          </p:cNvPr>
          <p:cNvSpPr>
            <a:spLocks noGrp="1"/>
          </p:cNvSpPr>
          <p:nvPr/>
        </p:nvSpPr>
        <p:spPr>
          <a:xfrm>
            <a:off x="4429125" y="2409825"/>
            <a:ext cx="695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2026 Q1 全球創投約 3,000 億美元，AI 新創拿到約 2,420 億。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A4D9B320-DC9A-4954-BCBD-D1A12EBEB5F1}"/>
              </a:ext>
            </a:extLst>
          </p:cNvPr>
          <p:cNvSpPr>
            <a:spLocks noGrp="1"/>
          </p:cNvSpPr>
          <p:nvPr/>
        </p:nvSpPr>
        <p:spPr>
          <a:xfrm>
            <a:off x="1314450" y="3019425"/>
            <a:ext cx="1026795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EBF68F2A-63F8-4862-B27E-F8DF179D2DA6}"/>
              </a:ext>
            </a:extLst>
          </p:cNvPr>
          <p:cNvSpPr>
            <a:spLocks noGrp="1"/>
          </p:cNvSpPr>
          <p:nvPr/>
        </p:nvSpPr>
        <p:spPr>
          <a:xfrm>
            <a:off x="609600" y="3381375"/>
            <a:ext cx="457200" cy="457200"/>
          </a:xfrm>
          <a:prstGeom prst="rect">
            <a:avLst/>
          </a:prstGeom>
          <a:solidFill>
            <a:srgbClr val="14395B"/>
          </a:solidFill>
          <a:ln w="9525">
            <a:solidFill>
              <a:srgbClr val="14395B"/>
            </a:solidFill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E534EE12-5C89-491C-8932-2A672F3E98D7}"/>
              </a:ext>
            </a:extLst>
          </p:cNvPr>
          <p:cNvSpPr>
            <a:spLocks noGrp="1"/>
          </p:cNvSpPr>
          <p:nvPr/>
        </p:nvSpPr>
        <p:spPr>
          <a:xfrm>
            <a:off x="609600" y="33813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AED1200E-7BE2-4DD2-ADA0-7D30E6B0981B}"/>
              </a:ext>
            </a:extLst>
          </p:cNvPr>
          <p:cNvSpPr>
            <a:spLocks noGrp="1"/>
          </p:cNvSpPr>
          <p:nvPr/>
        </p:nvSpPr>
        <p:spPr>
          <a:xfrm>
            <a:off x="1314450" y="3362325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436"/>
          </a:bodyPr>
          <a:lstStyle/>
          <a:p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64%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F22A966B-DF26-4D7E-8ECC-14591A3B9F8E}"/>
              </a:ext>
            </a:extLst>
          </p:cNvPr>
          <p:cNvSpPr>
            <a:spLocks noGrp="1"/>
          </p:cNvSpPr>
          <p:nvPr/>
        </p:nvSpPr>
        <p:spPr>
          <a:xfrm>
            <a:off x="4429125" y="3362325"/>
            <a:ext cx="695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Q3 全球創投 1,590 億美元，AI 拿 1,020 億；單輪 10 億美元以上的公司有 27 家，創紀錄。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4347ED41-C791-4EE4-9C69-652BD9AC2DE6}"/>
              </a:ext>
            </a:extLst>
          </p:cNvPr>
          <p:cNvSpPr>
            <a:spLocks noGrp="1"/>
          </p:cNvSpPr>
          <p:nvPr/>
        </p:nvSpPr>
        <p:spPr>
          <a:xfrm>
            <a:off x="1314450" y="3971925"/>
            <a:ext cx="1026795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3B36BABB-0E6E-4648-BB95-CCB3E591DDF3}"/>
              </a:ext>
            </a:extLst>
          </p:cNvPr>
          <p:cNvSpPr>
            <a:spLocks noGrp="1"/>
          </p:cNvSpPr>
          <p:nvPr/>
        </p:nvSpPr>
        <p:spPr>
          <a:xfrm>
            <a:off x="609600" y="4333875"/>
            <a:ext cx="457200" cy="457200"/>
          </a:xfrm>
          <a:prstGeom prst="rect">
            <a:avLst/>
          </a:prstGeom>
          <a:solidFill>
            <a:srgbClr val="C99827"/>
          </a:solidFill>
          <a:ln w="9525">
            <a:solidFill>
              <a:srgbClr val="C99827"/>
            </a:solidFill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CA631708-CE6D-42BC-B460-B476022771E7}"/>
              </a:ext>
            </a:extLst>
          </p:cNvPr>
          <p:cNvSpPr>
            <a:spLocks noGrp="1"/>
          </p:cNvSpPr>
          <p:nvPr/>
        </p:nvSpPr>
        <p:spPr>
          <a:xfrm>
            <a:off x="609600" y="43338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C7AE9068-2762-4A03-A15E-EE94A7A0CDF0}"/>
              </a:ext>
            </a:extLst>
          </p:cNvPr>
          <p:cNvSpPr>
            <a:spLocks noGrp="1"/>
          </p:cNvSpPr>
          <p:nvPr/>
        </p:nvSpPr>
        <p:spPr>
          <a:xfrm>
            <a:off x="1314450" y="4314825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436"/>
          </a:bodyPr>
          <a:lstStyle/>
          <a:p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24%</a:t>
            </a:r>
          </a:p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5BD73FAB-8CB1-41D3-B640-715FEE6AF17E}"/>
              </a:ext>
            </a:extLst>
          </p:cNvPr>
          <p:cNvSpPr>
            <a:spLocks noGrp="1"/>
          </p:cNvSpPr>
          <p:nvPr/>
        </p:nvSpPr>
        <p:spPr>
          <a:xfrm>
            <a:off x="4429125" y="4314825"/>
            <a:ext cx="695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Q3 全世界的創投資金，有 24% 投進舊金山灣區這一個地方；美國合計約 57%。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8FA808F9-3FCE-4AFA-B8B7-2FF36A31D8F6}"/>
              </a:ext>
            </a:extLst>
          </p:cNvPr>
          <p:cNvSpPr>
            <a:spLocks noGrp="1"/>
          </p:cNvSpPr>
          <p:nvPr/>
        </p:nvSpPr>
        <p:spPr>
          <a:xfrm>
            <a:off x="1314450" y="4924425"/>
            <a:ext cx="1026795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52391823-4577-41D5-B5F1-22EFE691E292}"/>
              </a:ext>
            </a:extLst>
          </p:cNvPr>
          <p:cNvSpPr>
            <a:spLocks noGrp="1"/>
          </p:cNvSpPr>
          <p:nvPr/>
        </p:nvSpPr>
        <p:spPr>
          <a:xfrm>
            <a:off x="609600" y="5572125"/>
            <a:ext cx="109728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5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這是「投資人投了多少」，不是「這些公司賺了多少」。燒錢和賺錢是兩件事。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" name="">
            <a:extLst>
              <a:ext uri="{FF2B5EF4-FFF2-40B4-BE49-F238E27FC236}">
                <a16:creationId xmlns:a16="http://schemas.microsoft.com/office/drawing/2014/main" id="{482E03A9-F1BB-408B-BE0F-61666E3C367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E"/>
          </a:solidFill>
          <a:ln w="9525">
            <a:solidFill>
              <a:srgbClr val="F6F3EE"/>
            </a:solidFill>
          </a:ln>
        </p:spPr>
        <p:txBody>
          <a:bodyPr/>
          <a:p/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32821D0B-7BB9-4BEA-8568-4AEA506F821E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444"/>
          </a:bodyPr>
          <a:lstStyle/>
          <a:p>
            <a:pPr algn="l"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6  /  AI 新創地圖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7ED7AA5C-1BBF-4A51-9587-BA5F6F04C78E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錢最先流到哪裡：最底層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698E7BB7-A40C-43D3-9FF0-18E046A80787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2026 年幾筆最大的募資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CDDA15AF-D83A-474D-A456-43204758A811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77B95A0A-8FD1-49B6-8553-75CAA5444E19}"/>
              </a:ext>
            </a:extLst>
          </p:cNvPr>
          <p:cNvSpPr>
            <a:spLocks noGrp="1"/>
          </p:cNvSpPr>
          <p:nvPr/>
        </p:nvSpPr>
        <p:spPr>
          <a:xfrm>
            <a:off x="609600" y="636270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l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9B45994A-9DF8-4526-9B16-24CAE03C38D1}"/>
              </a:ext>
            </a:extLst>
          </p:cNvPr>
          <p:cNvSpPr>
            <a:spLocks noGrp="1"/>
          </p:cNvSpPr>
          <p:nvPr/>
        </p:nvSpPr>
        <p:spPr>
          <a:xfrm>
            <a:off x="10477500" y="6362700"/>
            <a:ext cx="11049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r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04 / 13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382371FE-697D-40E4-BB3A-4680C9492111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457200" cy="457200"/>
          </a:xfrm>
          <a:prstGeom prst="rect">
            <a:avLst/>
          </a:prstGeom>
          <a:solidFill>
            <a:srgbClr val="E63946"/>
          </a:solidFill>
          <a:ln w="9525">
            <a:solidFill>
              <a:srgbClr val="E63946"/>
            </a:solidFill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3C320CB9-C3AD-46D4-B730-D814052F3DBA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AEF2220A-25C8-4436-884F-D94EFAE572B1}"/>
              </a:ext>
            </a:extLst>
          </p:cNvPr>
          <p:cNvSpPr>
            <a:spLocks noGrp="1"/>
          </p:cNvSpPr>
          <p:nvPr/>
        </p:nvSpPr>
        <p:spPr>
          <a:xfrm>
            <a:off x="1314450" y="2409825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436"/>
          </a:bodyPr>
          <a:lstStyle/>
          <a:p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模型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9C8C0427-9A41-4804-B115-6DB5C54BE26C}"/>
              </a:ext>
            </a:extLst>
          </p:cNvPr>
          <p:cNvSpPr>
            <a:spLocks noGrp="1"/>
          </p:cNvSpPr>
          <p:nvPr/>
        </p:nvSpPr>
        <p:spPr>
          <a:xfrm>
            <a:off x="4429125" y="2409825"/>
            <a:ext cx="695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OpenAI 在 Q1 募 1,220 億美元，史上最大的一輪；同季 Anthropic 300 億、xAI 200 億。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A4D9B320-DC9A-4954-BCBD-D1A12EBEB5F1}"/>
              </a:ext>
            </a:extLst>
          </p:cNvPr>
          <p:cNvSpPr>
            <a:spLocks noGrp="1"/>
          </p:cNvSpPr>
          <p:nvPr/>
        </p:nvSpPr>
        <p:spPr>
          <a:xfrm>
            <a:off x="1314450" y="3019425"/>
            <a:ext cx="1026795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EBF68F2A-63F8-4862-B27E-F8DF179D2DA6}"/>
              </a:ext>
            </a:extLst>
          </p:cNvPr>
          <p:cNvSpPr>
            <a:spLocks noGrp="1"/>
          </p:cNvSpPr>
          <p:nvPr/>
        </p:nvSpPr>
        <p:spPr>
          <a:xfrm>
            <a:off x="609600" y="3381375"/>
            <a:ext cx="457200" cy="457200"/>
          </a:xfrm>
          <a:prstGeom prst="rect">
            <a:avLst/>
          </a:prstGeom>
          <a:solidFill>
            <a:srgbClr val="14395B"/>
          </a:solidFill>
          <a:ln w="9525">
            <a:solidFill>
              <a:srgbClr val="14395B"/>
            </a:solidFill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E534EE12-5C89-491C-8932-2A672F3E98D7}"/>
              </a:ext>
            </a:extLst>
          </p:cNvPr>
          <p:cNvSpPr>
            <a:spLocks noGrp="1"/>
          </p:cNvSpPr>
          <p:nvPr/>
        </p:nvSpPr>
        <p:spPr>
          <a:xfrm>
            <a:off x="609600" y="33813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AED1200E-7BE2-4DD2-ADA0-7D30E6B0981B}"/>
              </a:ext>
            </a:extLst>
          </p:cNvPr>
          <p:cNvSpPr>
            <a:spLocks noGrp="1"/>
          </p:cNvSpPr>
          <p:nvPr/>
        </p:nvSpPr>
        <p:spPr>
          <a:xfrm>
            <a:off x="1314450" y="3362325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436"/>
          </a:bodyPr>
          <a:lstStyle/>
          <a:p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資料與新實驗室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F22A966B-DF26-4D7E-8ECC-14591A3B9F8E}"/>
              </a:ext>
            </a:extLst>
          </p:cNvPr>
          <p:cNvSpPr>
            <a:spLocks noGrp="1"/>
          </p:cNvSpPr>
          <p:nvPr/>
        </p:nvSpPr>
        <p:spPr>
          <a:xfrm>
            <a:off x="4429125" y="3362325"/>
            <a:ext cx="695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Q3 最大的兩輪：Databricks（資料平台）、Safe Superintelligence（新模型實驗室），各 50 億美元。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4347ED41-C791-4EE4-9C69-652BD9AC2DE6}"/>
              </a:ext>
            </a:extLst>
          </p:cNvPr>
          <p:cNvSpPr>
            <a:spLocks noGrp="1"/>
          </p:cNvSpPr>
          <p:nvPr/>
        </p:nvSpPr>
        <p:spPr>
          <a:xfrm>
            <a:off x="1314450" y="3971925"/>
            <a:ext cx="1026795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3B36BABB-0E6E-4648-BB95-CCB3E591DDF3}"/>
              </a:ext>
            </a:extLst>
          </p:cNvPr>
          <p:cNvSpPr>
            <a:spLocks noGrp="1"/>
          </p:cNvSpPr>
          <p:nvPr/>
        </p:nvSpPr>
        <p:spPr>
          <a:xfrm>
            <a:off x="609600" y="4333875"/>
            <a:ext cx="457200" cy="457200"/>
          </a:xfrm>
          <a:prstGeom prst="rect">
            <a:avLst/>
          </a:prstGeom>
          <a:solidFill>
            <a:srgbClr val="C99827"/>
          </a:solidFill>
          <a:ln w="9525">
            <a:solidFill>
              <a:srgbClr val="C99827"/>
            </a:solidFill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CA631708-CE6D-42BC-B460-B476022771E7}"/>
              </a:ext>
            </a:extLst>
          </p:cNvPr>
          <p:cNvSpPr>
            <a:spLocks noGrp="1"/>
          </p:cNvSpPr>
          <p:nvPr/>
        </p:nvSpPr>
        <p:spPr>
          <a:xfrm>
            <a:off x="609600" y="43338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C7AE9068-2762-4A03-A15E-EE94A7A0CDF0}"/>
              </a:ext>
            </a:extLst>
          </p:cNvPr>
          <p:cNvSpPr>
            <a:spLocks noGrp="1"/>
          </p:cNvSpPr>
          <p:nvPr/>
        </p:nvSpPr>
        <p:spPr>
          <a:xfrm>
            <a:off x="1314450" y="4314825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436"/>
          </a:bodyPr>
          <a:lstStyle/>
          <a:p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機房與算力</a:t>
            </a:r>
          </a:p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5BD73FAB-8CB1-41D3-B640-715FEE6AF17E}"/>
              </a:ext>
            </a:extLst>
          </p:cNvPr>
          <p:cNvSpPr>
            <a:spLocks noGrp="1"/>
          </p:cNvSpPr>
          <p:nvPr/>
        </p:nvSpPr>
        <p:spPr>
          <a:xfrm>
            <a:off x="4429125" y="4314825"/>
            <a:ext cx="695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Q3 單輪 30 億美元以上的還有 Crusoe、Nscale 這類蓋 AI 機房的公司。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8FA808F9-3FCE-4AFA-B8B7-2FF36A31D8F6}"/>
              </a:ext>
            </a:extLst>
          </p:cNvPr>
          <p:cNvSpPr>
            <a:spLocks noGrp="1"/>
          </p:cNvSpPr>
          <p:nvPr/>
        </p:nvSpPr>
        <p:spPr>
          <a:xfrm>
            <a:off x="1314450" y="4924425"/>
            <a:ext cx="1026795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52391823-4577-41D5-B5F1-22EFE691E292}"/>
              </a:ext>
            </a:extLst>
          </p:cNvPr>
          <p:cNvSpPr>
            <a:spLocks noGrp="1"/>
          </p:cNvSpPr>
          <p:nvPr/>
        </p:nvSpPr>
        <p:spPr>
          <a:xfrm>
            <a:off x="609600" y="5572125"/>
            <a:ext cx="109728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5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觀察：越底層，單筆越大、家數越少；越往上（應用），單筆越小、家數越多——你們的機會在上層。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31" name="">
            <a:extLst>
              <a:ext uri="{FF2B5EF4-FFF2-40B4-BE49-F238E27FC236}">
                <a16:creationId xmlns:a16="http://schemas.microsoft.com/office/drawing/2014/main" id="{68EB7237-7F7B-4EBB-8147-7D3116DA24B3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6  /  AI 新創地圖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E3A4D602-346A-48B7-AE99-FAAAA326895A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一個比喻：發電廠、引擎、零件、汽車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EB9EFF97-9BDD-4B70-A899-0F84C83E795D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由下往上看：上面的公司都要用到下面的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D12C4FFE-AA45-4E84-9A78-83B6155A0076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94862769-381A-4C7F-B6F8-66BEDA67D9A6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682FD63C-1A06-42CE-A2D4-A2173418FE75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05 / 13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27A1CCD5-B26A-4035-801D-C98F40910D30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400BA3D1-834E-4646-9683-131ABCF808E2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66F096E-6BFD-4B19-BFFC-76160372441F}"/>
              </a:ext>
            </a:extLst>
          </p:cNvPr>
          <p:cNvSpPr>
            <a:spLocks noGrp="1"/>
          </p:cNvSpPr>
          <p:nvPr/>
        </p:nvSpPr>
        <p:spPr>
          <a:xfrm>
            <a:off x="8191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9B2C30A9-4597-48FB-9C72-464F020DDEFA}"/>
              </a:ext>
            </a:extLst>
          </p:cNvPr>
          <p:cNvSpPr>
            <a:spLocks noGrp="1"/>
          </p:cNvSpPr>
          <p:nvPr/>
        </p:nvSpPr>
        <p:spPr>
          <a:xfrm>
            <a:off x="15240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發電廠＝算力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149FFC90-3B89-4B88-A159-F50282024610}"/>
              </a:ext>
            </a:extLst>
          </p:cNvPr>
          <p:cNvSpPr>
            <a:spLocks noGrp="1"/>
          </p:cNvSpPr>
          <p:nvPr/>
        </p:nvSpPr>
        <p:spPr>
          <a:xfrm>
            <a:off x="8382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AI 要用的電腦和機房。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沒有它，什麼 AI 都跑不動。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C0389E3D-C56E-4707-A449-0AC32CA578CA}"/>
              </a:ext>
            </a:extLst>
          </p:cNvPr>
          <p:cNvSpPr>
            <a:spLocks noGrp="1"/>
          </p:cNvSpPr>
          <p:nvPr/>
        </p:nvSpPr>
        <p:spPr>
          <a:xfrm>
            <a:off x="8382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CE170350-F5E0-44DF-A0AD-00F684A3D9DC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AD3B1000-E290-49F8-9D0E-0C06A872F305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639B8976-571E-4A1C-849D-D2C3FF78EED3}"/>
              </a:ext>
            </a:extLst>
          </p:cNvPr>
          <p:cNvSpPr>
            <a:spLocks noGrp="1"/>
          </p:cNvSpPr>
          <p:nvPr/>
        </p:nvSpPr>
        <p:spPr>
          <a:xfrm>
            <a:off x="64198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EBA0E952-AD26-4E31-89D8-0E17D9EBCC49}"/>
              </a:ext>
            </a:extLst>
          </p:cNvPr>
          <p:cNvSpPr>
            <a:spLocks noGrp="1"/>
          </p:cNvSpPr>
          <p:nvPr/>
        </p:nvSpPr>
        <p:spPr>
          <a:xfrm>
            <a:off x="71247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引擎＝基礎模型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27A6A621-6AE2-4020-9522-1EFCDF0C4D22}"/>
              </a:ext>
            </a:extLst>
          </p:cNvPr>
          <p:cNvSpPr>
            <a:spLocks noGrp="1"/>
          </p:cNvSpPr>
          <p:nvPr/>
        </p:nvSpPr>
        <p:spPr>
          <a:xfrm>
            <a:off x="64389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ChatGPT、Claude 背後的大模型。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全世界只有少數幾家做得起。</a:t>
            </a:r>
          </a:p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3D5E9FEA-7654-4EFA-8998-C77A9A4BA516}"/>
              </a:ext>
            </a:extLst>
          </p:cNvPr>
          <p:cNvSpPr>
            <a:spLocks noGrp="1"/>
          </p:cNvSpPr>
          <p:nvPr/>
        </p:nvSpPr>
        <p:spPr>
          <a:xfrm>
            <a:off x="64389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E8F8ED3D-E01B-4FE2-8DDB-B2AFB41A9CEE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4AB9F765-1955-4D41-9C88-83F376762D9E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45D78E31-998E-4BFA-A554-D824FA379782}"/>
              </a:ext>
            </a:extLst>
          </p:cNvPr>
          <p:cNvSpPr>
            <a:spLocks noGrp="1"/>
          </p:cNvSpPr>
          <p:nvPr/>
        </p:nvSpPr>
        <p:spPr>
          <a:xfrm>
            <a:off x="8191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DC700C09-5DC7-4A22-AA97-AC16015F50CC}"/>
              </a:ext>
            </a:extLst>
          </p:cNvPr>
          <p:cNvSpPr>
            <a:spLocks noGrp="1"/>
          </p:cNvSpPr>
          <p:nvPr/>
        </p:nvSpPr>
        <p:spPr>
          <a:xfrm>
            <a:off x="15240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零件與道路＝基礎設施</a:t>
            </a:r>
          </a:p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8668167D-14C4-4575-B53E-7AABB13896ED}"/>
              </a:ext>
            </a:extLst>
          </p:cNvPr>
          <p:cNvSpPr>
            <a:spLocks noGrp="1"/>
          </p:cNvSpPr>
          <p:nvPr/>
        </p:nvSpPr>
        <p:spPr>
          <a:xfrm>
            <a:off x="8382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放資料的地方、打造和管理 agent 的工具。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讓別人能在引擎上做產品。</a:t>
            </a:r>
          </a:p>
        </p:txBody>
      </p:sp>
      <p:sp>
        <p:nvSpPr>
          <p:cNvPr id="24" name="">
            <a:extLst>
              <a:ext uri="{FF2B5EF4-FFF2-40B4-BE49-F238E27FC236}">
                <a16:creationId xmlns:a16="http://schemas.microsoft.com/office/drawing/2014/main" id="{50382CE4-25B9-4F93-95EA-C2893B5516BB}"/>
              </a:ext>
            </a:extLst>
          </p:cNvPr>
          <p:cNvSpPr>
            <a:spLocks noGrp="1"/>
          </p:cNvSpPr>
          <p:nvPr/>
        </p:nvSpPr>
        <p:spPr>
          <a:xfrm>
            <a:off x="8382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25" name="">
            <a:extLst>
              <a:ext uri="{FF2B5EF4-FFF2-40B4-BE49-F238E27FC236}">
                <a16:creationId xmlns:a16="http://schemas.microsoft.com/office/drawing/2014/main" id="{0554D802-4E35-4493-A040-EBB9030F3F4E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6" name="">
            <a:extLst>
              <a:ext uri="{FF2B5EF4-FFF2-40B4-BE49-F238E27FC236}">
                <a16:creationId xmlns:a16="http://schemas.microsoft.com/office/drawing/2014/main" id="{42E7A137-3813-409A-95BC-2CF6A7879627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7" name="">
            <a:extLst>
              <a:ext uri="{FF2B5EF4-FFF2-40B4-BE49-F238E27FC236}">
                <a16:creationId xmlns:a16="http://schemas.microsoft.com/office/drawing/2014/main" id="{D015D6CB-B4CB-48C3-BF11-5D852A8D654C}"/>
              </a:ext>
            </a:extLst>
          </p:cNvPr>
          <p:cNvSpPr>
            <a:spLocks noGrp="1"/>
          </p:cNvSpPr>
          <p:nvPr/>
        </p:nvSpPr>
        <p:spPr>
          <a:xfrm>
            <a:off x="64198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04</a:t>
            </a:r>
          </a:p>
        </p:txBody>
      </p:sp>
      <p:sp>
        <p:nvSpPr>
          <p:cNvPr id="28" name="">
            <a:extLst>
              <a:ext uri="{FF2B5EF4-FFF2-40B4-BE49-F238E27FC236}">
                <a16:creationId xmlns:a16="http://schemas.microsoft.com/office/drawing/2014/main" id="{6DA70BE6-B36E-447E-BB42-1ACF6D1DC1FE}"/>
              </a:ext>
            </a:extLst>
          </p:cNvPr>
          <p:cNvSpPr>
            <a:spLocks noGrp="1"/>
          </p:cNvSpPr>
          <p:nvPr/>
        </p:nvSpPr>
        <p:spPr>
          <a:xfrm>
            <a:off x="71247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汽車＝應用</a:t>
            </a:r>
          </a:p>
        </p:txBody>
      </p:sp>
      <p:sp>
        <p:nvSpPr>
          <p:cNvPr id="29" name="">
            <a:extLst>
              <a:ext uri="{FF2B5EF4-FFF2-40B4-BE49-F238E27FC236}">
                <a16:creationId xmlns:a16="http://schemas.microsoft.com/office/drawing/2014/main" id="{70B6D5FA-EA01-4907-A6CB-D4041C18C5ED}"/>
              </a:ext>
            </a:extLst>
          </p:cNvPr>
          <p:cNvSpPr>
            <a:spLocks noGrp="1"/>
          </p:cNvSpPr>
          <p:nvPr/>
        </p:nvSpPr>
        <p:spPr>
          <a:xfrm>
            <a:off x="64389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真正交到使用者手上的服務：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寫程式、客服、法律、音樂、機器人。</a:t>
            </a:r>
          </a:p>
        </p:txBody>
      </p:sp>
      <p:sp>
        <p:nvSpPr>
          <p:cNvPr id="30" name="">
            <a:extLst>
              <a:ext uri="{FF2B5EF4-FFF2-40B4-BE49-F238E27FC236}">
                <a16:creationId xmlns:a16="http://schemas.microsoft.com/office/drawing/2014/main" id="{DAE4AA41-CF0B-4EB5-871A-7FD226B0079B}"/>
              </a:ext>
            </a:extLst>
          </p:cNvPr>
          <p:cNvSpPr>
            <a:spLocks noGrp="1"/>
          </p:cNvSpPr>
          <p:nvPr/>
        </p:nvSpPr>
        <p:spPr>
          <a:xfrm>
            <a:off x="64389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31" name="">
            <a:extLst>
              <a:ext uri="{FF2B5EF4-FFF2-40B4-BE49-F238E27FC236}">
                <a16:creationId xmlns:a16="http://schemas.microsoft.com/office/drawing/2014/main" id="{68EB7237-7F7B-4EBB-8147-7D3116DA24B3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6  /  AI 新創地圖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E3A4D602-346A-48B7-AE99-FAAAA326895A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4 大區、10 座島：全學期共用的地圖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EB9EFF97-9BDD-4B70-A899-0F84C83E795D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後三區＝期末分組研究的三個方向，每組三個人各負責一區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D12C4FFE-AA45-4E84-9A78-83B6155A0076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94862769-381A-4C7F-B6F8-66BEDA67D9A6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682FD63C-1A06-42CE-A2D4-A2173418FE75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06 / 13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27A1CCD5-B26A-4035-801D-C98F40910D30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400BA3D1-834E-4646-9683-131ABCF808E2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66F096E-6BFD-4B19-BFFC-76160372441F}"/>
              </a:ext>
            </a:extLst>
          </p:cNvPr>
          <p:cNvSpPr>
            <a:spLocks noGrp="1"/>
          </p:cNvSpPr>
          <p:nvPr/>
        </p:nvSpPr>
        <p:spPr>
          <a:xfrm>
            <a:off x="8191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9B2C30A9-4597-48FB-9C72-464F020DDEFA}"/>
              </a:ext>
            </a:extLst>
          </p:cNvPr>
          <p:cNvSpPr>
            <a:spLocks noGrp="1"/>
          </p:cNvSpPr>
          <p:nvPr/>
        </p:nvSpPr>
        <p:spPr>
          <a:xfrm>
            <a:off x="15240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底層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149FFC90-3B89-4B88-A159-F50282024610}"/>
              </a:ext>
            </a:extLst>
          </p:cNvPr>
          <p:cNvSpPr>
            <a:spLocks noGrp="1"/>
          </p:cNvSpPr>
          <p:nvPr/>
        </p:nvSpPr>
        <p:spPr>
          <a:xfrm>
            <a:off x="8382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島 1 基礎模型：大家共用的引擎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C0389E3D-C56E-4707-A449-0AC32CA578CA}"/>
              </a:ext>
            </a:extLst>
          </p:cNvPr>
          <p:cNvSpPr>
            <a:spLocks noGrp="1"/>
          </p:cNvSpPr>
          <p:nvPr/>
        </p:nvSpPr>
        <p:spPr>
          <a:xfrm>
            <a:off x="8382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CE170350-F5E0-44DF-A0AD-00F684A3D9DC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AD3B1000-E290-49F8-9D0E-0C06A872F305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639B8976-571E-4A1C-849D-D2C3FF78EED3}"/>
              </a:ext>
            </a:extLst>
          </p:cNvPr>
          <p:cNvSpPr>
            <a:spLocks noGrp="1"/>
          </p:cNvSpPr>
          <p:nvPr/>
        </p:nvSpPr>
        <p:spPr>
          <a:xfrm>
            <a:off x="64198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EBA0E952-AD26-4E31-89D8-0E17D9EBCC49}"/>
              </a:ext>
            </a:extLst>
          </p:cNvPr>
          <p:cNvSpPr>
            <a:spLocks noGrp="1"/>
          </p:cNvSpPr>
          <p:nvPr/>
        </p:nvSpPr>
        <p:spPr>
          <a:xfrm>
            <a:off x="71247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Agent 經濟基礎設施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27A6A621-6AE2-4020-9522-1EFCDF0C4D22}"/>
              </a:ext>
            </a:extLst>
          </p:cNvPr>
          <p:cNvSpPr>
            <a:spLocks noGrp="1"/>
          </p:cNvSpPr>
          <p:nvPr/>
        </p:nvSpPr>
        <p:spPr>
          <a:xfrm>
            <a:off x="64389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島 2 算力、島 3 資料平台、島 5 Agent 基礎設施</a:t>
            </a:r>
          </a:p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3D5E9FEA-7654-4EFA-8998-C77A9A4BA516}"/>
              </a:ext>
            </a:extLst>
          </p:cNvPr>
          <p:cNvSpPr>
            <a:spLocks noGrp="1"/>
          </p:cNvSpPr>
          <p:nvPr/>
        </p:nvSpPr>
        <p:spPr>
          <a:xfrm>
            <a:off x="64389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E8F8ED3D-E01B-4FE2-8DDB-B2AFB41A9CEE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4AB9F765-1955-4D41-9C88-83F376762D9E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45D78E31-998E-4BFA-A554-D824FA379782}"/>
              </a:ext>
            </a:extLst>
          </p:cNvPr>
          <p:cNvSpPr>
            <a:spLocks noGrp="1"/>
          </p:cNvSpPr>
          <p:nvPr/>
        </p:nvSpPr>
        <p:spPr>
          <a:xfrm>
            <a:off x="8191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DC700C09-5DC7-4A22-AA97-AC16015F50CC}"/>
              </a:ext>
            </a:extLst>
          </p:cNvPr>
          <p:cNvSpPr>
            <a:spLocks noGrp="1"/>
          </p:cNvSpPr>
          <p:nvPr/>
        </p:nvSpPr>
        <p:spPr>
          <a:xfrm>
            <a:off x="15240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AI 原生服務</a:t>
            </a:r>
          </a:p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8668167D-14C4-4575-B53E-7AABB13896ED}"/>
              </a:ext>
            </a:extLst>
          </p:cNvPr>
          <p:cNvSpPr>
            <a:spLocks noGrp="1"/>
          </p:cNvSpPr>
          <p:nvPr/>
        </p:nvSpPr>
        <p:spPr>
          <a:xfrm>
            <a:off x="8382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島 4 AI 寫程式、島 6 垂直 Agent、島 7 消費創意</a:t>
            </a:r>
          </a:p>
        </p:txBody>
      </p:sp>
      <p:sp>
        <p:nvSpPr>
          <p:cNvPr id="24" name="">
            <a:extLst>
              <a:ext uri="{FF2B5EF4-FFF2-40B4-BE49-F238E27FC236}">
                <a16:creationId xmlns:a16="http://schemas.microsoft.com/office/drawing/2014/main" id="{50382CE4-25B9-4F93-95EA-C2893B5516BB}"/>
              </a:ext>
            </a:extLst>
          </p:cNvPr>
          <p:cNvSpPr>
            <a:spLocks noGrp="1"/>
          </p:cNvSpPr>
          <p:nvPr/>
        </p:nvSpPr>
        <p:spPr>
          <a:xfrm>
            <a:off x="8382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25" name="">
            <a:extLst>
              <a:ext uri="{FF2B5EF4-FFF2-40B4-BE49-F238E27FC236}">
                <a16:creationId xmlns:a16="http://schemas.microsoft.com/office/drawing/2014/main" id="{0554D802-4E35-4493-A040-EBB9030F3F4E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6" name="">
            <a:extLst>
              <a:ext uri="{FF2B5EF4-FFF2-40B4-BE49-F238E27FC236}">
                <a16:creationId xmlns:a16="http://schemas.microsoft.com/office/drawing/2014/main" id="{42E7A137-3813-409A-95BC-2CF6A7879627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7" name="">
            <a:extLst>
              <a:ext uri="{FF2B5EF4-FFF2-40B4-BE49-F238E27FC236}">
                <a16:creationId xmlns:a16="http://schemas.microsoft.com/office/drawing/2014/main" id="{D015D6CB-B4CB-48C3-BF11-5D852A8D654C}"/>
              </a:ext>
            </a:extLst>
          </p:cNvPr>
          <p:cNvSpPr>
            <a:spLocks noGrp="1"/>
          </p:cNvSpPr>
          <p:nvPr/>
        </p:nvSpPr>
        <p:spPr>
          <a:xfrm>
            <a:off x="64198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04</a:t>
            </a:r>
          </a:p>
        </p:txBody>
      </p:sp>
      <p:sp>
        <p:nvSpPr>
          <p:cNvPr id="28" name="">
            <a:extLst>
              <a:ext uri="{FF2B5EF4-FFF2-40B4-BE49-F238E27FC236}">
                <a16:creationId xmlns:a16="http://schemas.microsoft.com/office/drawing/2014/main" id="{6DA70BE6-B36E-447E-BB42-1ACF6D1DC1FE}"/>
              </a:ext>
            </a:extLst>
          </p:cNvPr>
          <p:cNvSpPr>
            <a:spLocks noGrp="1"/>
          </p:cNvSpPr>
          <p:nvPr/>
        </p:nvSpPr>
        <p:spPr>
          <a:xfrm>
            <a:off x="71247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AI 進入實體世界</a:t>
            </a:r>
          </a:p>
        </p:txBody>
      </p:sp>
      <p:sp>
        <p:nvSpPr>
          <p:cNvPr id="29" name="">
            <a:extLst>
              <a:ext uri="{FF2B5EF4-FFF2-40B4-BE49-F238E27FC236}">
                <a16:creationId xmlns:a16="http://schemas.microsoft.com/office/drawing/2014/main" id="{70B6D5FA-EA01-4907-A6CB-D4041C18C5ED}"/>
              </a:ext>
            </a:extLst>
          </p:cNvPr>
          <p:cNvSpPr>
            <a:spLocks noGrp="1"/>
          </p:cNvSpPr>
          <p:nvPr/>
        </p:nvSpPr>
        <p:spPr>
          <a:xfrm>
            <a:off x="64389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島 8 實體 AI、島 9 國防 AI、島 10 AI for Science</a:t>
            </a:r>
          </a:p>
        </p:txBody>
      </p:sp>
      <p:sp>
        <p:nvSpPr>
          <p:cNvPr id="30" name="">
            <a:extLst>
              <a:ext uri="{FF2B5EF4-FFF2-40B4-BE49-F238E27FC236}">
                <a16:creationId xmlns:a16="http://schemas.microsoft.com/office/drawing/2014/main" id="{DAE4AA41-CF0B-4EB5-871A-7FD226B0079B}"/>
              </a:ext>
            </a:extLst>
          </p:cNvPr>
          <p:cNvSpPr>
            <a:spLocks noGrp="1"/>
          </p:cNvSpPr>
          <p:nvPr/>
        </p:nvSpPr>
        <p:spPr>
          <a:xfrm>
            <a:off x="64389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" name="">
            <a:extLst>
              <a:ext uri="{FF2B5EF4-FFF2-40B4-BE49-F238E27FC236}">
                <a16:creationId xmlns:a16="http://schemas.microsoft.com/office/drawing/2014/main" id="{D99C096F-6EB5-41EA-B969-490BF1A5FE7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E"/>
          </a:solidFill>
          <a:ln w="9525">
            <a:solidFill>
              <a:srgbClr val="F6F3EE"/>
            </a:solidFill>
          </a:ln>
        </p:spPr>
        <p:txBody>
          <a:bodyPr/>
          <a:p/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F945F193-D6A2-4A5E-BD73-6B69757A3820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444"/>
          </a:bodyPr>
          <a:lstStyle/>
          <a:p>
            <a:pPr algn="l"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6  /  AI 新創地圖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EBE0DE06-5026-47E2-9F71-7631AE1BDAE2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島 1 基礎模型：大家共用的引擎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E0ED7F9D-7CE4-45F4-B7CB-9761EE5DF652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只有幾家做得起；你們的題目不會在這一層，但一定會用到它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A2DC1420-12C3-4916-8E72-AE7443D5B25C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2F07DDDE-8D75-462F-91D5-4B36B43575EE}"/>
              </a:ext>
            </a:extLst>
          </p:cNvPr>
          <p:cNvSpPr>
            <a:spLocks noGrp="1"/>
          </p:cNvSpPr>
          <p:nvPr/>
        </p:nvSpPr>
        <p:spPr>
          <a:xfrm>
            <a:off x="609600" y="636270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l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C5FE7A55-B727-4B6F-9EE2-D39F3300B62E}"/>
              </a:ext>
            </a:extLst>
          </p:cNvPr>
          <p:cNvSpPr>
            <a:spLocks noGrp="1"/>
          </p:cNvSpPr>
          <p:nvPr/>
        </p:nvSpPr>
        <p:spPr>
          <a:xfrm>
            <a:off x="10477500" y="6362700"/>
            <a:ext cx="11049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r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07 / 13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E25F88BD-8320-4506-A81F-3D2EC6975FEA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44767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23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3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美國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993229B-BD18-4B58-BFFD-54C5C43644DE}"/>
              </a:ext>
            </a:extLst>
          </p:cNvPr>
          <p:cNvSpPr>
            <a:spLocks noGrp="1"/>
          </p:cNvSpPr>
          <p:nvPr/>
        </p:nvSpPr>
        <p:spPr>
          <a:xfrm>
            <a:off x="609600" y="3000375"/>
            <a:ext cx="4762500" cy="2238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OpenAI：ChatGPT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Anthropic：Claude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xAI：Grok（已併入 SpaceX）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2026 Q1 這三家合計募了 1,820 億美元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92A462A0-899F-4C1D-9C7C-25D4058895FB}"/>
              </a:ext>
            </a:extLst>
          </p:cNvPr>
          <p:cNvSpPr>
            <a:spLocks noGrp="1"/>
          </p:cNvSpPr>
          <p:nvPr/>
        </p:nvSpPr>
        <p:spPr>
          <a:xfrm>
            <a:off x="5953125" y="2428875"/>
            <a:ext cx="38100" cy="29527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B13E5783-0243-4D15-B1DC-FFBD06FE9F16}"/>
              </a:ext>
            </a:extLst>
          </p:cNvPr>
          <p:cNvSpPr>
            <a:spLocks noGrp="1"/>
          </p:cNvSpPr>
          <p:nvPr/>
        </p:nvSpPr>
        <p:spPr>
          <a:xfrm>
            <a:off x="6572250" y="2428875"/>
            <a:ext cx="44767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2325" b="1">
                <a:solidFill>
                  <a:srgbClr val="14395B"/>
                </a:solidFill>
                <a:latin typeface="PingFang TC"/>
                <a:ea typeface="PingFang TC"/>
                <a:cs typeface="PingFang TC"/>
              </a:defRPr>
            </a:pPr>
            <a:r>
              <a:rPr sz="2325" b="1">
                <a:solidFill>
                  <a:srgbClr val="14395B"/>
                </a:solidFill>
                <a:latin typeface="PingFang TC"/>
                <a:ea typeface="PingFang TC"/>
                <a:cs typeface="PingFang TC"/>
              </a:rPr>
              <a:t>美國以外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204B0874-5189-41D9-9F8F-D809113B0CB0}"/>
              </a:ext>
            </a:extLst>
          </p:cNvPr>
          <p:cNvSpPr>
            <a:spLocks noGrp="1"/>
          </p:cNvSpPr>
          <p:nvPr/>
        </p:nvSpPr>
        <p:spPr>
          <a:xfrm>
            <a:off x="6572250" y="3000375"/>
            <a:ext cx="4762500" cy="2238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Mistral AI（法國）：歐洲自己的模型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DeepSeek（中國）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Moonshot AI（中國）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重點：「主權 AI」——各國想要自己的引擎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5A63A13F-D1D5-4F06-BFE8-CD5525CCAD8B}"/>
              </a:ext>
            </a:extLst>
          </p:cNvPr>
          <p:cNvSpPr>
            <a:spLocks noGrp="1"/>
          </p:cNvSpPr>
          <p:nvPr/>
        </p:nvSpPr>
        <p:spPr>
          <a:xfrm>
            <a:off x="609600" y="5600700"/>
            <a:ext cx="109728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6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利益揭露：Anthropic 是開發 Claude 的公司；這份簡報由 Claude 協助整理，數字都附來源。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" name="">
            <a:extLst>
              <a:ext uri="{FF2B5EF4-FFF2-40B4-BE49-F238E27FC236}">
                <a16:creationId xmlns:a16="http://schemas.microsoft.com/office/drawing/2014/main" id="{482E03A9-F1BB-408B-BE0F-61666E3C367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E"/>
          </a:solidFill>
          <a:ln w="9525">
            <a:solidFill>
              <a:srgbClr val="F6F3EE"/>
            </a:solidFill>
          </a:ln>
        </p:spPr>
        <p:txBody>
          <a:bodyPr/>
          <a:p/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32821D0B-7BB9-4BEA-8568-4AEA506F821E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444"/>
          </a:bodyPr>
          <a:lstStyle/>
          <a:p>
            <a:pPr algn="l"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6  /  AI 新創地圖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7ED7AA5C-1BBF-4A51-9587-BA5F6F04C78E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Agent 經濟基礎設施：讓 agent 跑得起來的東西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698E7BB7-A40C-43D3-9FF0-18E046A80787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三座島；學生最容易忽略、但錢很多的一區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CDDA15AF-D83A-474D-A456-43204758A811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77B95A0A-8FD1-49B6-8553-75CAA5444E19}"/>
              </a:ext>
            </a:extLst>
          </p:cNvPr>
          <p:cNvSpPr>
            <a:spLocks noGrp="1"/>
          </p:cNvSpPr>
          <p:nvPr/>
        </p:nvSpPr>
        <p:spPr>
          <a:xfrm>
            <a:off x="609600" y="636270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l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9B45994A-9DF8-4526-9B16-24CAE03C38D1}"/>
              </a:ext>
            </a:extLst>
          </p:cNvPr>
          <p:cNvSpPr>
            <a:spLocks noGrp="1"/>
          </p:cNvSpPr>
          <p:nvPr/>
        </p:nvSpPr>
        <p:spPr>
          <a:xfrm>
            <a:off x="10477500" y="6362700"/>
            <a:ext cx="11049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r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08 / 13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382371FE-697D-40E4-BB3A-4680C9492111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457200" cy="457200"/>
          </a:xfrm>
          <a:prstGeom prst="rect">
            <a:avLst/>
          </a:prstGeom>
          <a:solidFill>
            <a:srgbClr val="E63946"/>
          </a:solidFill>
          <a:ln w="9525">
            <a:solidFill>
              <a:srgbClr val="E63946"/>
            </a:solidFill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3C320CB9-C3AD-46D4-B730-D814052F3DBA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AEF2220A-25C8-4436-884F-D94EFAE572B1}"/>
              </a:ext>
            </a:extLst>
          </p:cNvPr>
          <p:cNvSpPr>
            <a:spLocks noGrp="1"/>
          </p:cNvSpPr>
          <p:nvPr/>
        </p:nvSpPr>
        <p:spPr>
          <a:xfrm>
            <a:off x="1314450" y="2409825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436"/>
          </a:bodyPr>
          <a:lstStyle/>
          <a:p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島 2 算力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9C8C0427-9A41-4804-B115-6DB5C54BE26C}"/>
              </a:ext>
            </a:extLst>
          </p:cNvPr>
          <p:cNvSpPr>
            <a:spLocks noGrp="1"/>
          </p:cNvSpPr>
          <p:nvPr/>
        </p:nvSpPr>
        <p:spPr>
          <a:xfrm>
            <a:off x="4429125" y="2409825"/>
            <a:ext cx="695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AI 的發電廠：訓練和執行 AI 的電腦與機房。例：Crusoe（美）、Nscale（英）。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A4D9B320-DC9A-4954-BCBD-D1A12EBEB5F1}"/>
              </a:ext>
            </a:extLst>
          </p:cNvPr>
          <p:cNvSpPr>
            <a:spLocks noGrp="1"/>
          </p:cNvSpPr>
          <p:nvPr/>
        </p:nvSpPr>
        <p:spPr>
          <a:xfrm>
            <a:off x="1314450" y="3019425"/>
            <a:ext cx="1026795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EBF68F2A-63F8-4862-B27E-F8DF179D2DA6}"/>
              </a:ext>
            </a:extLst>
          </p:cNvPr>
          <p:cNvSpPr>
            <a:spLocks noGrp="1"/>
          </p:cNvSpPr>
          <p:nvPr/>
        </p:nvSpPr>
        <p:spPr>
          <a:xfrm>
            <a:off x="609600" y="3381375"/>
            <a:ext cx="457200" cy="457200"/>
          </a:xfrm>
          <a:prstGeom prst="rect">
            <a:avLst/>
          </a:prstGeom>
          <a:solidFill>
            <a:srgbClr val="14395B"/>
          </a:solidFill>
          <a:ln w="9525">
            <a:solidFill>
              <a:srgbClr val="14395B"/>
            </a:solidFill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E534EE12-5C89-491C-8932-2A672F3E98D7}"/>
              </a:ext>
            </a:extLst>
          </p:cNvPr>
          <p:cNvSpPr>
            <a:spLocks noGrp="1"/>
          </p:cNvSpPr>
          <p:nvPr/>
        </p:nvSpPr>
        <p:spPr>
          <a:xfrm>
            <a:off x="609600" y="33813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AED1200E-7BE2-4DD2-ADA0-7D30E6B0981B}"/>
              </a:ext>
            </a:extLst>
          </p:cNvPr>
          <p:cNvSpPr>
            <a:spLocks noGrp="1"/>
          </p:cNvSpPr>
          <p:nvPr/>
        </p:nvSpPr>
        <p:spPr>
          <a:xfrm>
            <a:off x="1314450" y="3362325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436"/>
          </a:bodyPr>
          <a:lstStyle/>
          <a:p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島 3 資料平台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F22A966B-DF26-4D7E-8ECC-14591A3B9F8E}"/>
              </a:ext>
            </a:extLst>
          </p:cNvPr>
          <p:cNvSpPr>
            <a:spLocks noGrp="1"/>
          </p:cNvSpPr>
          <p:nvPr/>
        </p:nvSpPr>
        <p:spPr>
          <a:xfrm>
            <a:off x="4429125" y="3362325"/>
            <a:ext cx="695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讓 App 和 AI 有地方放資料。例：Databricks、Supabase——我們課程 app 的資料庫就是 Supabase。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4347ED41-C791-4EE4-9C69-652BD9AC2DE6}"/>
              </a:ext>
            </a:extLst>
          </p:cNvPr>
          <p:cNvSpPr>
            <a:spLocks noGrp="1"/>
          </p:cNvSpPr>
          <p:nvPr/>
        </p:nvSpPr>
        <p:spPr>
          <a:xfrm>
            <a:off x="1314450" y="3971925"/>
            <a:ext cx="1026795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3B36BABB-0E6E-4648-BB95-CCB3E591DDF3}"/>
              </a:ext>
            </a:extLst>
          </p:cNvPr>
          <p:cNvSpPr>
            <a:spLocks noGrp="1"/>
          </p:cNvSpPr>
          <p:nvPr/>
        </p:nvSpPr>
        <p:spPr>
          <a:xfrm>
            <a:off x="609600" y="4333875"/>
            <a:ext cx="457200" cy="457200"/>
          </a:xfrm>
          <a:prstGeom prst="rect">
            <a:avLst/>
          </a:prstGeom>
          <a:solidFill>
            <a:srgbClr val="C99827"/>
          </a:solidFill>
          <a:ln w="9525">
            <a:solidFill>
              <a:srgbClr val="C99827"/>
            </a:solidFill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CA631708-CE6D-42BC-B460-B476022771E7}"/>
              </a:ext>
            </a:extLst>
          </p:cNvPr>
          <p:cNvSpPr>
            <a:spLocks noGrp="1"/>
          </p:cNvSpPr>
          <p:nvPr/>
        </p:nvSpPr>
        <p:spPr>
          <a:xfrm>
            <a:off x="609600" y="43338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C7AE9068-2762-4A03-A15E-EE94A7A0CDF0}"/>
              </a:ext>
            </a:extLst>
          </p:cNvPr>
          <p:cNvSpPr>
            <a:spLocks noGrp="1"/>
          </p:cNvSpPr>
          <p:nvPr/>
        </p:nvSpPr>
        <p:spPr>
          <a:xfrm>
            <a:off x="1314450" y="4314825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436"/>
          </a:bodyPr>
          <a:lstStyle/>
          <a:p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島 5 Agent 基礎設施</a:t>
            </a:r>
          </a:p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5BD73FAB-8CB1-41D3-B640-715FEE6AF17E}"/>
              </a:ext>
            </a:extLst>
          </p:cNvPr>
          <p:cNvSpPr>
            <a:spLocks noGrp="1"/>
          </p:cNvSpPr>
          <p:nvPr/>
        </p:nvSpPr>
        <p:spPr>
          <a:xfrm>
            <a:off x="4429125" y="4314825"/>
            <a:ext cx="695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讓 agent 能被打造、測試、管住、不洩密。例：LangChain、Cyera。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8FA808F9-3FCE-4AFA-B8B7-2FF36A31D8F6}"/>
              </a:ext>
            </a:extLst>
          </p:cNvPr>
          <p:cNvSpPr>
            <a:spLocks noGrp="1"/>
          </p:cNvSpPr>
          <p:nvPr/>
        </p:nvSpPr>
        <p:spPr>
          <a:xfrm>
            <a:off x="1314450" y="4924425"/>
            <a:ext cx="1026795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52391823-4577-41D5-B5F1-22EFE691E292}"/>
              </a:ext>
            </a:extLst>
          </p:cNvPr>
          <p:cNvSpPr>
            <a:spLocks noGrp="1"/>
          </p:cNvSpPr>
          <p:nvPr/>
        </p:nvSpPr>
        <p:spPr>
          <a:xfrm>
            <a:off x="609600" y="5572125"/>
            <a:ext cx="109728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5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11/27 會讓你猜：這些公司向誰收錢、怎麼收、取代了誰。今天先記住名字和「做什麼」。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" name="">
            <a:extLst>
              <a:ext uri="{FF2B5EF4-FFF2-40B4-BE49-F238E27FC236}">
                <a16:creationId xmlns:a16="http://schemas.microsoft.com/office/drawing/2014/main" id="{482E03A9-F1BB-408B-BE0F-61666E3C367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E"/>
          </a:solidFill>
          <a:ln w="9525">
            <a:solidFill>
              <a:srgbClr val="F6F3EE"/>
            </a:solidFill>
          </a:ln>
        </p:spPr>
        <p:txBody>
          <a:bodyPr/>
          <a:p/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32821D0B-7BB9-4BEA-8568-4AEA506F821E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444"/>
          </a:bodyPr>
          <a:lstStyle/>
          <a:p>
            <a:pPr algn="l"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6  /  AI 新創地圖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7ED7AA5C-1BBF-4A51-9587-BA5F6F04C78E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AI 原生服務：一開始就用 AI 做的服務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698E7BB7-A40C-43D3-9FF0-18E046A80787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三座島；班上多數產業線會落在這一區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CDDA15AF-D83A-474D-A456-43204758A811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77B95A0A-8FD1-49B6-8553-75CAA5444E19}"/>
              </a:ext>
            </a:extLst>
          </p:cNvPr>
          <p:cNvSpPr>
            <a:spLocks noGrp="1"/>
          </p:cNvSpPr>
          <p:nvPr/>
        </p:nvSpPr>
        <p:spPr>
          <a:xfrm>
            <a:off x="609600" y="636270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l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9B45994A-9DF8-4526-9B16-24CAE03C38D1}"/>
              </a:ext>
            </a:extLst>
          </p:cNvPr>
          <p:cNvSpPr>
            <a:spLocks noGrp="1"/>
          </p:cNvSpPr>
          <p:nvPr/>
        </p:nvSpPr>
        <p:spPr>
          <a:xfrm>
            <a:off x="10477500" y="6362700"/>
            <a:ext cx="11049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r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09 / 13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382371FE-697D-40E4-BB3A-4680C9492111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457200" cy="457200"/>
          </a:xfrm>
          <a:prstGeom prst="rect">
            <a:avLst/>
          </a:prstGeom>
          <a:solidFill>
            <a:srgbClr val="E63946"/>
          </a:solidFill>
          <a:ln w="9525">
            <a:solidFill>
              <a:srgbClr val="E63946"/>
            </a:solidFill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3C320CB9-C3AD-46D4-B730-D814052F3DBA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AEF2220A-25C8-4436-884F-D94EFAE572B1}"/>
              </a:ext>
            </a:extLst>
          </p:cNvPr>
          <p:cNvSpPr>
            <a:spLocks noGrp="1"/>
          </p:cNvSpPr>
          <p:nvPr/>
        </p:nvSpPr>
        <p:spPr>
          <a:xfrm>
            <a:off x="1314450" y="2409825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436"/>
          </a:bodyPr>
          <a:lstStyle/>
          <a:p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島 4 AI 寫程式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9C8C0427-9A41-4804-B115-6DB5C54BE26C}"/>
              </a:ext>
            </a:extLst>
          </p:cNvPr>
          <p:cNvSpPr>
            <a:spLocks noGrp="1"/>
          </p:cNvSpPr>
          <p:nvPr/>
        </p:nvSpPr>
        <p:spPr>
          <a:xfrm>
            <a:off x="4429125" y="2409825"/>
            <a:ext cx="695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不會寫程式的人也能做出網站和 App。例：Cursor、Lovable（瑞典）、Replit。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A4D9B320-DC9A-4954-BCBD-D1A12EBEB5F1}"/>
              </a:ext>
            </a:extLst>
          </p:cNvPr>
          <p:cNvSpPr>
            <a:spLocks noGrp="1"/>
          </p:cNvSpPr>
          <p:nvPr/>
        </p:nvSpPr>
        <p:spPr>
          <a:xfrm>
            <a:off x="1314450" y="3019425"/>
            <a:ext cx="1026795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EBF68F2A-63F8-4862-B27E-F8DF179D2DA6}"/>
              </a:ext>
            </a:extLst>
          </p:cNvPr>
          <p:cNvSpPr>
            <a:spLocks noGrp="1"/>
          </p:cNvSpPr>
          <p:nvPr/>
        </p:nvSpPr>
        <p:spPr>
          <a:xfrm>
            <a:off x="609600" y="3381375"/>
            <a:ext cx="457200" cy="457200"/>
          </a:xfrm>
          <a:prstGeom prst="rect">
            <a:avLst/>
          </a:prstGeom>
          <a:solidFill>
            <a:srgbClr val="14395B"/>
          </a:solidFill>
          <a:ln w="9525">
            <a:solidFill>
              <a:srgbClr val="14395B"/>
            </a:solidFill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E534EE12-5C89-491C-8932-2A672F3E98D7}"/>
              </a:ext>
            </a:extLst>
          </p:cNvPr>
          <p:cNvSpPr>
            <a:spLocks noGrp="1"/>
          </p:cNvSpPr>
          <p:nvPr/>
        </p:nvSpPr>
        <p:spPr>
          <a:xfrm>
            <a:off x="609600" y="33813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AED1200E-7BE2-4DD2-ADA0-7D30E6B0981B}"/>
              </a:ext>
            </a:extLst>
          </p:cNvPr>
          <p:cNvSpPr>
            <a:spLocks noGrp="1"/>
          </p:cNvSpPr>
          <p:nvPr/>
        </p:nvSpPr>
        <p:spPr>
          <a:xfrm>
            <a:off x="1314450" y="3362325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436"/>
          </a:bodyPr>
          <a:lstStyle/>
          <a:p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島 6 垂直 Agent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F22A966B-DF26-4D7E-8ECC-14591A3B9F8E}"/>
              </a:ext>
            </a:extLst>
          </p:cNvPr>
          <p:cNvSpPr>
            <a:spLocks noGrp="1"/>
          </p:cNvSpPr>
          <p:nvPr/>
        </p:nvSpPr>
        <p:spPr>
          <a:xfrm>
            <a:off x="4429125" y="3362325"/>
            <a:ext cx="695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專做一行的 AI 員工。例：Harvey（法律）、Sierra（客服）、Owner（獨立餐廳）。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4347ED41-C791-4EE4-9C69-652BD9AC2DE6}"/>
              </a:ext>
            </a:extLst>
          </p:cNvPr>
          <p:cNvSpPr>
            <a:spLocks noGrp="1"/>
          </p:cNvSpPr>
          <p:nvPr/>
        </p:nvSpPr>
        <p:spPr>
          <a:xfrm>
            <a:off x="1314450" y="3971925"/>
            <a:ext cx="1026795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3B36BABB-0E6E-4648-BB95-CCB3E591DDF3}"/>
              </a:ext>
            </a:extLst>
          </p:cNvPr>
          <p:cNvSpPr>
            <a:spLocks noGrp="1"/>
          </p:cNvSpPr>
          <p:nvPr/>
        </p:nvSpPr>
        <p:spPr>
          <a:xfrm>
            <a:off x="609600" y="4333875"/>
            <a:ext cx="457200" cy="457200"/>
          </a:xfrm>
          <a:prstGeom prst="rect">
            <a:avLst/>
          </a:prstGeom>
          <a:solidFill>
            <a:srgbClr val="C99827"/>
          </a:solidFill>
          <a:ln w="9525">
            <a:solidFill>
              <a:srgbClr val="C99827"/>
            </a:solidFill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CA631708-CE6D-42BC-B460-B476022771E7}"/>
              </a:ext>
            </a:extLst>
          </p:cNvPr>
          <p:cNvSpPr>
            <a:spLocks noGrp="1"/>
          </p:cNvSpPr>
          <p:nvPr/>
        </p:nvSpPr>
        <p:spPr>
          <a:xfrm>
            <a:off x="609600" y="43338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C7AE9068-2762-4A03-A15E-EE94A7A0CDF0}"/>
              </a:ext>
            </a:extLst>
          </p:cNvPr>
          <p:cNvSpPr>
            <a:spLocks noGrp="1"/>
          </p:cNvSpPr>
          <p:nvPr/>
        </p:nvSpPr>
        <p:spPr>
          <a:xfrm>
            <a:off x="1314450" y="4314825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436"/>
          </a:bodyPr>
          <a:lstStyle/>
          <a:p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島 7 消費創意</a:t>
            </a:r>
          </a:p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5BD73FAB-8CB1-41D3-B640-715FEE6AF17E}"/>
              </a:ext>
            </a:extLst>
          </p:cNvPr>
          <p:cNvSpPr>
            <a:spLocks noGrp="1"/>
          </p:cNvSpPr>
          <p:nvPr/>
        </p:nvSpPr>
        <p:spPr>
          <a:xfrm>
            <a:off x="4429125" y="4314825"/>
            <a:ext cx="695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一般人直接用的 AI。例：Perplexity（搜尋）、ElevenLabs（聲音）、Suno（音樂）。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8FA808F9-3FCE-4AFA-B8B7-2FF36A31D8F6}"/>
              </a:ext>
            </a:extLst>
          </p:cNvPr>
          <p:cNvSpPr>
            <a:spLocks noGrp="1"/>
          </p:cNvSpPr>
          <p:nvPr/>
        </p:nvSpPr>
        <p:spPr>
          <a:xfrm>
            <a:off x="1314450" y="4924425"/>
            <a:ext cx="1026795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52391823-4577-41D5-B5F1-22EFE691E292}"/>
              </a:ext>
            </a:extLst>
          </p:cNvPr>
          <p:cNvSpPr>
            <a:spLocks noGrp="1"/>
          </p:cNvSpPr>
          <p:nvPr/>
        </p:nvSpPr>
        <p:spPr>
          <a:xfrm>
            <a:off x="609600" y="5572125"/>
            <a:ext cx="109728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5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想一想：你的產業線（餐飲、網拍、旅宿……）在島 6 會長什麼樣子？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" name="">
            <a:extLst>
              <a:ext uri="{FF2B5EF4-FFF2-40B4-BE49-F238E27FC236}">
                <a16:creationId xmlns:a16="http://schemas.microsoft.com/office/drawing/2014/main" id="{482E03A9-F1BB-408B-BE0F-61666E3C367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E"/>
          </a:solidFill>
          <a:ln w="9525">
            <a:solidFill>
              <a:srgbClr val="F6F3EE"/>
            </a:solidFill>
          </a:ln>
        </p:spPr>
        <p:txBody>
          <a:bodyPr/>
          <a:p/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32821D0B-7BB9-4BEA-8568-4AEA506F821E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444"/>
          </a:bodyPr>
          <a:lstStyle/>
          <a:p>
            <a:pPr algn="l"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6  /  AI 新創地圖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7ED7AA5C-1BBF-4A51-9587-BA5F6F04C78E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AI 進入實體世界：AI 有了手和腳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698E7BB7-A40C-43D3-9FF0-18E046A80787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三座島；最燒錢、最慢賺錢的一區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CDDA15AF-D83A-474D-A456-43204758A811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77B95A0A-8FD1-49B6-8553-75CAA5444E19}"/>
              </a:ext>
            </a:extLst>
          </p:cNvPr>
          <p:cNvSpPr>
            <a:spLocks noGrp="1"/>
          </p:cNvSpPr>
          <p:nvPr/>
        </p:nvSpPr>
        <p:spPr>
          <a:xfrm>
            <a:off x="609600" y="636270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l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9B45994A-9DF8-4526-9B16-24CAE03C38D1}"/>
              </a:ext>
            </a:extLst>
          </p:cNvPr>
          <p:cNvSpPr>
            <a:spLocks noGrp="1"/>
          </p:cNvSpPr>
          <p:nvPr/>
        </p:nvSpPr>
        <p:spPr>
          <a:xfrm>
            <a:off x="10477500" y="6362700"/>
            <a:ext cx="11049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r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10 / 13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382371FE-697D-40E4-BB3A-4680C9492111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457200" cy="457200"/>
          </a:xfrm>
          <a:prstGeom prst="rect">
            <a:avLst/>
          </a:prstGeom>
          <a:solidFill>
            <a:srgbClr val="E63946"/>
          </a:solidFill>
          <a:ln w="9525">
            <a:solidFill>
              <a:srgbClr val="E63946"/>
            </a:solidFill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3C320CB9-C3AD-46D4-B730-D814052F3DBA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AEF2220A-25C8-4436-884F-D94EFAE572B1}"/>
              </a:ext>
            </a:extLst>
          </p:cNvPr>
          <p:cNvSpPr>
            <a:spLocks noGrp="1"/>
          </p:cNvSpPr>
          <p:nvPr/>
        </p:nvSpPr>
        <p:spPr>
          <a:xfrm>
            <a:off x="1314450" y="2409825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436"/>
          </a:bodyPr>
          <a:lstStyle/>
          <a:p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島 8 實體 AI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9C8C0427-9A41-4804-B115-6DB5C54BE26C}"/>
              </a:ext>
            </a:extLst>
          </p:cNvPr>
          <p:cNvSpPr>
            <a:spLocks noGrp="1"/>
          </p:cNvSpPr>
          <p:nvPr/>
        </p:nvSpPr>
        <p:spPr>
          <a:xfrm>
            <a:off x="4429125" y="2409825"/>
            <a:ext cx="695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機器人的大腦和身體。例：Skild AI、Physical Intelligence、Figure AI。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A4D9B320-DC9A-4954-BCBD-D1A12EBEB5F1}"/>
              </a:ext>
            </a:extLst>
          </p:cNvPr>
          <p:cNvSpPr>
            <a:spLocks noGrp="1"/>
          </p:cNvSpPr>
          <p:nvPr/>
        </p:nvSpPr>
        <p:spPr>
          <a:xfrm>
            <a:off x="1314450" y="3019425"/>
            <a:ext cx="1026795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EBF68F2A-63F8-4862-B27E-F8DF179D2DA6}"/>
              </a:ext>
            </a:extLst>
          </p:cNvPr>
          <p:cNvSpPr>
            <a:spLocks noGrp="1"/>
          </p:cNvSpPr>
          <p:nvPr/>
        </p:nvSpPr>
        <p:spPr>
          <a:xfrm>
            <a:off x="609600" y="3381375"/>
            <a:ext cx="457200" cy="457200"/>
          </a:xfrm>
          <a:prstGeom prst="rect">
            <a:avLst/>
          </a:prstGeom>
          <a:solidFill>
            <a:srgbClr val="14395B"/>
          </a:solidFill>
          <a:ln w="9525">
            <a:solidFill>
              <a:srgbClr val="14395B"/>
            </a:solidFill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E534EE12-5C89-491C-8932-2A672F3E98D7}"/>
              </a:ext>
            </a:extLst>
          </p:cNvPr>
          <p:cNvSpPr>
            <a:spLocks noGrp="1"/>
          </p:cNvSpPr>
          <p:nvPr/>
        </p:nvSpPr>
        <p:spPr>
          <a:xfrm>
            <a:off x="609600" y="33813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AED1200E-7BE2-4DD2-ADA0-7D30E6B0981B}"/>
              </a:ext>
            </a:extLst>
          </p:cNvPr>
          <p:cNvSpPr>
            <a:spLocks noGrp="1"/>
          </p:cNvSpPr>
          <p:nvPr/>
        </p:nvSpPr>
        <p:spPr>
          <a:xfrm>
            <a:off x="1314450" y="3362325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436"/>
          </a:bodyPr>
          <a:lstStyle/>
          <a:p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島 9 國防 AI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F22A966B-DF26-4D7E-8ECC-14591A3B9F8E}"/>
              </a:ext>
            </a:extLst>
          </p:cNvPr>
          <p:cNvSpPr>
            <a:spLocks noGrp="1"/>
          </p:cNvSpPr>
          <p:nvPr/>
        </p:nvSpPr>
        <p:spPr>
          <a:xfrm>
            <a:off x="4429125" y="3362325"/>
            <a:ext cx="695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無人機和防衛系統。例：Anduril（美）、Helsing（德）。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4347ED41-C791-4EE4-9C69-652BD9AC2DE6}"/>
              </a:ext>
            </a:extLst>
          </p:cNvPr>
          <p:cNvSpPr>
            <a:spLocks noGrp="1"/>
          </p:cNvSpPr>
          <p:nvPr/>
        </p:nvSpPr>
        <p:spPr>
          <a:xfrm>
            <a:off x="1314450" y="3971925"/>
            <a:ext cx="1026795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3B36BABB-0E6E-4648-BB95-CCB3E591DDF3}"/>
              </a:ext>
            </a:extLst>
          </p:cNvPr>
          <p:cNvSpPr>
            <a:spLocks noGrp="1"/>
          </p:cNvSpPr>
          <p:nvPr/>
        </p:nvSpPr>
        <p:spPr>
          <a:xfrm>
            <a:off x="609600" y="4333875"/>
            <a:ext cx="457200" cy="457200"/>
          </a:xfrm>
          <a:prstGeom prst="rect">
            <a:avLst/>
          </a:prstGeom>
          <a:solidFill>
            <a:srgbClr val="C99827"/>
          </a:solidFill>
          <a:ln w="9525">
            <a:solidFill>
              <a:srgbClr val="C99827"/>
            </a:solidFill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CA631708-CE6D-42BC-B460-B476022771E7}"/>
              </a:ext>
            </a:extLst>
          </p:cNvPr>
          <p:cNvSpPr>
            <a:spLocks noGrp="1"/>
          </p:cNvSpPr>
          <p:nvPr/>
        </p:nvSpPr>
        <p:spPr>
          <a:xfrm>
            <a:off x="609600" y="43338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C7AE9068-2762-4A03-A15E-EE94A7A0CDF0}"/>
              </a:ext>
            </a:extLst>
          </p:cNvPr>
          <p:cNvSpPr>
            <a:spLocks noGrp="1"/>
          </p:cNvSpPr>
          <p:nvPr/>
        </p:nvSpPr>
        <p:spPr>
          <a:xfrm>
            <a:off x="1314450" y="4314825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436"/>
          </a:bodyPr>
          <a:lstStyle/>
          <a:p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島 10 AI for Science</a:t>
            </a:r>
          </a:p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5BD73FAB-8CB1-41D3-B640-715FEE6AF17E}"/>
              </a:ext>
            </a:extLst>
          </p:cNvPr>
          <p:cNvSpPr>
            <a:spLocks noGrp="1"/>
          </p:cNvSpPr>
          <p:nvPr/>
        </p:nvSpPr>
        <p:spPr>
          <a:xfrm>
            <a:off x="4429125" y="4314825"/>
            <a:ext cx="695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用 AI 找新材料、做實驗。例：CuspAI（英）、Periodic Labs。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8FA808F9-3FCE-4AFA-B8B7-2FF36A31D8F6}"/>
              </a:ext>
            </a:extLst>
          </p:cNvPr>
          <p:cNvSpPr>
            <a:spLocks noGrp="1"/>
          </p:cNvSpPr>
          <p:nvPr/>
        </p:nvSpPr>
        <p:spPr>
          <a:xfrm>
            <a:off x="1314450" y="4924425"/>
            <a:ext cx="1026795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52391823-4577-41D5-B5F1-22EFE691E292}"/>
              </a:ext>
            </a:extLst>
          </p:cNvPr>
          <p:cNvSpPr>
            <a:spLocks noGrp="1"/>
          </p:cNvSpPr>
          <p:nvPr/>
        </p:nvSpPr>
        <p:spPr>
          <a:xfrm>
            <a:off x="609600" y="5572125"/>
            <a:ext cx="109728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5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例：Physical Intelligence 還沒有公開營收，估值已經超過 50 億美元——市場在賭未來。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" name="">
            <a:extLst>
              <a:ext uri="{FF2B5EF4-FFF2-40B4-BE49-F238E27FC236}">
                <a16:creationId xmlns:a16="http://schemas.microsoft.com/office/drawing/2014/main" id="{D99C096F-6EB5-41EA-B969-490BF1A5FE7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E"/>
          </a:solidFill>
          <a:ln w="9525">
            <a:solidFill>
              <a:srgbClr val="F6F3EE"/>
            </a:solidFill>
          </a:ln>
        </p:spPr>
        <p:txBody>
          <a:bodyPr/>
          <a:p/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F945F193-D6A2-4A5E-BD73-6B69757A3820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444"/>
          </a:bodyPr>
          <a:lstStyle/>
          <a:p>
            <a:pPr algn="l"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6  /  AI 新創地圖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EBE0DE06-5026-47E2-9F71-7631AE1BDAE2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台灣在哪一層？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E0ED7F9D-7CE4-45F4-B7CB-9761EE5DF652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左邊是現況，右邊是本課的推論——期末研究要用證據證明或推翻它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A2DC1420-12C3-4916-8E72-AE7443D5B25C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2F07DDDE-8D75-462F-91D5-4B36B43575EE}"/>
              </a:ext>
            </a:extLst>
          </p:cNvPr>
          <p:cNvSpPr>
            <a:spLocks noGrp="1"/>
          </p:cNvSpPr>
          <p:nvPr/>
        </p:nvSpPr>
        <p:spPr>
          <a:xfrm>
            <a:off x="609600" y="636270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l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C5FE7A55-B727-4B6F-9EE2-D39F3300B62E}"/>
              </a:ext>
            </a:extLst>
          </p:cNvPr>
          <p:cNvSpPr>
            <a:spLocks noGrp="1"/>
          </p:cNvSpPr>
          <p:nvPr/>
        </p:nvSpPr>
        <p:spPr>
          <a:xfrm>
            <a:off x="10477500" y="6362700"/>
            <a:ext cx="11049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r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11 / 13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E25F88BD-8320-4506-A81F-3D2EC6975FEA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44767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23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3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台灣強的地方：底層硬體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993229B-BD18-4B58-BFFD-54C5C43644DE}"/>
              </a:ext>
            </a:extLst>
          </p:cNvPr>
          <p:cNvSpPr>
            <a:spLocks noGrp="1"/>
          </p:cNvSpPr>
          <p:nvPr/>
        </p:nvSpPr>
        <p:spPr>
          <a:xfrm>
            <a:off x="609600" y="3000375"/>
            <a:ext cx="4762500" cy="2238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晶片代工：先進 AI 晶片大多在台灣製造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伺服器和電子零件的供應鏈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也就是「發電廠」和「引擎」背後的工廠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但這一層的新創門檻極高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92A462A0-899F-4C1D-9C7C-25D4058895FB}"/>
              </a:ext>
            </a:extLst>
          </p:cNvPr>
          <p:cNvSpPr>
            <a:spLocks noGrp="1"/>
          </p:cNvSpPr>
          <p:nvPr/>
        </p:nvSpPr>
        <p:spPr>
          <a:xfrm>
            <a:off x="5953125" y="2428875"/>
            <a:ext cx="38100" cy="29527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B13E5783-0243-4D15-B1DC-FFBD06FE9F16}"/>
              </a:ext>
            </a:extLst>
          </p:cNvPr>
          <p:cNvSpPr>
            <a:spLocks noGrp="1"/>
          </p:cNvSpPr>
          <p:nvPr/>
        </p:nvSpPr>
        <p:spPr>
          <a:xfrm>
            <a:off x="6572250" y="2428875"/>
            <a:ext cx="44767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2325" b="1">
                <a:solidFill>
                  <a:srgbClr val="14395B"/>
                </a:solidFill>
                <a:latin typeface="PingFang TC"/>
                <a:ea typeface="PingFang TC"/>
                <a:cs typeface="PingFang TC"/>
              </a:defRPr>
            </a:pPr>
            <a:r>
              <a:rPr sz="2325" b="1">
                <a:solidFill>
                  <a:srgbClr val="14395B"/>
                </a:solidFill>
                <a:latin typeface="PingFang TC"/>
                <a:ea typeface="PingFang TC"/>
                <a:cs typeface="PingFang TC"/>
              </a:rPr>
              <a:t>台灣的機會（推論）：上層應用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204B0874-5189-41D9-9F8F-D809113B0CB0}"/>
              </a:ext>
            </a:extLst>
          </p:cNvPr>
          <p:cNvSpPr>
            <a:spLocks noGrp="1"/>
          </p:cNvSpPr>
          <p:nvPr/>
        </p:nvSpPr>
        <p:spPr>
          <a:xfrm>
            <a:off x="6572250" y="3000375"/>
            <a:ext cx="4762500" cy="2238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中文、在地化的垂直 Agent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中小企業和小店非常多，是第一批客戶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產業 know-how：餐飲、零售、旅宿、製造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小團隊進得去：用現成的引擎和零件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5A63A13F-D1D5-4F06-BFE8-CD5525CCAD8B}"/>
              </a:ext>
            </a:extLst>
          </p:cNvPr>
          <p:cNvSpPr>
            <a:spLocks noGrp="1"/>
          </p:cNvSpPr>
          <p:nvPr/>
        </p:nvSpPr>
        <p:spPr>
          <a:xfrm>
            <a:off x="609600" y="5600700"/>
            <a:ext cx="109728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6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你的期末題目，就是在右邊找一個證據最強的位置。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" name="">
            <a:extLst>
              <a:ext uri="{FF2B5EF4-FFF2-40B4-BE49-F238E27FC236}">
                <a16:creationId xmlns:a16="http://schemas.microsoft.com/office/drawing/2014/main" id="{482E03A9-F1BB-408B-BE0F-61666E3C367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E"/>
          </a:solidFill>
          <a:ln w="9525">
            <a:solidFill>
              <a:srgbClr val="F6F3EE"/>
            </a:solidFill>
          </a:ln>
        </p:spPr>
        <p:txBody>
          <a:bodyPr/>
          <a:p/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32821D0B-7BB9-4BEA-8568-4AEA506F821E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444"/>
          </a:bodyPr>
          <a:lstStyle/>
          <a:p>
            <a:pPr algn="l"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6  /  AI 新創地圖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7ED7AA5C-1BBF-4A51-9587-BA5F6F04C78E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接下來四週：這張地圖怎麼用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698E7BB7-A40C-43D3-9FF0-18E046A80787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群島遊戲在 11/27 和 12/4，接你的方向卡 v1、v2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CDDA15AF-D83A-474D-A456-43204758A811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77B95A0A-8FD1-49B6-8553-75CAA5444E19}"/>
              </a:ext>
            </a:extLst>
          </p:cNvPr>
          <p:cNvSpPr>
            <a:spLocks noGrp="1"/>
          </p:cNvSpPr>
          <p:nvPr/>
        </p:nvSpPr>
        <p:spPr>
          <a:xfrm>
            <a:off x="609600" y="636270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l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9B45994A-9DF8-4526-9B16-24CAE03C38D1}"/>
              </a:ext>
            </a:extLst>
          </p:cNvPr>
          <p:cNvSpPr>
            <a:spLocks noGrp="1"/>
          </p:cNvSpPr>
          <p:nvPr/>
        </p:nvSpPr>
        <p:spPr>
          <a:xfrm>
            <a:off x="10477500" y="6362700"/>
            <a:ext cx="11049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r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12 / 13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382371FE-697D-40E4-BB3A-4680C9492111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457200" cy="457200"/>
          </a:xfrm>
          <a:prstGeom prst="rect">
            <a:avLst/>
          </a:prstGeom>
          <a:solidFill>
            <a:srgbClr val="E63946"/>
          </a:solidFill>
          <a:ln w="9525">
            <a:solidFill>
              <a:srgbClr val="E63946"/>
            </a:solidFill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3C320CB9-C3AD-46D4-B730-D814052F3DBA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AEF2220A-25C8-4436-884F-D94EFAE572B1}"/>
              </a:ext>
            </a:extLst>
          </p:cNvPr>
          <p:cNvSpPr>
            <a:spLocks noGrp="1"/>
          </p:cNvSpPr>
          <p:nvPr/>
        </p:nvSpPr>
        <p:spPr>
          <a:xfrm>
            <a:off x="1314450" y="2409825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436"/>
          </a:bodyPr>
          <a:lstStyle/>
          <a:p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11/20 建組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9C8C0427-9A41-4804-B115-6DB5C54BE26C}"/>
              </a:ext>
            </a:extLst>
          </p:cNvPr>
          <p:cNvSpPr>
            <a:spLocks noGrp="1"/>
          </p:cNvSpPr>
          <p:nvPr/>
        </p:nvSpPr>
        <p:spPr>
          <a:xfrm>
            <a:off x="4429125" y="2409825"/>
            <a:ext cx="695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AI agent 工具更新；三人一組、一組一個產業，三個方向各由一人認領。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A4D9B320-DC9A-4954-BCBD-D1A12EBEB5F1}"/>
              </a:ext>
            </a:extLst>
          </p:cNvPr>
          <p:cNvSpPr>
            <a:spLocks noGrp="1"/>
          </p:cNvSpPr>
          <p:nvPr/>
        </p:nvSpPr>
        <p:spPr>
          <a:xfrm>
            <a:off x="1314450" y="3019425"/>
            <a:ext cx="1026795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EBF68F2A-63F8-4862-B27E-F8DF179D2DA6}"/>
              </a:ext>
            </a:extLst>
          </p:cNvPr>
          <p:cNvSpPr>
            <a:spLocks noGrp="1"/>
          </p:cNvSpPr>
          <p:nvPr/>
        </p:nvSpPr>
        <p:spPr>
          <a:xfrm>
            <a:off x="609600" y="3381375"/>
            <a:ext cx="457200" cy="457200"/>
          </a:xfrm>
          <a:prstGeom prst="rect">
            <a:avLst/>
          </a:prstGeom>
          <a:solidFill>
            <a:srgbClr val="14395B"/>
          </a:solidFill>
          <a:ln w="9525">
            <a:solidFill>
              <a:srgbClr val="14395B"/>
            </a:solidFill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E534EE12-5C89-491C-8932-2A672F3E98D7}"/>
              </a:ext>
            </a:extLst>
          </p:cNvPr>
          <p:cNvSpPr>
            <a:spLocks noGrp="1"/>
          </p:cNvSpPr>
          <p:nvPr/>
        </p:nvSpPr>
        <p:spPr>
          <a:xfrm>
            <a:off x="609600" y="33813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AED1200E-7BE2-4DD2-ADA0-7D30E6B0981B}"/>
              </a:ext>
            </a:extLst>
          </p:cNvPr>
          <p:cNvSpPr>
            <a:spLocks noGrp="1"/>
          </p:cNvSpPr>
          <p:nvPr/>
        </p:nvSpPr>
        <p:spPr>
          <a:xfrm>
            <a:off x="1314450" y="3362325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436"/>
          </a:bodyPr>
          <a:lstStyle/>
          <a:p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11/27 群島遊戲：猜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F22A966B-DF26-4D7E-8ECC-14591A3B9F8E}"/>
              </a:ext>
            </a:extLst>
          </p:cNvPr>
          <p:cNvSpPr>
            <a:spLocks noGrp="1"/>
          </p:cNvSpPr>
          <p:nvPr/>
        </p:nvSpPr>
        <p:spPr>
          <a:xfrm>
            <a:off x="4429125" y="3362325"/>
            <a:ext cx="695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介紹 11 家公司做什麼 → 每家猜三題：誰付錢、怎麼收費、取代誰，加一題估值 → 下課前鎖住。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4347ED41-C791-4EE4-9C69-652BD9AC2DE6}"/>
              </a:ext>
            </a:extLst>
          </p:cNvPr>
          <p:cNvSpPr>
            <a:spLocks noGrp="1"/>
          </p:cNvSpPr>
          <p:nvPr/>
        </p:nvSpPr>
        <p:spPr>
          <a:xfrm>
            <a:off x="1314450" y="3971925"/>
            <a:ext cx="1026795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3B36BABB-0E6E-4648-BB95-CCB3E591DDF3}"/>
              </a:ext>
            </a:extLst>
          </p:cNvPr>
          <p:cNvSpPr>
            <a:spLocks noGrp="1"/>
          </p:cNvSpPr>
          <p:nvPr/>
        </p:nvSpPr>
        <p:spPr>
          <a:xfrm>
            <a:off x="609600" y="4333875"/>
            <a:ext cx="457200" cy="457200"/>
          </a:xfrm>
          <a:prstGeom prst="rect">
            <a:avLst/>
          </a:prstGeom>
          <a:solidFill>
            <a:srgbClr val="C99827"/>
          </a:solidFill>
          <a:ln w="9525">
            <a:solidFill>
              <a:srgbClr val="C99827"/>
            </a:solidFill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CA631708-CE6D-42BC-B460-B476022771E7}"/>
              </a:ext>
            </a:extLst>
          </p:cNvPr>
          <p:cNvSpPr>
            <a:spLocks noGrp="1"/>
          </p:cNvSpPr>
          <p:nvPr/>
        </p:nvSpPr>
        <p:spPr>
          <a:xfrm>
            <a:off x="609600" y="43338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C7AE9068-2762-4A03-A15E-EE94A7A0CDF0}"/>
              </a:ext>
            </a:extLst>
          </p:cNvPr>
          <p:cNvSpPr>
            <a:spLocks noGrp="1"/>
          </p:cNvSpPr>
          <p:nvPr/>
        </p:nvSpPr>
        <p:spPr>
          <a:xfrm>
            <a:off x="1314450" y="4314825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436"/>
          </a:bodyPr>
          <a:lstStyle/>
          <a:p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12/4 群島遊戲：揭曉</a:t>
            </a:r>
          </a:p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5BD73FAB-8CB1-41D3-B640-715FEE6AF17E}"/>
              </a:ext>
            </a:extLst>
          </p:cNvPr>
          <p:cNvSpPr>
            <a:spLocks noGrp="1"/>
          </p:cNvSpPr>
          <p:nvPr/>
        </p:nvSpPr>
        <p:spPr>
          <a:xfrm>
            <a:off x="4429125" y="4314825"/>
            <a:ext cx="695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看答案和分數 → 用 NotebookLM 深挖對照公司 → 寫方向卡 v2。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8FA808F9-3FCE-4AFA-B8B7-2FF36A31D8F6}"/>
              </a:ext>
            </a:extLst>
          </p:cNvPr>
          <p:cNvSpPr>
            <a:spLocks noGrp="1"/>
          </p:cNvSpPr>
          <p:nvPr/>
        </p:nvSpPr>
        <p:spPr>
          <a:xfrm>
            <a:off x="1314450" y="4924425"/>
            <a:ext cx="1026795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52391823-4577-41D5-B5F1-22EFE691E292}"/>
              </a:ext>
            </a:extLst>
          </p:cNvPr>
          <p:cNvSpPr>
            <a:spLocks noGrp="1"/>
          </p:cNvSpPr>
          <p:nvPr/>
        </p:nvSpPr>
        <p:spPr>
          <a:xfrm>
            <a:off x="609600" y="5572125"/>
            <a:ext cx="109728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5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期末報告：每個方向都要拿一家群島公司當對照。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/>
      <p:sp>
        <p:nvSpPr>
          <p:cNvPr id="11" name="">
            <a:extLst>
              <a:ext uri="{FF2B5EF4-FFF2-40B4-BE49-F238E27FC236}">
                <a16:creationId xmlns:a16="http://schemas.microsoft.com/office/drawing/2014/main" id="{C6D0CAD6-B885-41E3-AC59-A87FF78723FD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3B041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3B041"/>
                </a:solidFill>
                <a:latin typeface="PingFang TC"/>
                <a:ea typeface="PingFang TC"/>
                <a:cs typeface="PingFang TC"/>
              </a:rPr>
              <a:t>WEEK 6  /  AI 新創地圖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E70BFE92-9CDB-41C8-93AD-15AA964A3D86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今天只要記住一句話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636A6F80-9E9B-47FA-A237-6F0029F534F5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離開前，在心裡把你的產業線放上地圖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FA9FE16B-105F-4D22-B84C-4EEB432A1492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404040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E034F5BE-21E8-4AD0-85E5-C46B2C6A6E17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388EC3A3-0BCA-4476-BE5D-09FF55247BCC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13 / 13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4015D264-51A9-4F59-BB80-F22B14549689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76200" cy="198120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96DD6C3B-65F4-4D75-95BD-1A5C4AC6B697}"/>
              </a:ext>
            </a:extLst>
          </p:cNvPr>
          <p:cNvSpPr>
            <a:spLocks noGrp="1"/>
          </p:cNvSpPr>
          <p:nvPr/>
        </p:nvSpPr>
        <p:spPr>
          <a:xfrm>
            <a:off x="914400" y="2419350"/>
            <a:ext cx="10287000" cy="2076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33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錢先流到最底層的引擎和發電廠；</a:t>
            </a:r>
          </a:p>
          <a:p>
            <a:r>
              <a:rPr sz="33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小團隊的機會在最上層：</a:t>
            </a:r>
          </a:p>
          <a:p>
            <a:r>
              <a:rPr sz="33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把現成的 AI，做成某一行的服務。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CB609C82-52E6-4AA5-82EA-559E40CBB310}"/>
              </a:ext>
            </a:extLst>
          </p:cNvPr>
          <p:cNvSpPr>
            <a:spLocks noGrp="1"/>
          </p:cNvSpPr>
          <p:nvPr/>
        </p:nvSpPr>
        <p:spPr>
          <a:xfrm>
            <a:off x="914400" y="4886325"/>
            <a:ext cx="1028700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250" b="0">
                <a:solidFill>
                  <a:srgbClr val="E3B041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E3B041"/>
                </a:solidFill>
                <a:latin typeface="PingFang TC"/>
                <a:ea typeface="PingFang TC"/>
                <a:cs typeface="PingFang TC"/>
              </a:rPr>
              <a:t>你的產業線，最可能落在哪一座島？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018494B6-3A89-4418-8951-FB3F9528344E}"/>
              </a:ext>
            </a:extLst>
          </p:cNvPr>
          <p:cNvSpPr>
            <a:spLocks noGrp="1"/>
          </p:cNvSpPr>
          <p:nvPr/>
        </p:nvSpPr>
        <p:spPr>
          <a:xfrm>
            <a:off x="914400" y="5676900"/>
            <a:ext cx="10287000" cy="3714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575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11/13 期中照原計畫；群島地圖從 11/20 開始用在分組研究。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2026-09-28T13:12:49.7880000Z</dcterms:created>
  <dcterms:modified xsi:type="dcterms:W3CDTF">2026-09-28T13:12:49.7880000Z</dcterms:modified>
</coreProperties>
</file>