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a2c494ff6534158" Type="http://schemas.openxmlformats.org/package/2006/relationships/metadata/core-properties" Target="docProps/core.xml"/><Relationship Id="Rd7e0ccb774ee4da3" Type="http://schemas.openxmlformats.org/officeDocument/2006/relationships/officeDocument" Target="ppt/presentation.xml"/><Relationship Id="Red5eaeb31f1f489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d81ccdc3d4373"/>
  </p:sldMasterIdLst>
  <p:notesMasterIdLst>
    <p:notesMasterId xmlns:r="http://schemas.openxmlformats.org/officeDocument/2006/relationships" r:id="Rae5565e222f94311"/>
  </p:notesMasterIdLst>
  <p:sldIdLst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f9775db36e4347" Type="http://schemas.openxmlformats.org/officeDocument/2006/relationships/theme" Target="theme/theme1.xml"/><Relationship Id="R209d81ccdc3d4373" Type="http://schemas.openxmlformats.org/officeDocument/2006/relationships/slideMaster" Target="slideMasters/slideMaster1.xml"/><Relationship Id="Rae5565e222f94311" Type="http://schemas.openxmlformats.org/officeDocument/2006/relationships/notesMaster" Target="notesMasters/notesMaster1.xml"/><Relationship Id="Rc3130170706542df" Type="http://schemas.openxmlformats.org/officeDocument/2006/relationships/presProps" Target="presProps.xml"/><Relationship Id="Rdae1bc0b7b5049c6" Type="http://schemas.openxmlformats.org/officeDocument/2006/relationships/tableStyles" Target="tableStyles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4636b259947a4c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21de335dda548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00e1906020446b" Type="http://schemas.openxmlformats.org/officeDocument/2006/relationships/slideLayout" Target="../slideLayouts/slideLayout1.xml"/><Relationship Id="R42e31e3cb9d9443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0e1906020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3" name="">
            <a:extLst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15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8096250" cy="1866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新創地圖 2026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857250" cy="666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錢往哪流、誰在做什麼、你的產業線會落在哪一層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952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11/6 後半場約 60 分鐘：今天只看地圖；11/27 才玩群島遊戲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noGrp="1"/>
          </p:cNvSpPr>
          <p:nvPr/>
        </p:nvSpPr>
        <p:spPr>
          <a:xfrm>
            <a:off x="9848850" y="1219200"/>
            <a:ext cx="1524000" cy="1524000"/>
          </a:xfrm>
          <a:prstGeom prst="ellipse">
            <a:avLst/>
          </a:prstGeom>
          <a:noFill/>
          <a:ln w="19050">
            <a:solidFill>
              <a:srgbClr val="4B4B4B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noGrp="1"/>
          </p:cNvSpPr>
          <p:nvPr/>
        </p:nvSpPr>
        <p:spPr>
          <a:xfrm>
            <a:off x="10229850" y="1600200"/>
            <a:ext cx="762000" cy="7620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noGrp="1"/>
          </p:cNvSpPr>
          <p:nvPr/>
        </p:nvSpPr>
        <p:spPr>
          <a:xfrm>
            <a:off x="10553700" y="1057275"/>
            <a:ext cx="114300" cy="184785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24050" cy="1143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">
            <a:extLst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60 分鐘流程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先看錢，再看地圖，最後看台灣和接下來四週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0–10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381250" cy="66675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三個數字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錢往哪流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拿走多少創投的錢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noGrp="1"/>
          </p:cNvSpPr>
          <p:nvPr/>
        </p:nvSpPr>
        <p:spPr>
          <a:xfrm>
            <a:off x="33528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10–25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noGrp="1"/>
          </p:cNvSpPr>
          <p:nvPr/>
        </p:nvSpPr>
        <p:spPr>
          <a:xfrm>
            <a:off x="3352800" y="3028950"/>
            <a:ext cx="2381250" cy="66675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noGrp="1"/>
          </p:cNvSpPr>
          <p:nvPr/>
        </p:nvSpPr>
        <p:spPr>
          <a:xfrm>
            <a:off x="33528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一張地圖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noGrp="1"/>
          </p:cNvSpPr>
          <p:nvPr/>
        </p:nvSpPr>
        <p:spPr>
          <a:xfrm>
            <a:off x="33528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發電廠、引擎、零件、汽車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4 大區、10 座島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noGrp="1"/>
          </p:cNvSpPr>
          <p:nvPr/>
        </p:nvSpPr>
        <p:spPr>
          <a:xfrm>
            <a:off x="60960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25–45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2381250" cy="66675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三個方向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noGrp="1"/>
          </p:cNvSpPr>
          <p:nvPr/>
        </p:nvSpPr>
        <p:spPr>
          <a:xfrm>
            <a:off x="60960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基礎設施／原生服務／實體世界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每區看 2–3 家公司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noGrp="1"/>
          </p:cNvSpPr>
          <p:nvPr/>
        </p:nvSpPr>
        <p:spPr>
          <a:xfrm>
            <a:off x="88392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45–60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381250" cy="66675"/>
          </a:xfrm>
          <a:prstGeom prst="rect">
            <a:avLst/>
          </a:prstGeom>
          <a:solidFill>
            <a:srgbClr val="121212"/>
          </a:solidFill>
          <a:ln w="9525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noGrp="1"/>
          </p:cNvSpPr>
          <p:nvPr/>
        </p:nvSpPr>
        <p:spPr>
          <a:xfrm>
            <a:off x="88392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台灣與接下來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noGrp="1"/>
          </p:cNvSpPr>
          <p:nvPr/>
        </p:nvSpPr>
        <p:spPr>
          <a:xfrm>
            <a:off x="88392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台灣在哪一層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11/20 建組、11/27 群島遊戲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今天不用記公司細節：只要知道每座島「做什麼」，11/27 會讓你猜它們怎麼賺錢。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三個數字：AI 拿走了多少錢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資料：Crunchbase 2026 Q1、Q3 全球創投報告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約 80%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2026 Q1 全球創投約 3,000 億美元，AI 新創拿到約 2,420 億。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64%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Q3 全球創投 1,590 億美元，AI 拿 1,020 億；單輪 10 億美元以上的公司有 27 家，創紀錄。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24%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Q3 全世界的創投資金，有 24% 投進舊金山灣區這一個地方；美國合計約 57%。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這是「投資人投了多少」，不是「這些公司賺了多少」。燒錢和賺錢是兩件事。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錢最先流到哪裡：最底層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2026 年幾筆最大的募資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模型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Q1 最大的幾輪都給了大模型公司，單輪動輒數百億美元；2026 上半年，前兩大模型公司合計就募了約 2,170 億美元。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資料與新實驗室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Q3 最大的兩輪：Databricks（資料平台）、Safe Superintelligence（新模型實驗室），各 50 億美元。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機房與算力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Q3 單輪 30 億美元以上的還有 Crusoe、Nscale 這類蓋 AI 機房的公司。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觀察：越底層，單筆越大、家數越少；越往上（應用），單筆越小、家數越多——你們的機會在上層。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一個比喻：發電廠、引擎、零件、汽車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由下往上看：上面的公司都要用到下面的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15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發電廠＝算力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要用的電腦和機房。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沒有它，什麼 AI 都跑不動。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引擎＝基礎模型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ChatGPT、Claude 背後的大模型。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全世界只有少數幾家做得起。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零件與道路＝基礎設施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放資料的地方、打造和管理 agent 的工具。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讓別人能在引擎上做產品。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汽車＝應用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真正交到使用者手上的服務：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寫程式、客服、法律、音樂、機器人。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4 大區、10 座島：全學期共用的地圖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後三區＝期末分組研究的三個方向，每組三個人各負責一區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15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底層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島 1 基礎模型：大家共用的引擎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Agent 經濟基礎設施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島 2 算力、島 3 資料平台、島 5 Agent 基礎設施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原生服務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島 4 AI 寫程式、島 6 垂直 Agent、島 7 消費創意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進入實體世界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島 8 實體 AI、島 9 世界模型、島 10 AI for Science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1 基礎模型：大家共用的引擎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只有幾家做得起；你們的題目不會在這一層，但一定會用到它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美國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Anthropic：Claude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Safe Superintelligence（SSI）：新的模型實驗室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Reflection AI：開源模型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每一輪募資都是數十億到數百億美元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美國以外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Mistral AI（法國）：歐洲自己的模型，遊戲示範題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Cohere＋Aleph Alpha（加拿大＋德國）：合併中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DeepSeek（中國）：開源模型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重點：「主權 AI」——各國想要自己的引擎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利益揭露：Anthropic 是開發 Claude 的公司；這份簡報由 Claude 協助整理，數字都附來源。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Agent 經濟基礎設施：讓 agent 跑得起來的東西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三座島；學生最容易忽略、但錢很多的一區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2 算力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的發電廠：訓練和執行 AI 的電腦與機房。例：Crusoe（美）、Nscale（英）。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3 資料平台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 App 和 AI 有地方放資料。例：Supabase（我們課程 app 的資料庫就是它）、Databricks。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5 Agent 基礎設施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打造、串接、管住 agent 的工具。例：LangChain（美）、n8n（德）、Daytona（美）。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11/27 遊戲會讓你判斷：這些公司向誰收錢、怎麼收、取代了誰。今天先記住名字和「做什麼」。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原生服務：一開始就用 AI 做的服務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三座島；班上多數產業線會落在這一區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4 AI 寫程式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幫你寫程式、做 App。例：Lovable（瑞典）、Cognition（Devin，美）、Replit。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6 垂直 Agent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專做一行的 AI 員工。例：Owner（餐廳）、Gorgias（網拍賣家）、EliseAI（租屋）、Sierra（大企業客服）。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7 消費創意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一般人直接用的 AI。例：ElevenLabs（聲音，英）、Suno（音樂，美）、Runway（影片）。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6 裡有班上產業線的「對照組」：你這一行在美國、歐洲是誰在做？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進入實體世界：AI 有了手、腳和眼睛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三座島；最燒錢、最慢賺錢、但最新的一區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8 實體 AI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機器人的大腦和身體。例：Figure AI、Skild AI、Physical Intelligence。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9 世界模型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 AI 看懂、模擬真實世界。例：World Labs、Odyssey、AMI Labs。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島 10 AI for Science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用 AI 找新材料、做實驗。例：CuspAI（英）、Periodic Labs。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2026/9/28：AMD 宣布以約 82 億美元收購 World Labs（還在等主管機關核准）——新創的結局不只上市。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2026 最新：世界模型是什麼？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語言模型學「字」，世界模型學「世界怎麼動」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15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一句話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 AI 看懂並模擬真實世界：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空間、物體、會怎麼移動和碰撞。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跟聊天機器人差在哪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ChatGPT、Claude 讀文字、回文字；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世界模型「看」影像、「想像」接下來會發生什麼。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用在哪裡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做 3D 場景和遊戲、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讓機器人和自駕車先在模擬世界裡練習。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2026 的錢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World Labs（被 AMD 宣布收購）、AMI Labs（LeCun，種子輪 10.3 億美元、還沒產品）、Decart、Odyssey。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你的產業線，在島 6 找對照組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第二輪研究：每個方向都要拿一家群島公司當對照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15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 餐飲小店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Owner（幫餐廳做網站、點餐和行銷）、Slang AI（幫餐廳接訂位電話）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3 網拍與小品牌電商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Gorgias（Shopify 網店的 AI 客服）；台灣：漸強實驗室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4 旅宿與空間出租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EliseAI（租屋管理的 AI）、Besty AI（短租房東）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其他產業線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零工排班：Skello（法）｜在地服務：Avoca、Fresha｜找不到對照的線＝美國歐洲也還沒做好＝你們的機會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台灣在哪一層？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左邊是現況，右邊是本課的推論——期末研究要用證據證明或推翻它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台灣強的地方：底層硬體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晶片代工：先進 AI 晶片大多在台灣製造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伺服器和電子零件的供應鏈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也就是「發電廠」和「引擎」背後的工廠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但這一層的新創門檻極高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台灣的機會（推論）：上層應用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中文、在地化的垂直 Agent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中小企業和小店非常多，是第一批客戶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產業 know-how：餐飲、零售、旅宿、製造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小團隊進得去：用現成的引擎和零件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你的期末題目，就是在右邊找一個證據最強的位置。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接下來四週：這張地圖怎麼用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群島遊戲在 11/27 和 12/4，接你的方向卡 v1、v2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14 / 15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11/20 建組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agent 工具更新；三人一組、一組一個產業，三個方向各由一人認領。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11/27 群島遊戲：作答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家公司各 3 句是非題（誰付錢、怎麼收費、以前誰在做）＋估值題 → 下課前鎖住。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12/4 群島遊戲：揭曉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老師帶你用 Gemini 查證錯題 → 打開「全圖卡」七格 → 寫方向卡 v2。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期末報告：每個方向都要拿一家群島公司當對照，用同樣的七格寫「我們這一行」。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1" name="">
            <a:extLst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6  /  AI 新創地圖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今天只要記住一句話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離開前，在心裡把你的產業線放上地圖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15 / 15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76200" cy="1981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0287000" cy="2076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錢先流到最底層的引擎和發電廠；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小團隊的機會在最上層：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把現成的 AI，做成某一行的服務。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noGrp="1"/>
          </p:cNvSpPr>
          <p:nvPr/>
        </p:nvSpPr>
        <p:spPr>
          <a:xfrm>
            <a:off x="914400" y="48863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你的產業線，最可能落在哪一座島？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11/13 期中照原計畫；群島地圖從 11/20 開始用在分組研究。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2026-09-28T13:12:49.7880000Z</dcterms:created>
  <dcterms:modified xsi:type="dcterms:W3CDTF">2026-09-28T13:12:49.7880000Z</dcterms:modified>
</coreProperties>
</file>