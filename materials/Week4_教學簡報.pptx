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aa2c494ff6534158" Type="http://schemas.openxmlformats.org/package/2006/relationships/metadata/core-properties" Target="docProps/core.xml"/><Relationship Id="Rd7e0ccb774ee4da3" Type="http://schemas.openxmlformats.org/officeDocument/2006/relationships/officeDocument" Target="ppt/presentation.xml"/><Relationship Id="Red5eaeb31f1f489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09d81ccdc3d4373"/>
  </p:sldMasterIdLst>
  <p:notesMasterIdLst>
    <p:notesMasterId xmlns:r="http://schemas.openxmlformats.org/officeDocument/2006/relationships" r:id="Rae5565e222f94311"/>
  </p:notesMasterIdLst>
  <p:sldIdLst>
    <p:sldId xmlns:ns0="http://schemas.openxmlformats.org/officeDocument/2006/relationships" id="281" ns0:id="rId31"/>
    <p:sldId xmlns:ns0="http://schemas.openxmlformats.org/officeDocument/2006/relationships" id="282" ns0:id="rId32"/>
    <p:sldId xmlns:ns0="http://schemas.openxmlformats.org/officeDocument/2006/relationships" id="283" ns0:id="rId33"/>
    <p:sldId xmlns:ns0="http://schemas.openxmlformats.org/officeDocument/2006/relationships" id="284" ns0:id="rId34"/>
    <p:sldId xmlns:ns0="http://schemas.openxmlformats.org/officeDocument/2006/relationships" id="285" ns0:id="rId35"/>
    <p:sldId xmlns:ns0="http://schemas.openxmlformats.org/officeDocument/2006/relationships" id="286" ns0:id="rId36"/>
    <p:sldId xmlns:ns0="http://schemas.openxmlformats.org/officeDocument/2006/relationships" id="287" ns0:id="rId37"/>
    <p:sldId xmlns:ns0="http://schemas.openxmlformats.org/officeDocument/2006/relationships" id="288" ns0:id="rId38"/>
    <p:sldId xmlns:ns0="http://schemas.openxmlformats.org/officeDocument/2006/relationships" id="289" ns0:id="rId39"/>
    <p:sldId xmlns:ns0="http://schemas.openxmlformats.org/officeDocument/2006/relationships" id="290" ns0:id="rId40"/>
    <p:sldId xmlns:ns0="http://schemas.openxmlformats.org/officeDocument/2006/relationships" id="291" ns0:id="rId41"/>
    <p:sldId xmlns:ns0="http://schemas.openxmlformats.org/officeDocument/2006/relationships" id="292" ns0:id="rId42"/>
    <p:sldId xmlns:ns0="http://schemas.openxmlformats.org/officeDocument/2006/relationships" id="293" ns0:id="rId43"/>
    <p:sldId xmlns:ns0="http://schemas.openxmlformats.org/officeDocument/2006/relationships" id="294" ns0:id="rId44"/>
    <p:sldId xmlns:ns0="http://schemas.openxmlformats.org/officeDocument/2006/relationships" id="295" ns0:id="rId45"/>
    <p:sldId xmlns:ns0="http://schemas.openxmlformats.org/officeDocument/2006/relationships" id="296" ns0:id="rId46"/>
    <p:sldId xmlns:ns0="http://schemas.openxmlformats.org/officeDocument/2006/relationships" id="297" ns0:id="rId47"/>
    <p:sldId xmlns:ns0="http://schemas.openxmlformats.org/officeDocument/2006/relationships" id="298" ns0:id="rId48"/>
    <p:sldId xmlns:ns0="http://schemas.openxmlformats.org/officeDocument/2006/relationships" id="299" ns0:id="rId49"/>
    <p:sldId xmlns:ns0="http://schemas.openxmlformats.org/officeDocument/2006/relationships" id="300" ns0:id="rId50"/>
    <p:sldId xmlns:ns0="http://schemas.openxmlformats.org/officeDocument/2006/relationships" id="301" ns0:id="rId5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ef9775db36e4347" Type="http://schemas.openxmlformats.org/officeDocument/2006/relationships/theme" Target="theme/theme1.xml"/><Relationship Id="R209d81ccdc3d4373" Type="http://schemas.openxmlformats.org/officeDocument/2006/relationships/slideMaster" Target="slideMasters/slideMaster1.xml"/><Relationship Id="Rae5565e222f94311" Type="http://schemas.openxmlformats.org/officeDocument/2006/relationships/notesMaster" Target="notesMasters/notesMaster1.xml"/><Relationship Id="Rc3130170706542df" Type="http://schemas.openxmlformats.org/officeDocument/2006/relationships/presProps" Target="presProps.xml"/><Relationship Id="Rdae1bc0b7b5049c6" Type="http://schemas.openxmlformats.org/officeDocument/2006/relationships/tableStyles" Target="tableStyles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4636b259947a4c7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Layouts/_rels/slideLayout1.xml.rels><?xml version='1.0' encoding='UTF-8' standalone='yes'?>
<Relationships xmlns="http://schemas.openxmlformats.org/package/2006/relationships"><Relationship Id="Ra21de335dda54802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400e1906020446b" Type="http://schemas.openxmlformats.org/officeDocument/2006/relationships/slideLayout" Target="../slideLayouts/slideLayout1.xml"/><Relationship Id="R42e31e3cb9d94436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00e1906020446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/>
      <p:sp>
        <p:nvSpPr>
          <p:cNvPr id="13" name="">
            <a:extLst>
              <a:ext uri="{FF2B5EF4-FFF2-40B4-BE49-F238E27FC236}">
                <a16:creationId xmlns:a16="http://schemas.microsoft.com/office/drawing/2014/main" id="{B610B403-B5AE-4645-BFCA-BCD615455D8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4F53071F-7357-4072-9247-7EBFB78BD22B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404040"/>
          </a:solidFill>
          <a:ln w="0">
            <a:noFill/>
          </a:ln>
        </p:spPr>
        <p:txBody>
          <a:bodyPr/>
          <a:p/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5B87038-7D87-4EF3-B380-7070A034192B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09B105CA-B3D7-4A85-B7E2-2F9A43F502C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01 / 21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BC0733B6-EB6B-43EB-877A-C39DF623DF80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8096250" cy="1866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5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從我的痛看產業：挑戰與契機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30DE52D0-9EC0-4155-9667-C91406C521CE}"/>
              </a:ext>
            </a:extLst>
          </p:cNvPr>
          <p:cNvSpPr>
            <a:spLocks noGrp="1"/>
          </p:cNvSpPr>
          <p:nvPr/>
        </p:nvSpPr>
        <p:spPr>
          <a:xfrm>
            <a:off x="609600" y="3505200"/>
            <a:ext cx="857250" cy="6667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04CCD487-64AF-492D-974A-CFA516763AC0}"/>
              </a:ext>
            </a:extLst>
          </p:cNvPr>
          <p:cNvSpPr>
            <a:spLocks noGrp="1"/>
          </p:cNvSpPr>
          <p:nvPr/>
        </p:nvSpPr>
        <p:spPr>
          <a:xfrm>
            <a:off x="609600" y="3848100"/>
            <a:ext cx="10572750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3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33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把你的痛放到一條產業線上，看這一行真正的挑戰在哪、誰在付錢、契機在哪一段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057AE6CC-17D3-43F0-840B-ADD9C52C97A1}"/>
              </a:ext>
            </a:extLst>
          </p:cNvPr>
          <p:cNvSpPr>
            <a:spLocks noGrp="1"/>
          </p:cNvSpPr>
          <p:nvPr/>
        </p:nvSpPr>
        <p:spPr>
          <a:xfrm>
            <a:off x="609600" y="4857750"/>
            <a:ext cx="95250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DDD9D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DDD9D2"/>
                </a:solidFill>
                <a:latin typeface="PingFang TC"/>
                <a:ea typeface="PingFang TC"/>
                <a:cs typeface="PingFang TC"/>
              </a:rPr>
              <a:t>本週任務：一張有證據的產業挑戰卡（＝期中報告第一版）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B7233630-81BE-42E3-99E0-8D1098FE04BD}"/>
              </a:ext>
            </a:extLst>
          </p:cNvPr>
          <p:cNvSpPr>
            <a:spLocks noGrp="1"/>
          </p:cNvSpPr>
          <p:nvPr/>
        </p:nvSpPr>
        <p:spPr>
          <a:xfrm>
            <a:off x="9848850" y="1219200"/>
            <a:ext cx="1524000" cy="1524000"/>
          </a:xfrm>
          <a:prstGeom prst="ellipse">
            <a:avLst/>
          </a:prstGeom>
          <a:noFill/>
          <a:ln w="19050">
            <a:solidFill>
              <a:srgbClr val="4B4B4B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4CC1D9C-10A4-485F-9F4A-496C98CD1B49}"/>
              </a:ext>
            </a:extLst>
          </p:cNvPr>
          <p:cNvSpPr>
            <a:spLocks noGrp="1"/>
          </p:cNvSpPr>
          <p:nvPr/>
        </p:nvSpPr>
        <p:spPr>
          <a:xfrm>
            <a:off x="10229850" y="1600200"/>
            <a:ext cx="762000" cy="7620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C4E63A64-AA39-427E-8BEF-CAE4CF94631B}"/>
              </a:ext>
            </a:extLst>
          </p:cNvPr>
          <p:cNvSpPr>
            <a:spLocks noGrp="1"/>
          </p:cNvSpPr>
          <p:nvPr/>
        </p:nvSpPr>
        <p:spPr>
          <a:xfrm>
            <a:off x="10553700" y="1057275"/>
            <a:ext cx="114300" cy="1847850"/>
          </a:xfrm>
          <a:prstGeom prst="rect">
            <a:avLst/>
          </a:prstGeom>
          <a:solidFill>
            <a:srgbClr val="121212"/>
          </a:solidFill>
          <a:ln w="0">
            <a:noFill/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7F60DA69-ABAF-45C4-B82B-278A8483BC8F}"/>
              </a:ext>
            </a:extLst>
          </p:cNvPr>
          <p:cNvSpPr>
            <a:spLocks noGrp="1"/>
          </p:cNvSpPr>
          <p:nvPr/>
        </p:nvSpPr>
        <p:spPr>
          <a:xfrm>
            <a:off x="9658350" y="1924050"/>
            <a:ext cx="1924050" cy="114300"/>
          </a:xfrm>
          <a:prstGeom prst="rect">
            <a:avLst/>
          </a:prstGeom>
          <a:solidFill>
            <a:srgbClr val="121212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482E03A9-F1BB-408B-BE0F-61666E3C36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2821D0B-7BB9-4BEA-8568-4AEA506F821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ED7AA5C-1BBF-4A51-9587-BA5F6F04C78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課前預習回顧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98E7BB7-A40C-43D3-9FF0-18E046A80787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影片下面的三題：你分得出證據和意見嗎？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CDDA15AF-D83A-474D-A456-43204758A811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7B95A0A-8FD1-49B6-8553-75CAA5444E19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45994A-9DF8-4526-9B16-24CAE03C38D1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02 / 21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82371FE-697D-40E4-BB3A-4680C9492111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3C320CB9-C3AD-46D4-B730-D814052F3DB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AEF2220A-25C8-4436-884F-D94EFAE572B1}"/>
              </a:ext>
            </a:extLst>
          </p:cNvPr>
          <p:cNvSpPr>
            <a:spLocks noGrp="1"/>
          </p:cNvSpPr>
          <p:nvPr/>
        </p:nvSpPr>
        <p:spPr>
          <a:xfrm>
            <a:off x="1314450" y="2409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「老闆說上個月臨時缺人三次，每次找人花兩小時。」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9C8C0427-9A41-4804-B115-6DB5C54BE26C}"/>
              </a:ext>
            </a:extLst>
          </p:cNvPr>
          <p:cNvSpPr>
            <a:spLocks noGrp="1"/>
          </p:cNvSpPr>
          <p:nvPr/>
        </p:nvSpPr>
        <p:spPr>
          <a:xfrm>
            <a:off x="4429125" y="2409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證據。有人、有次數、有代價，可以追問出處。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A4D9B320-DC9A-4954-BCBD-D1A12EBEB5F1}"/>
              </a:ext>
            </a:extLst>
          </p:cNvPr>
          <p:cNvSpPr>
            <a:spLocks noGrp="1"/>
          </p:cNvSpPr>
          <p:nvPr/>
        </p:nvSpPr>
        <p:spPr>
          <a:xfrm>
            <a:off x="1314450" y="3019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EBF68F2A-63F8-4862-B27E-F8DF179D2DA6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34EE12-5C89-491C-8932-2A672F3E98D7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AED1200E-7BE2-4DD2-ADA0-7D30E6B0981B}"/>
              </a:ext>
            </a:extLst>
          </p:cNvPr>
          <p:cNvSpPr>
            <a:spLocks noGrp="1"/>
          </p:cNvSpPr>
          <p:nvPr/>
        </p:nvSpPr>
        <p:spPr>
          <a:xfrm>
            <a:off x="1314450" y="33623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「大家都覺得餐飲業很缺工。」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F22A966B-DF26-4D7E-8ECC-14591A3B9F8E}"/>
              </a:ext>
            </a:extLst>
          </p:cNvPr>
          <p:cNvSpPr>
            <a:spLocks noGrp="1"/>
          </p:cNvSpPr>
          <p:nvPr/>
        </p:nvSpPr>
        <p:spPr>
          <a:xfrm>
            <a:off x="4429125" y="33623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意見。沒有誰、沒有數字；Gemini 最常給這種句子。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4347ED41-C791-4EE4-9C69-652BD9AC2DE6}"/>
              </a:ext>
            </a:extLst>
          </p:cNvPr>
          <p:cNvSpPr>
            <a:spLocks noGrp="1"/>
          </p:cNvSpPr>
          <p:nvPr/>
        </p:nvSpPr>
        <p:spPr>
          <a:xfrm>
            <a:off x="1314450" y="39719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B36BABB-0E6E-4648-BB95-CCB3E591DDF3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CA631708-CE6D-42BC-B460-B476022771E7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C7AE9068-2762-4A03-A15E-EE94A7A0CDF0}"/>
              </a:ext>
            </a:extLst>
          </p:cNvPr>
          <p:cNvSpPr>
            <a:spLocks noGrp="1"/>
          </p:cNvSpPr>
          <p:nvPr/>
        </p:nvSpPr>
        <p:spPr>
          <a:xfrm>
            <a:off x="1314450" y="4314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「AI 說台灣餐飲缺工率 30%。」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BD73FAB-8CB1-41D3-B640-715FEE6AF17E}"/>
              </a:ext>
            </a:extLst>
          </p:cNvPr>
          <p:cNvSpPr>
            <a:spLocks noGrp="1"/>
          </p:cNvSpPr>
          <p:nvPr/>
        </p:nvSpPr>
        <p:spPr>
          <a:xfrm>
            <a:off x="4429125" y="4314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還不是證據。先問：這個數字哪裡來的？找到來源才算。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FA808F9-3FCE-4AFA-B8B7-2FF36A31D8F6}"/>
              </a:ext>
            </a:extLst>
          </p:cNvPr>
          <p:cNvSpPr>
            <a:spLocks noGrp="1"/>
          </p:cNvSpPr>
          <p:nvPr/>
        </p:nvSpPr>
        <p:spPr>
          <a:xfrm>
            <a:off x="1314450" y="4924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52391823-4577-41D5-B5F1-22EFE691E292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請兩位同學唸自己課前存的那一句「我的痛在這條產業線的哪一段」。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">
            <a:extLst>
              <a:ext uri="{FF2B5EF4-FFF2-40B4-BE49-F238E27FC236}">
                <a16:creationId xmlns:a16="http://schemas.microsoft.com/office/drawing/2014/main" id="{F3FCDF75-2150-48E4-B56F-54EE85CB8E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B62117E7-3FEE-4F02-9D1B-FE1381C73976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3B93369F-C690-4E39-99F1-43A84D86102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本週共同成果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9723C0CB-9629-42A9-BAD8-A60726031031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每人一張產業挑戰卡，四格都有字、兩格有來源、體檢打完分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CDD7C55-A052-46C0-87AF-EC4BB7EE3587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149BDE64-B47E-4B0D-A413-005295AA6EA8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18BF7E24-C488-4726-A5FF-321EE84BADC9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03 / 21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095D2251-FE5C-4EEC-A522-725F6A0A6105}"/>
              </a:ext>
            </a:extLst>
          </p:cNvPr>
          <p:cNvSpPr>
            <a:spLocks noGrp="1"/>
          </p:cNvSpPr>
          <p:nvPr/>
        </p:nvSpPr>
        <p:spPr>
          <a:xfrm>
            <a:off x="609600" y="2524125"/>
            <a:ext cx="31432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4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4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4 格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68D357CF-B3B1-4D53-8508-4A38FEEE02DE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3333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誰有痛 → 這一行的挑戰 → 誰付錢給誰 → 契機在哪一段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105E5CF5-D6FE-490E-B9A5-6F8A95CD06B6}"/>
              </a:ext>
            </a:extLst>
          </p:cNvPr>
          <p:cNvSpPr>
            <a:spLocks noGrp="1"/>
          </p:cNvSpPr>
          <p:nvPr/>
        </p:nvSpPr>
        <p:spPr>
          <a:xfrm>
            <a:off x="4333875" y="2476500"/>
            <a:ext cx="57150" cy="276225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F9524EDB-3A59-47EA-BB11-2F0D55356ABC}"/>
              </a:ext>
            </a:extLst>
          </p:cNvPr>
          <p:cNvSpPr>
            <a:spLocks noGrp="1"/>
          </p:cNvSpPr>
          <p:nvPr/>
        </p:nvSpPr>
        <p:spPr>
          <a:xfrm>
            <a:off x="4762500" y="24765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103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取回 Week 3 的判斷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6D7FCDB6-2A20-44EC-BA71-2375E21CE9DB}"/>
              </a:ext>
            </a:extLst>
          </p:cNvPr>
          <p:cNvSpPr>
            <a:spLocks noGrp="1"/>
          </p:cNvSpPr>
          <p:nvPr/>
        </p:nvSpPr>
        <p:spPr>
          <a:xfrm>
            <a:off x="4762500" y="2914650"/>
            <a:ext cx="61912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三次訪談後，你的痛點成立／部分／不成立？這是第 ① 格的起點。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4DED09D-724E-4EDF-A764-092D4FEF1F7C}"/>
              </a:ext>
            </a:extLst>
          </p:cNvPr>
          <p:cNvSpPr>
            <a:spLocks noGrp="1"/>
          </p:cNvSpPr>
          <p:nvPr/>
        </p:nvSpPr>
        <p:spPr>
          <a:xfrm>
            <a:off x="4762500" y="3762375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103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選一條產業線</a:t>
            </a:r>
          </a:p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4820CB8D-FACD-4040-B274-01B197A61A6B}"/>
              </a:ext>
            </a:extLst>
          </p:cNvPr>
          <p:cNvSpPr>
            <a:spLocks noGrp="1"/>
          </p:cNvSpPr>
          <p:nvPr/>
        </p:nvSpPr>
        <p:spPr>
          <a:xfrm>
            <a:off x="4762500" y="4200525"/>
            <a:ext cx="6191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app 已把你的原題配到最相關的 2 條線；原題找不到付錢的人，直接改選，訪談經驗跟著過去。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D455EB71-7177-43A7-83A1-197F8F1C670B}"/>
              </a:ext>
            </a:extLst>
          </p:cNvPr>
          <p:cNvSpPr>
            <a:spLocks noGrp="1"/>
          </p:cNvSpPr>
          <p:nvPr/>
        </p:nvSpPr>
        <p:spPr>
          <a:xfrm>
            <a:off x="4762500" y="49530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103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問 AI、查證、打分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4BCD5218-7EF4-4D85-AB21-A2BF59B8C003}"/>
              </a:ext>
            </a:extLst>
          </p:cNvPr>
          <p:cNvSpPr>
            <a:spLocks noGrp="1"/>
          </p:cNvSpPr>
          <p:nvPr/>
        </p:nvSpPr>
        <p:spPr>
          <a:xfrm>
            <a:off x="4762500" y="5391150"/>
            <a:ext cx="619125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Gemini 問產業與切法；NotebookLM 查證、標來源；體檢五題＋加分題各寫一句理由。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" name="">
            <a:extLst>
              <a:ext uri="{FF2B5EF4-FFF2-40B4-BE49-F238E27FC236}">
                <a16:creationId xmlns:a16="http://schemas.microsoft.com/office/drawing/2014/main" id="{5531F714-86A9-41DF-AD33-70581D9C98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A6B808D6-018D-47D8-9ED1-E258414C863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FBFC5E8F-C9C1-4177-B8F6-345D5EAE0A5D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120 分鐘課堂流程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B2E84BB7-4F61-40AE-A611-46F8EFD8B6C0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先看這一行哪裡卡住，再問有沒有人為它付錢，最後才找切入點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57C7377-C278-49DF-BE76-49263FE104B7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11D6D99-8225-4FBC-9CA5-6628D9A8E518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65ED00B1-C76C-4031-9373-985BE7591EA6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04 / 21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57B5694A-186D-4385-8D67-2E07E7CE303F}"/>
              </a:ext>
            </a:extLst>
          </p:cNvPr>
          <p:cNvSpPr>
            <a:spLocks noGrp="1"/>
          </p:cNvSpPr>
          <p:nvPr/>
        </p:nvSpPr>
        <p:spPr>
          <a:xfrm>
            <a:off x="6096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0–35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A1E3B43-C9CB-4B29-80A2-6C96B832E5B3}"/>
              </a:ext>
            </a:extLst>
          </p:cNvPr>
          <p:cNvSpPr>
            <a:spLocks noGrp="1"/>
          </p:cNvSpPr>
          <p:nvPr/>
        </p:nvSpPr>
        <p:spPr>
          <a:xfrm>
            <a:off x="609600" y="3028950"/>
            <a:ext cx="2381250" cy="66675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0179F13F-07E9-48B5-BE87-307165CEAF2F}"/>
              </a:ext>
            </a:extLst>
          </p:cNvPr>
          <p:cNvSpPr>
            <a:spLocks noGrp="1"/>
          </p:cNvSpPr>
          <p:nvPr/>
        </p:nvSpPr>
        <p:spPr>
          <a:xfrm>
            <a:off x="6096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回顧與影片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0ACA1704-15B0-460F-9117-A5F2DBF2B37C}"/>
              </a:ext>
            </a:extLst>
          </p:cNvPr>
          <p:cNvSpPr>
            <a:spLocks noGrp="1"/>
          </p:cNvSpPr>
          <p:nvPr/>
        </p:nvSpPr>
        <p:spPr>
          <a:xfrm>
            <a:off x="6096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0–20 Week 3 訪談：成立／部分／不成立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20–35 YC 片段：壞掉的大產業、焦油坑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74765FF-AABC-4783-A111-0B879A99DC27}"/>
              </a:ext>
            </a:extLst>
          </p:cNvPr>
          <p:cNvSpPr>
            <a:spLocks noGrp="1"/>
          </p:cNvSpPr>
          <p:nvPr/>
        </p:nvSpPr>
        <p:spPr>
          <a:xfrm>
            <a:off x="33528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14395B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4395B"/>
                </a:solidFill>
                <a:latin typeface="PingFang TC"/>
                <a:ea typeface="PingFang TC"/>
                <a:cs typeface="PingFang TC"/>
              </a:rPr>
              <a:t>35–75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CD84D9D-1D7F-49AA-A3C8-C262DFA0BF81}"/>
              </a:ext>
            </a:extLst>
          </p:cNvPr>
          <p:cNvSpPr>
            <a:spLocks noGrp="1"/>
          </p:cNvSpPr>
          <p:nvPr/>
        </p:nvSpPr>
        <p:spPr>
          <a:xfrm>
            <a:off x="3352800" y="3028950"/>
            <a:ext cx="2381250" cy="66675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227B89E0-6965-4B71-9EAD-C9AC5A3753A0}"/>
              </a:ext>
            </a:extLst>
          </p:cNvPr>
          <p:cNvSpPr>
            <a:spLocks noGrp="1"/>
          </p:cNvSpPr>
          <p:nvPr/>
        </p:nvSpPr>
        <p:spPr>
          <a:xfrm>
            <a:off x="33528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選線與問 AI 1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D88ADD9B-7BEF-4514-8B56-96583D3706AF}"/>
              </a:ext>
            </a:extLst>
          </p:cNvPr>
          <p:cNvSpPr>
            <a:spLocks noGrp="1"/>
          </p:cNvSpPr>
          <p:nvPr/>
        </p:nvSpPr>
        <p:spPr>
          <a:xfrm>
            <a:off x="33528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35–50 產業板導覽、選線、寫「我在哪一段」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50–75 問 AI 1：錢流與挑戰（Gemini）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3E6CEEB3-3205-4A53-B9AC-D7B5700A7E9F}"/>
              </a:ext>
            </a:extLst>
          </p:cNvPr>
          <p:cNvSpPr>
            <a:spLocks noGrp="1"/>
          </p:cNvSpPr>
          <p:nvPr/>
        </p:nvSpPr>
        <p:spPr>
          <a:xfrm>
            <a:off x="60960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C99827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99827"/>
                </a:solidFill>
                <a:latin typeface="PingFang TC"/>
                <a:ea typeface="PingFang TC"/>
                <a:cs typeface="PingFang TC"/>
              </a:rPr>
              <a:t>75–115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DDC319AD-69AD-479E-B19E-FBD96DD46C11}"/>
              </a:ext>
            </a:extLst>
          </p:cNvPr>
          <p:cNvSpPr>
            <a:spLocks noGrp="1"/>
          </p:cNvSpPr>
          <p:nvPr/>
        </p:nvSpPr>
        <p:spPr>
          <a:xfrm>
            <a:off x="6096000" y="3028950"/>
            <a:ext cx="2381250" cy="66675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E54D6ADA-B64A-4DA4-8783-D3D9E9761224}"/>
              </a:ext>
            </a:extLst>
          </p:cNvPr>
          <p:cNvSpPr>
            <a:spLocks noGrp="1"/>
          </p:cNvSpPr>
          <p:nvPr/>
        </p:nvSpPr>
        <p:spPr>
          <a:xfrm>
            <a:off x="60960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查證與擂台</a:t>
            </a:r>
          </a:p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60BADEF1-F633-46E5-8E61-6A281FD20719}"/>
              </a:ext>
            </a:extLst>
          </p:cNvPr>
          <p:cNvSpPr>
            <a:spLocks noGrp="1"/>
          </p:cNvSpPr>
          <p:nvPr/>
        </p:nvSpPr>
        <p:spPr>
          <a:xfrm>
            <a:off x="60960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75–100 NotebookLM 示範：老師用一張卡現場跑六題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100–115 Gemini 擂台：每組限時找一個產業的三個困難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3E1DDD8-EC9C-418F-BCD1-ADF0F0A2639A}"/>
              </a:ext>
            </a:extLst>
          </p:cNvPr>
          <p:cNvSpPr>
            <a:spLocks noGrp="1"/>
          </p:cNvSpPr>
          <p:nvPr/>
        </p:nvSpPr>
        <p:spPr>
          <a:xfrm>
            <a:off x="88392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115–120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09E56B5-E7B9-4A5E-A980-C3280EEB9076}"/>
              </a:ext>
            </a:extLst>
          </p:cNvPr>
          <p:cNvSpPr>
            <a:spLocks noGrp="1"/>
          </p:cNvSpPr>
          <p:nvPr/>
        </p:nvSpPr>
        <p:spPr>
          <a:xfrm>
            <a:off x="8839200" y="3028950"/>
            <a:ext cx="2381250" cy="66675"/>
          </a:xfrm>
          <a:prstGeom prst="rect">
            <a:avLst/>
          </a:prstGeom>
          <a:solidFill>
            <a:srgbClr val="121212"/>
          </a:solidFill>
          <a:ln w="9525">
            <a:solidFill>
              <a:srgbClr val="121212"/>
            </a:solidFill>
          </a:ln>
        </p:spPr>
        <p:txBody>
          <a:bodyPr/>
          <a:p/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38C8F516-616B-4DBB-8CDA-B91EFD22AB35}"/>
              </a:ext>
            </a:extLst>
          </p:cNvPr>
          <p:cNvSpPr>
            <a:spLocks noGrp="1"/>
          </p:cNvSpPr>
          <p:nvPr/>
        </p:nvSpPr>
        <p:spPr>
          <a:xfrm>
            <a:off x="88392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課後任務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70207311-E971-4993-97A4-9C6CE29C1EB7}"/>
              </a:ext>
            </a:extLst>
          </p:cNvPr>
          <p:cNvSpPr>
            <a:spLocks noGrp="1"/>
          </p:cNvSpPr>
          <p:nvPr/>
        </p:nvSpPr>
        <p:spPr>
          <a:xfrm>
            <a:off x="88392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補證據夾、填第 ③ 格來源、問 AI 2、打體檢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10/29 課前交期中第一版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D51E96A9-5429-4684-BD65-9D59AE5A04BC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本週不是想點子，是查清楚這一行的錢怎麼流、卡在哪。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1FE51CBA-82C8-49B5-A679-27E21DDAE244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BFDC9374-2343-4BE3-AE6F-481B7C3116EB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本週 YC 影片（片段）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0D6ED46-4B5C-4DE7-94D9-EF51017D381E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How to Get and Evaluate Startup Ideas · Jared Friedman · 只看三段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BF0743C-E6CE-49C9-BD81-75FB94AC203F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72741E72-43CF-4ECE-A142-A56C8C16A792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1A909966-2A99-4B30-A195-E662ECAA9CF2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05 / 21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E8D6F5E4-C3D8-4E4D-8F60-4C7501DE174A}"/>
              </a:ext>
            </a:extLst>
          </p:cNvPr>
          <p:cNvSpPr>
            <a:spLocks noGrp="1"/>
          </p:cNvSpPr>
          <p:nvPr/>
        </p:nvSpPr>
        <p:spPr>
          <a:xfrm>
            <a:off x="609600" y="2438400"/>
            <a:ext cx="3505200" cy="26765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F8E7AC2-3FA7-4FF0-91BB-4CE9E08D13CC}"/>
              </a:ext>
            </a:extLst>
          </p:cNvPr>
          <p:cNvSpPr>
            <a:spLocks noGrp="1"/>
          </p:cNvSpPr>
          <p:nvPr/>
        </p:nvSpPr>
        <p:spPr>
          <a:xfrm>
            <a:off x="609600" y="2438400"/>
            <a:ext cx="3505200" cy="76200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4DA7D7B0-EB44-4452-8EC9-27585F6E47B1}"/>
              </a:ext>
            </a:extLst>
          </p:cNvPr>
          <p:cNvSpPr>
            <a:spLocks noGrp="1"/>
          </p:cNvSpPr>
          <p:nvPr/>
        </p:nvSpPr>
        <p:spPr>
          <a:xfrm>
            <a:off x="838200" y="2676525"/>
            <a:ext cx="952500" cy="533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7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5D9F5000-F6DE-4B6B-AB29-8976DBD31B28}"/>
              </a:ext>
            </a:extLst>
          </p:cNvPr>
          <p:cNvSpPr>
            <a:spLocks noGrp="1"/>
          </p:cNvSpPr>
          <p:nvPr/>
        </p:nvSpPr>
        <p:spPr>
          <a:xfrm>
            <a:off x="838200" y="3333750"/>
            <a:ext cx="3143250" cy="5048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32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壞掉的大產業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C8A69BBE-5B34-47BC-AC81-43C21498524C}"/>
              </a:ext>
            </a:extLst>
          </p:cNvPr>
          <p:cNvSpPr>
            <a:spLocks noGrp="1"/>
          </p:cNvSpPr>
          <p:nvPr/>
        </p:nvSpPr>
        <p:spPr>
          <a:xfrm>
            <a:off x="838200" y="4057650"/>
            <a:ext cx="3143250" cy="866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0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看起來不好、其實好的題目：/很難、很無聊、已經有人在做的產業。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E01711E8-48F8-4470-B2F2-9B9309AA6BE1}"/>
              </a:ext>
            </a:extLst>
          </p:cNvPr>
          <p:cNvSpPr>
            <a:spLocks noGrp="1"/>
          </p:cNvSpPr>
          <p:nvPr/>
        </p:nvSpPr>
        <p:spPr>
          <a:xfrm>
            <a:off x="4343400" y="2438400"/>
            <a:ext cx="3505200" cy="26765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D202E1C9-ED85-4072-8D04-16B70667772A}"/>
              </a:ext>
            </a:extLst>
          </p:cNvPr>
          <p:cNvSpPr>
            <a:spLocks noGrp="1"/>
          </p:cNvSpPr>
          <p:nvPr/>
        </p:nvSpPr>
        <p:spPr>
          <a:xfrm>
            <a:off x="4343400" y="2438400"/>
            <a:ext cx="3505200" cy="7620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98DDF27D-3C58-4069-AC3A-1DFF4E82671E}"/>
              </a:ext>
            </a:extLst>
          </p:cNvPr>
          <p:cNvSpPr>
            <a:spLocks noGrp="1"/>
          </p:cNvSpPr>
          <p:nvPr/>
        </p:nvSpPr>
        <p:spPr>
          <a:xfrm>
            <a:off x="4572000" y="2676525"/>
            <a:ext cx="952500" cy="533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7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CB3AED7C-4A37-439A-AD2D-EC14CC7FB342}"/>
              </a:ext>
            </a:extLst>
          </p:cNvPr>
          <p:cNvSpPr>
            <a:spLocks noGrp="1"/>
          </p:cNvSpPr>
          <p:nvPr/>
        </p:nvSpPr>
        <p:spPr>
          <a:xfrm>
            <a:off x="4572000" y="3333750"/>
            <a:ext cx="3143250" cy="5048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32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焦油坑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07B30F38-691F-4AD4-AB4F-B49E192938DB}"/>
              </a:ext>
            </a:extLst>
          </p:cNvPr>
          <p:cNvSpPr>
            <a:spLocks noGrp="1"/>
          </p:cNvSpPr>
          <p:nvPr/>
        </p:nvSpPr>
        <p:spPr>
          <a:xfrm>
            <a:off x="4572000" y="4057650"/>
            <a:ext cx="3143250" cy="866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0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人人有感、沒人付錢、/很多人做過都做不起來的題目。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C638B680-9E4E-4BFF-81B0-EC04CA5C0FE8}"/>
              </a:ext>
            </a:extLst>
          </p:cNvPr>
          <p:cNvSpPr>
            <a:spLocks noGrp="1"/>
          </p:cNvSpPr>
          <p:nvPr/>
        </p:nvSpPr>
        <p:spPr>
          <a:xfrm>
            <a:off x="8077200" y="2438400"/>
            <a:ext cx="3505200" cy="26765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564C8991-0650-474B-940A-AE6FFAE52AE6}"/>
              </a:ext>
            </a:extLst>
          </p:cNvPr>
          <p:cNvSpPr>
            <a:spLocks noGrp="1"/>
          </p:cNvSpPr>
          <p:nvPr/>
        </p:nvSpPr>
        <p:spPr>
          <a:xfrm>
            <a:off x="8077200" y="2438400"/>
            <a:ext cx="3505200" cy="76200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FC8F71F3-B5CE-448C-A307-D2AC2F350248}"/>
              </a:ext>
            </a:extLst>
          </p:cNvPr>
          <p:cNvSpPr>
            <a:spLocks noGrp="1"/>
          </p:cNvSpPr>
          <p:nvPr/>
        </p:nvSpPr>
        <p:spPr>
          <a:xfrm>
            <a:off x="8305800" y="2676525"/>
            <a:ext cx="952500" cy="533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7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26B6F892-140A-4F15-A4D1-276CA717B15B}"/>
              </a:ext>
            </a:extLst>
          </p:cNvPr>
          <p:cNvSpPr>
            <a:spLocks noGrp="1"/>
          </p:cNvSpPr>
          <p:nvPr/>
        </p:nvSpPr>
        <p:spPr>
          <a:xfrm>
            <a:off x="8305800" y="3333750"/>
            <a:ext cx="3143250" cy="5048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32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評估清單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94E64BC5-91BD-4DD7-9BF4-DE15765BA019}"/>
              </a:ext>
            </a:extLst>
          </p:cNvPr>
          <p:cNvSpPr>
            <a:spLocks noGrp="1"/>
          </p:cNvSpPr>
          <p:nvPr/>
        </p:nvSpPr>
        <p:spPr>
          <a:xfrm>
            <a:off x="8305800" y="4057650"/>
            <a:ext cx="3143250" cy="866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0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影片的十個問題，/本課濃縮成體檢五題＋加分題。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37E80CEC-8842-4BB2-942D-C861E4E0C9E3}"/>
              </a:ext>
            </a:extLst>
          </p:cNvPr>
          <p:cNvSpPr>
            <a:spLocks noGrp="1"/>
          </p:cNvSpPr>
          <p:nvPr/>
        </p:nvSpPr>
        <p:spPr>
          <a:xfrm>
            <a:off x="609600" y="5429250"/>
            <a:ext cx="10477500" cy="333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YC Startup School 2022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684F63D8-2087-40C4-9F97-289B0558993C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3143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1D3A5F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1D3A5F"/>
                </a:solidFill>
                <a:latin typeface="PingFang TC"/>
                <a:ea typeface="PingFang TC"/>
                <a:cs typeface="PingFang TC"/>
              </a:rPr>
              <a:t>影片：youtube.com/watch?v=Th8JoIan4dg（19:43–31:55、3:16–5:39、6:30–14:41）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重點：焦油坑 vs 無聊的好題目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影片觀點為意譯；產業例子為本課延伸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06 / 21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影片觀念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焦油坑：約朋友出來玩的 App，/人人想要、沒人付錢。無聊的好題目：/薪資、支付、營造藍圖，沒人想做所以沒競爭。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中文解釋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「大家都覺得煩」不是市場；/「老闆每個月為它付錢」才是。/無聊的地方，錢往往最清楚。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產業例子（本課）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早八起不來、午餐吃什麼：焦油坑。/交班漏記、臨時代班、民宿 no-show：/無聊，但老闆現在就在付代價。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挑戰卡應用（本課）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第 ③ 格「誰付錢給誰」寫不出具名的付費者，/這條線就是焦油坑，換線。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重點：評估清單 → 我們的體檢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影片的十個問題，本課只留學生八週用得上的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07 / 21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影片觀念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團隊適不適合、市場大不大、有多痛、/替代方案是什麼、有沒有競爭者、/為什麼是現在、能不能規模化。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中文解釋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「市場大不大」最容易被 AI 編出來，本課不問；/「替代方案」改問「老闆現在怎麼撐、花多少」。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產業例子（本課）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民宿老闆現在用 OTA，每筆付 15–25%——/替代方案存在、代價具體、為什麼是現在：/直訂工具變便宜了。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挑戰卡應用（本課）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體檢五題：有人付錢嗎／夠頻繁夠貴嗎／/為什麼沒解掉／第一個客戶是誰／八週切得了嗎。/加分題：為什麼是現在。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產業挑戰卡的四格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一頁、四格、一顆存檔鈕；順序就是思考的順序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08 / 21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① 誰有痛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從 Week 2／3 帶入；寫你的痛在這條產業線的哪一段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② 這一行的挑戰在哪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老闆自己說得出口的困難，三點，每點標（來源：XX）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③ 現在誰為它付錢給誰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具名的付費者、金額、多久一次——這一格決定商業燈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④ 契機在哪一段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三個學生、八週、只切一段；第一個客戶叫得出名字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" name="">
            <a:extLst>
              <a:ext uri="{FF2B5EF4-FFF2-40B4-BE49-F238E27FC236}">
                <a16:creationId xmlns:a16="http://schemas.microsoft.com/office/drawing/2014/main" id="{D99C096F-6EB5-41EA-B969-490BF1A5FE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F945F193-D6A2-4A5E-BD73-6B69757A3820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E0DE06-5026-47E2-9F71-7631AE1BDAE2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個人痛 vs 產業挑戰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E0ED7F9D-7CE4-45F4-B7CB-9761EE5DF652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同一件事，兩種寫法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A2DC1420-12C3-4916-8E72-AE7443D5B25C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2F07DDDE-8D75-462F-91D5-4B36B43575EE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C5FE7A55-B727-4B6F-9EE2-D39F3300B62E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09 / 21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E25F88BD-8320-4506-A81F-3D2EC6975FE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個人痛（Week 2 的寫法）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993229B-BD18-4B58-BFFD-54C5C43644DE}"/>
              </a:ext>
            </a:extLst>
          </p:cNvPr>
          <p:cNvSpPr>
            <a:spLocks noGrp="1"/>
          </p:cNvSpPr>
          <p:nvPr/>
        </p:nvSpPr>
        <p:spPr>
          <a:xfrm>
            <a:off x="60960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午休只有 50 分鐘，排隊 20 分鐘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很煩，常常放棄午餐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希望有 App 可以預點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2A462A0-899F-4C1D-9C7C-25D4058895FB}"/>
              </a:ext>
            </a:extLst>
          </p:cNvPr>
          <p:cNvSpPr>
            <a:spLocks noGrp="1"/>
          </p:cNvSpPr>
          <p:nvPr/>
        </p:nvSpPr>
        <p:spPr>
          <a:xfrm>
            <a:off x="5953125" y="2428875"/>
            <a:ext cx="38100" cy="29527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B13E5783-0243-4D15-B1DC-FFBD06FE9F16}"/>
              </a:ext>
            </a:extLst>
          </p:cNvPr>
          <p:cNvSpPr>
            <a:spLocks noGrp="1"/>
          </p:cNvSpPr>
          <p:nvPr/>
        </p:nvSpPr>
        <p:spPr>
          <a:xfrm>
            <a:off x="657225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rPr>
              <a:t>產業挑戰（Week 4 的寫法）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204B0874-5189-41D9-9F8F-D809113B0CB0}"/>
              </a:ext>
            </a:extLst>
          </p:cNvPr>
          <p:cNvSpPr>
            <a:spLocks noGrp="1"/>
          </p:cNvSpPr>
          <p:nvPr/>
        </p:nvSpPr>
        <p:spPr>
          <a:xfrm>
            <a:off x="657225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校園週邊小吃店尖峰 40 分鐘產能固定，缺工到開不了門（來源：中國時報 2026-04）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店家已付點餐系統月費、外送抽成約三成（來源：訂餐系統業者 2026 趨勢）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預點只是把排隊搬到手機，產能沒變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5A63A13F-D1D5-4F06-BFE8-CD5525CCAD8B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左邊是你的感受；右邊是老闆的帳本。期中報告看的是右邊。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98F758EE-CD86-48B7-9528-D7F1ABB399D4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D2E08B2D-B5A5-4C29-AC67-4F609BCB09B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產業板：9 條有人在付錢的線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6B5F344C-5FEC-4E4B-ADC7-6A1F81F0A058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app 把最相關的 2 條排最前；其他 7 條仍可選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F16DA960-2142-4AA8-995C-CA83244B7EA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491B358-EF55-433A-8C01-0CA7654E64D1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A62A8098-6BDA-42DF-A127-0FA3683F919E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10 / 21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4B7C57CC-9AE6-46B1-9743-23518ADF41B2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2428875" cy="571500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81B4A629-9C9A-413E-B4D0-4A970115EFF4}"/>
              </a:ext>
            </a:extLst>
          </p:cNvPr>
          <p:cNvSpPr>
            <a:spLocks noGrp="1"/>
          </p:cNvSpPr>
          <p:nvPr/>
        </p:nvSpPr>
        <p:spPr>
          <a:xfrm>
            <a:off x="819150" y="2438400"/>
            <a:ext cx="2171700" cy="4476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 餐飲小店營運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5241B910-5196-43A9-BEA5-4EEAB4686BAF}"/>
              </a:ext>
            </a:extLst>
          </p:cNvPr>
          <p:cNvSpPr>
            <a:spLocks noGrp="1"/>
          </p:cNvSpPr>
          <p:nvPr/>
        </p:nvSpPr>
        <p:spPr>
          <a:xfrm>
            <a:off x="3419475" y="2438400"/>
            <a:ext cx="7953375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店老闆付點餐月費與外送抽成；缺工、尖峰產能、交班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171A165C-D9D7-43F9-ACA1-D8242F9A6C98}"/>
              </a:ext>
            </a:extLst>
          </p:cNvPr>
          <p:cNvSpPr>
            <a:spLocks noGrp="1"/>
          </p:cNvSpPr>
          <p:nvPr/>
        </p:nvSpPr>
        <p:spPr>
          <a:xfrm>
            <a:off x="3419475" y="3028950"/>
            <a:ext cx="816292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F68C1EEE-5161-4193-8F3E-7037FA3F9380}"/>
              </a:ext>
            </a:extLst>
          </p:cNvPr>
          <p:cNvSpPr>
            <a:spLocks noGrp="1"/>
          </p:cNvSpPr>
          <p:nvPr/>
        </p:nvSpPr>
        <p:spPr>
          <a:xfrm>
            <a:off x="609600" y="3133725"/>
            <a:ext cx="2428875" cy="571500"/>
          </a:xfrm>
          <a:prstGeom prst="rect">
            <a:avLst/>
          </a:prstGeom>
          <a:solidFill>
            <a:srgbClr val="121212"/>
          </a:solidFill>
          <a:ln w="0">
            <a:noFill/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B164F02C-5EE6-4782-B407-6B2ECB4333DC}"/>
              </a:ext>
            </a:extLst>
          </p:cNvPr>
          <p:cNvSpPr>
            <a:spLocks noGrp="1"/>
          </p:cNvSpPr>
          <p:nvPr/>
        </p:nvSpPr>
        <p:spPr>
          <a:xfrm>
            <a:off x="819150" y="3209925"/>
            <a:ext cx="2171700" cy="4476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2 零工與臨時人力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52AFD529-F489-4B5D-89AC-1E01DFECFA05}"/>
              </a:ext>
            </a:extLst>
          </p:cNvPr>
          <p:cNvSpPr>
            <a:spLocks noGrp="1"/>
          </p:cNvSpPr>
          <p:nvPr/>
        </p:nvSpPr>
        <p:spPr>
          <a:xfrm>
            <a:off x="3419475" y="3209925"/>
            <a:ext cx="7953375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連鎖總部、店長＋政府 55+ 獎勵；臨時缺人只能 LINE 群喊</a:t>
            </a:r>
          </a:p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25EFCBDC-21FE-44B9-894A-F61DFD23B23F}"/>
              </a:ext>
            </a:extLst>
          </p:cNvPr>
          <p:cNvSpPr>
            <a:spLocks noGrp="1"/>
          </p:cNvSpPr>
          <p:nvPr/>
        </p:nvSpPr>
        <p:spPr>
          <a:xfrm>
            <a:off x="3419475" y="3800475"/>
            <a:ext cx="816292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83CE1DD2-4CD5-4252-ABCC-53AC0262A7B9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28875" cy="571500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B8BA06E9-B0C2-4FDE-90A6-C2391F0F7B12}"/>
              </a:ext>
            </a:extLst>
          </p:cNvPr>
          <p:cNvSpPr>
            <a:spLocks noGrp="1"/>
          </p:cNvSpPr>
          <p:nvPr/>
        </p:nvSpPr>
        <p:spPr>
          <a:xfrm>
            <a:off x="819150" y="3981450"/>
            <a:ext cx="2171700" cy="4476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4 旅宿與空間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57ECEE49-84FB-4548-8DE8-7C47D42C59C7}"/>
              </a:ext>
            </a:extLst>
          </p:cNvPr>
          <p:cNvSpPr>
            <a:spLocks noGrp="1"/>
          </p:cNvSpPr>
          <p:nvPr/>
        </p:nvSpPr>
        <p:spPr>
          <a:xfrm>
            <a:off x="3419475" y="3981450"/>
            <a:ext cx="7953375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民宿每筆付 OTA 15–25%；回頭客留不住、no-show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CB118B70-D194-4C9C-8FE3-6F5886EC3491}"/>
              </a:ext>
            </a:extLst>
          </p:cNvPr>
          <p:cNvSpPr>
            <a:spLocks noGrp="1"/>
          </p:cNvSpPr>
          <p:nvPr/>
        </p:nvSpPr>
        <p:spPr>
          <a:xfrm>
            <a:off x="3419475" y="4572000"/>
            <a:ext cx="816292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6890C033-9B59-4F45-B65B-E28E24252CF2}"/>
              </a:ext>
            </a:extLst>
          </p:cNvPr>
          <p:cNvSpPr>
            <a:spLocks noGrp="1"/>
          </p:cNvSpPr>
          <p:nvPr/>
        </p:nvSpPr>
        <p:spPr>
          <a:xfrm>
            <a:off x="609600" y="4676775"/>
            <a:ext cx="2428875" cy="571500"/>
          </a:xfrm>
          <a:prstGeom prst="rect">
            <a:avLst/>
          </a:prstGeom>
          <a:solidFill>
            <a:srgbClr val="121212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57917F3F-EA23-412B-8332-A63CBF0A004B}"/>
              </a:ext>
            </a:extLst>
          </p:cNvPr>
          <p:cNvSpPr>
            <a:spLocks noGrp="1"/>
          </p:cNvSpPr>
          <p:nvPr/>
        </p:nvSpPr>
        <p:spPr>
          <a:xfrm>
            <a:off x="819150" y="4752975"/>
            <a:ext cx="2171700" cy="4476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其餘六條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29E5E0B-8F52-432E-AB48-77C12225A4D0}"/>
              </a:ext>
            </a:extLst>
          </p:cNvPr>
          <p:cNvSpPr>
            <a:spLocks noGrp="1"/>
          </p:cNvSpPr>
          <p:nvPr/>
        </p:nvSpPr>
        <p:spPr>
          <a:xfrm>
            <a:off x="3419475" y="4752975"/>
            <a:ext cx="7953375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3 網拍電商 · 5 健身運動與筋膜 · 6 小店獲客漏斗 · 7 小店 CRM · 8 銀髮家屬端（選修）· 9 壯年老手×AI 轉型（老師指定）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356F7644-0D00-471F-B615-B1B17A0AFAF9}"/>
              </a:ext>
            </a:extLst>
          </p:cNvPr>
          <p:cNvSpPr>
            <a:spLocks noGrp="1"/>
          </p:cNvSpPr>
          <p:nvPr/>
        </p:nvSpPr>
        <p:spPr>
          <a:xfrm>
            <a:off x="609600" y="5629275"/>
            <a:ext cx="10972800" cy="4762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76155734-41A4-4D8E-AB83-784EDE4A2B09}"/>
              </a:ext>
            </a:extLst>
          </p:cNvPr>
          <p:cNvSpPr>
            <a:spLocks noGrp="1"/>
          </p:cNvSpPr>
          <p:nvPr/>
        </p:nvSpPr>
        <p:spPr>
          <a:xfrm>
            <a:off x="800100" y="5695950"/>
            <a:ext cx="1057275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9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原題找不到付錢的人（早八、記帳、抽菸、搶票）：app 直接告知，請改選；你的訪談經驗跟著過去，不算重來。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16" name="">
            <a:extLst>
              <a:ext uri="{FF2B5EF4-FFF2-40B4-BE49-F238E27FC236}">
                <a16:creationId xmlns:a16="http://schemas.microsoft.com/office/drawing/2014/main" id="{5BB8D3BC-6F9C-4FF6-9408-22B5502B82D8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CDE94B8-638C-45EE-88C9-E792C8FC43C7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問 AI 1：問產業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DACACF9F-5FEB-48CE-B65C-931C79168A18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目的：填第 ②③ 格。這一行的錢怎麼流、老闆卡在哪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B18BBCC-0F37-4529-8B9C-0F6B5ADCE388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87DC4C18-141E-42C6-965D-54526F9A5CB3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B279D397-E385-497D-A18F-C21B86E8D38A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11 / 21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FE61CC-952C-4C65-A7AE-3F920868120B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429375" cy="30194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87147BF-0043-4F18-8B38-7B983C2F57C9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6675" cy="301942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78612AE4-051D-4B58-90C9-DD2C0CD26416}"/>
              </a:ext>
            </a:extLst>
          </p:cNvPr>
          <p:cNvSpPr>
            <a:spLocks noGrp="1"/>
          </p:cNvSpPr>
          <p:nvPr/>
        </p:nvSpPr>
        <p:spPr>
          <a:xfrm>
            <a:off x="904875" y="2590800"/>
            <a:ext cx="581025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prompt 的四段（app 自動組好）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CE7E2415-B7F2-46A0-ABCC-812EFEFB1908}"/>
              </a:ext>
            </a:extLst>
          </p:cNvPr>
          <p:cNvSpPr>
            <a:spLocks noGrp="1"/>
          </p:cNvSpPr>
          <p:nvPr/>
        </p:nvSpPr>
        <p:spPr>
          <a:xfrm>
            <a:off x="904875" y="3162300"/>
            <a:ext cx="5857875" cy="1962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【身分】你是台灣餐飲業的顧問</a:t>
            </a:r>
          </a:p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【觀察】我觀察到：（你的第 ① 格）</a:t>
            </a:r>
          </a:p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【要找什麼】業者最大的三個困難；現在為此付錢給誰、付多少</a:t>
            </a:r>
          </a:p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【格式】繁中、每點兩行、數字標出處或寫估計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24799F11-198E-4930-97B7-EF417B4A782E}"/>
              </a:ext>
            </a:extLst>
          </p:cNvPr>
          <p:cNvSpPr>
            <a:spLocks noGrp="1"/>
          </p:cNvSpPr>
          <p:nvPr/>
        </p:nvSpPr>
        <p:spPr>
          <a:xfrm>
            <a:off x="7620000" y="2428875"/>
            <a:ext cx="37909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不要這樣問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E5A198EC-FC68-4F5C-B41F-E58C672D19AA}"/>
              </a:ext>
            </a:extLst>
          </p:cNvPr>
          <p:cNvSpPr>
            <a:spLocks noGrp="1"/>
          </p:cNvSpPr>
          <p:nvPr/>
        </p:nvSpPr>
        <p:spPr>
          <a:xfrm>
            <a:off x="7620000" y="3019425"/>
            <a:ext cx="37719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「幫我想一個解決午餐排隊的 App」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5964E6F1-EA1D-4F56-BAA8-5C25D5B60944}"/>
              </a:ext>
            </a:extLst>
          </p:cNvPr>
          <p:cNvSpPr>
            <a:spLocks noGrp="1"/>
          </p:cNvSpPr>
          <p:nvPr/>
        </p:nvSpPr>
        <p:spPr>
          <a:xfrm>
            <a:off x="7620000" y="3695700"/>
            <a:ext cx="38100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B1313E54-D23D-4157-9535-75F603A09CB7}"/>
              </a:ext>
            </a:extLst>
          </p:cNvPr>
          <p:cNvSpPr>
            <a:spLocks noGrp="1"/>
          </p:cNvSpPr>
          <p:nvPr/>
        </p:nvSpPr>
        <p:spPr>
          <a:xfrm>
            <a:off x="7620000" y="3990975"/>
            <a:ext cx="3781425" cy="1104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「這個題目好不好？」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4E31BAE5-9506-44AE-9F47-956A8D560815}"/>
              </a:ext>
            </a:extLst>
          </p:cNvPr>
          <p:cNvSpPr>
            <a:spLocks noGrp="1"/>
          </p:cNvSpPr>
          <p:nvPr/>
        </p:nvSpPr>
        <p:spPr>
          <a:xfrm>
            <a:off x="609600" y="5638800"/>
            <a:ext cx="10715625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rPr>
              <a:t>貼回來之後，用自己的話填 ②③；完成條件：③ 有具名付費者＋一個數字，② 有三點。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16" name="">
            <a:extLst>
              <a:ext uri="{FF2B5EF4-FFF2-40B4-BE49-F238E27FC236}">
                <a16:creationId xmlns:a16="http://schemas.microsoft.com/office/drawing/2014/main" id="{FAD2CC10-49A9-4B2F-A703-CFEEA1744905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5D6271D0-F42F-410F-8C54-D04BF509A81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問 AI 2：問切法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6CF9C021-668F-4EC2-B07A-968DC09FE65A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目的：填第 ④ 格。三個學生、八週，能切哪一段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7B432BB0-E85A-4B0B-9ED0-9F8DA0A12774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6F79744F-70CA-4C57-B905-36B2B1147498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E17F4AE-5BC6-4D0B-9AEF-89BB49383766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12 / 21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050C16C1-4F34-4C61-A4CE-D19D4A8D8522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429375" cy="30194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5EF92AF1-462B-4BBA-9616-A393CA3B2934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6675" cy="301942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C1A52D7E-E401-4F1A-912A-DD72A311A838}"/>
              </a:ext>
            </a:extLst>
          </p:cNvPr>
          <p:cNvSpPr>
            <a:spLocks noGrp="1"/>
          </p:cNvSpPr>
          <p:nvPr/>
        </p:nvSpPr>
        <p:spPr>
          <a:xfrm>
            <a:off x="904875" y="2590800"/>
            <a:ext cx="581025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AI 的第一個答案通常是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C2659FCB-3F76-4A54-B0C6-739F0F74006E}"/>
              </a:ext>
            </a:extLst>
          </p:cNvPr>
          <p:cNvSpPr>
            <a:spLocks noGrp="1"/>
          </p:cNvSpPr>
          <p:nvPr/>
        </p:nvSpPr>
        <p:spPr>
          <a:xfrm>
            <a:off x="904875" y="3162300"/>
            <a:ext cx="5857875" cy="1962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「做一個平台，/整合店家與學生。」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7C18F928-A58F-4CEC-B00E-8B67AECA04F5}"/>
              </a:ext>
            </a:extLst>
          </p:cNvPr>
          <p:cNvSpPr>
            <a:spLocks noGrp="1"/>
          </p:cNvSpPr>
          <p:nvPr/>
        </p:nvSpPr>
        <p:spPr>
          <a:xfrm>
            <a:off x="7620000" y="2428875"/>
            <a:ext cx="37909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一起限制它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A261E7D-3F50-4CDF-BA4D-9BDCEA023C9F}"/>
              </a:ext>
            </a:extLst>
          </p:cNvPr>
          <p:cNvSpPr>
            <a:spLocks noGrp="1"/>
          </p:cNvSpPr>
          <p:nvPr/>
        </p:nvSpPr>
        <p:spPr>
          <a:xfrm>
            <a:off x="7620000" y="3019425"/>
            <a:ext cx="37719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我們沒有錢、只有八週、只切一段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39D6E7C0-AA95-4301-9EC4-3A9BBA345C59}"/>
              </a:ext>
            </a:extLst>
          </p:cNvPr>
          <p:cNvSpPr>
            <a:spLocks noGrp="1"/>
          </p:cNvSpPr>
          <p:nvPr/>
        </p:nvSpPr>
        <p:spPr>
          <a:xfrm>
            <a:off x="7620000" y="3695700"/>
            <a:ext cx="38100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2BF70FB-348E-42A6-8EB7-2452D5ED2731}"/>
              </a:ext>
            </a:extLst>
          </p:cNvPr>
          <p:cNvSpPr>
            <a:spLocks noGrp="1"/>
          </p:cNvSpPr>
          <p:nvPr/>
        </p:nvSpPr>
        <p:spPr>
          <a:xfrm>
            <a:off x="7620000" y="3990975"/>
            <a:ext cx="3781425" cy="1104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第一個客戶是誰？他為什麼現在就願意試？最大的反例？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9399EBA7-F7A6-4CBC-8E46-A7A6B884886E}"/>
              </a:ext>
            </a:extLst>
          </p:cNvPr>
          <p:cNvSpPr>
            <a:spLocks noGrp="1"/>
          </p:cNvSpPr>
          <p:nvPr/>
        </p:nvSpPr>
        <p:spPr>
          <a:xfrm>
            <a:off x="609600" y="5638800"/>
            <a:ext cx="10715625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rPr>
              <a:t>完成條件：第 ④ 格通過「夠小」四問——客戶叫得出名字？一週見得到？明天能用？不用別人先改習慣？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16" name="">
            <a:extLst>
              <a:ext uri="{FF2B5EF4-FFF2-40B4-BE49-F238E27FC236}">
                <a16:creationId xmlns:a16="http://schemas.microsoft.com/office/drawing/2014/main" id="{927AF06B-144A-4A96-B49C-2E71E3D53E0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D6FBC339-A0B6-42D3-8A8E-4305C418BFC4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Gemini 說 vs NotebookLM 查到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872A7BF4-4954-413B-8C5B-7EE13B29FAC7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貼回來的每一段，都要標是哪一種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82FCCA24-C90C-4AC9-B08C-76D9915DECFE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64B0C966-124B-4D5C-8E84-C7D079648C42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1614A360-A1BF-4395-9A63-31FDBD9D7923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13 / 21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647A2FF7-5422-4527-9283-E7FB9ECD502D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429375" cy="30194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92CF40A1-F748-4CD6-8C45-46E4FB90A8FF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6675" cy="301942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921BF9EB-35F8-4D32-8ACF-902161895E6B}"/>
              </a:ext>
            </a:extLst>
          </p:cNvPr>
          <p:cNvSpPr>
            <a:spLocks noGrp="1"/>
          </p:cNvSpPr>
          <p:nvPr/>
        </p:nvSpPr>
        <p:spPr>
          <a:xfrm>
            <a:off x="904875" y="2590800"/>
            <a:ext cx="581025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Gemini 說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CBCCEFE7-8FAF-4F0E-A3B3-5D634686D008}"/>
              </a:ext>
            </a:extLst>
          </p:cNvPr>
          <p:cNvSpPr>
            <a:spLocks noGrp="1"/>
          </p:cNvSpPr>
          <p:nvPr/>
        </p:nvSpPr>
        <p:spPr>
          <a:xfrm>
            <a:off x="904875" y="3162300"/>
            <a:ext cx="5857875" cy="1962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「台灣餐飲業缺工率/約 30%，店家普遍/導入點餐系統。」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B6251824-B881-4CAE-80DB-01C0CCF17778}"/>
              </a:ext>
            </a:extLst>
          </p:cNvPr>
          <p:cNvSpPr>
            <a:spLocks noGrp="1"/>
          </p:cNvSpPr>
          <p:nvPr/>
        </p:nvSpPr>
        <p:spPr>
          <a:xfrm>
            <a:off x="7620000" y="2428875"/>
            <a:ext cx="37909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一起分辨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013116C6-1E98-4F6C-AD27-375E1B72F6EF}"/>
              </a:ext>
            </a:extLst>
          </p:cNvPr>
          <p:cNvSpPr>
            <a:spLocks noGrp="1"/>
          </p:cNvSpPr>
          <p:nvPr/>
        </p:nvSpPr>
        <p:spPr>
          <a:xfrm>
            <a:off x="7620000" y="3019425"/>
            <a:ext cx="37719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哪個數字有出處？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5A5B4C04-78D1-4EFC-9323-45BC7D6278FB}"/>
              </a:ext>
            </a:extLst>
          </p:cNvPr>
          <p:cNvSpPr>
            <a:spLocks noGrp="1"/>
          </p:cNvSpPr>
          <p:nvPr/>
        </p:nvSpPr>
        <p:spPr>
          <a:xfrm>
            <a:off x="7620000" y="3695700"/>
            <a:ext cx="38100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D794763-1F7F-43DA-81BE-D51ECFE8DB39}"/>
              </a:ext>
            </a:extLst>
          </p:cNvPr>
          <p:cNvSpPr>
            <a:spLocks noGrp="1"/>
          </p:cNvSpPr>
          <p:nvPr/>
        </p:nvSpPr>
        <p:spPr>
          <a:xfrm>
            <a:off x="7620000" y="3990975"/>
            <a:ext cx="3781425" cy="1104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「普遍」是幾成？誰統計的？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4A72092A-4D51-4639-9619-2FF162B051F0}"/>
              </a:ext>
            </a:extLst>
          </p:cNvPr>
          <p:cNvSpPr>
            <a:spLocks noGrp="1"/>
          </p:cNvSpPr>
          <p:nvPr/>
        </p:nvSpPr>
        <p:spPr>
          <a:xfrm>
            <a:off x="609600" y="5638800"/>
            <a:ext cx="10715625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rPr>
              <a:t>Gemini 快但會編；NotebookLM 只講你放進去的來源、每句帶引用。第 ③ 格要有（來源：XX）才算過。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72FA8C43-4D14-4E8C-855D-2889AFAB267F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B539ED36-4AA3-4F9F-9C60-211D2D8A5D9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NotebookLM 查證：四步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398A5486-E8D9-4987-855E-C6CD3661DADB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課後 90 分鐘，照順序做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3AD4BA38-8990-412B-9C1D-0A8E390876F8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DCA4054D-90AA-4ABA-B0B0-B3C720BA93A5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99A8A27-4E4A-4434-B71C-4B3B7CA09E34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14 / 21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0DCD3F80-E2AD-43FA-9AFB-1FBFA3C301D6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65B9ABDC-4359-4ED4-BB66-A1ED698C570D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B27DD043-484B-4C4A-B588-72EC2FAFDF0D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DFEF8BC1-6030-49A9-A850-933F9CEB9740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來源計畫（15 分）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855C1FD6-4D57-4EE3-9121-C6B9E154F6B6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五種類型各一：官方統計、公協會報告、上市公司年報段落、兩篇 2025–26 新聞、一篇業者自己的聲音；用 Gemini 列清單，自己點開確認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3B82CB0C-DADA-4EF6-9188-22027D67CE79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FBA3E805-98A1-43EE-8DF6-38C4DB29C4D3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5EF94AED-AC06-4358-BA1C-DF61F5127164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59715D75-B599-4B34-AA8C-DABD95665781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1AC9139F-08DB-4996-BDAA-D6A9B34A2CF3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建筆記本（10 分）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B54AF7D7-1561-488C-94AC-F6C0FDB153BC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命名「W4 產業 學號」；來源標題改成「類型｜出處｜年份」；不放任何個資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A919A6C0-5AB0-423D-BB2B-D84337A1F9EB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F2ACEDE4-238E-4285-93C9-C6D5E45474B7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6149DA36-489E-40FA-AA2C-1E1024E94201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D7A975C-BB8D-4E24-9AD9-B9306A4605CE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464CD130-7FBF-4137-A50A-C8E9AA7924A8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六題提問階梯（40 分）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D8BEB1A9-C2E4-4B8F-BA67-C669AF36F53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Q1 錢流 Q2 業者說出口的困難 Q3 頻率與損失 Q4 既有解法與為何放棄 Q5 最近一年什麼變嚴重 Q6 來源互相矛盾嗎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9E5D0B71-E992-4185-9356-2C5A207D3E78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7E216008-54D5-4AF7-AF78-8DEDE6052BAB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8874CA82-DE00-48D0-9AB8-9C49637DB983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CE82A4D8-F5BC-4374-83B4-B3FE8D2016D5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44F1134F-C9C8-44DF-9CAB-24A002227FF9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證據表與複核（25 分）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93F8F6E3-4705-46D0-A1EC-BB3B66B91233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一列一條：主張｜數字｜來源｜一手或二手｜另一來源佐證；再用 Gemini 第一版對照，寫下「AI 說了但來源裡沒有」的那一句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9A1E9309-FE12-4B5B-83F7-C857AF7948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6" name="">
            <a:extLst>
              <a:ext uri="{FF2B5EF4-FFF2-40B4-BE49-F238E27FC236}">
                <a16:creationId xmlns:a16="http://schemas.microsoft.com/office/drawing/2014/main" id="{5CE9112B-AF49-4586-9131-83605F2001E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BB81EBE-4B96-455F-82DC-5C98324B78C9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體檢：這個商業痛點值得做嗎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058E2160-BDA4-4FAA-BDED-9C0B2FFF3D5C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每題 0–2 分、各寫一句理由；加分題：為什麼是現在。9／12 分過關，第 1 題 0 分換線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17B2D190-0077-4042-95AB-07791A1C7808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5A9E1B35-3DCA-4E0A-B4A3-1122D584974A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054C003F-1A5D-4AA1-926C-22C4C0DBD29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15 / 21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E82207E2-193A-4E03-AB6E-2237DBF9FACF}"/>
              </a:ext>
            </a:extLst>
          </p:cNvPr>
          <p:cNvSpPr>
            <a:spLocks noGrp="1"/>
          </p:cNvSpPr>
          <p:nvPr/>
        </p:nvSpPr>
        <p:spPr>
          <a:xfrm>
            <a:off x="609600" y="2305050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594566E-A6F3-4925-84AC-96F8CFEAE9B5}"/>
              </a:ext>
            </a:extLst>
          </p:cNvPr>
          <p:cNvSpPr>
            <a:spLocks noGrp="1"/>
          </p:cNvSpPr>
          <p:nvPr/>
        </p:nvSpPr>
        <p:spPr>
          <a:xfrm>
            <a:off x="704850" y="23431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B0045BDF-C77C-4A9F-9FA8-803082AA31D8}"/>
              </a:ext>
            </a:extLst>
          </p:cNvPr>
          <p:cNvSpPr>
            <a:spLocks noGrp="1"/>
          </p:cNvSpPr>
          <p:nvPr/>
        </p:nvSpPr>
        <p:spPr>
          <a:xfrm>
            <a:off x="1314450" y="2324100"/>
            <a:ext cx="1000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有人在付錢嗎：誰付給誰、多少、多久一次。2 分＝具名＋金額＋來源；0 分＝「使用者」「大家」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88DCA1C7-4208-48A0-9D4E-29C4759ACBD1}"/>
              </a:ext>
            </a:extLst>
          </p:cNvPr>
          <p:cNvSpPr>
            <a:spLocks noGrp="1"/>
          </p:cNvSpPr>
          <p:nvPr/>
        </p:nvSpPr>
        <p:spPr>
          <a:xfrm>
            <a:off x="1314450" y="2924175"/>
            <a:ext cx="1026795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E4991A01-EB57-49D8-9BBE-3FCEA17DEC54}"/>
              </a:ext>
            </a:extLst>
          </p:cNvPr>
          <p:cNvSpPr>
            <a:spLocks noGrp="1"/>
          </p:cNvSpPr>
          <p:nvPr/>
        </p:nvSpPr>
        <p:spPr>
          <a:xfrm>
            <a:off x="609600" y="3038475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12027EF0-505D-4AD9-971A-E8FDA3173F00}"/>
              </a:ext>
            </a:extLst>
          </p:cNvPr>
          <p:cNvSpPr>
            <a:spLocks noGrp="1"/>
          </p:cNvSpPr>
          <p:nvPr/>
        </p:nvSpPr>
        <p:spPr>
          <a:xfrm>
            <a:off x="704850" y="3076575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FCBDC3D4-0D4C-464F-A013-A471C5F5DB4E}"/>
              </a:ext>
            </a:extLst>
          </p:cNvPr>
          <p:cNvSpPr>
            <a:spLocks noGrp="1"/>
          </p:cNvSpPr>
          <p:nvPr/>
        </p:nvSpPr>
        <p:spPr>
          <a:xfrm>
            <a:off x="1314450" y="3057525"/>
            <a:ext cx="1000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夠頻繁、夠貴嗎：多久一次、一次損失多少。2 分＝每週發生、損失有數字</a:t>
            </a:r>
          </a:p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7A7C0E7E-6F84-4C90-A68C-645818E93D9A}"/>
              </a:ext>
            </a:extLst>
          </p:cNvPr>
          <p:cNvSpPr>
            <a:spLocks noGrp="1"/>
          </p:cNvSpPr>
          <p:nvPr/>
        </p:nvSpPr>
        <p:spPr>
          <a:xfrm>
            <a:off x="1314450" y="3657600"/>
            <a:ext cx="1026795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F606FA28-F89E-4384-9A74-EE4157BC4042}"/>
              </a:ext>
            </a:extLst>
          </p:cNvPr>
          <p:cNvSpPr>
            <a:spLocks noGrp="1"/>
          </p:cNvSpPr>
          <p:nvPr/>
        </p:nvSpPr>
        <p:spPr>
          <a:xfrm>
            <a:off x="609600" y="3771900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7182C62-A964-48F0-BBB7-4654FB345667}"/>
              </a:ext>
            </a:extLst>
          </p:cNvPr>
          <p:cNvSpPr>
            <a:spLocks noGrp="1"/>
          </p:cNvSpPr>
          <p:nvPr/>
        </p:nvSpPr>
        <p:spPr>
          <a:xfrm>
            <a:off x="704850" y="381000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1D2C8157-5EED-4972-84FA-3405219937E2}"/>
              </a:ext>
            </a:extLst>
          </p:cNvPr>
          <p:cNvSpPr>
            <a:spLocks noGrp="1"/>
          </p:cNvSpPr>
          <p:nvPr/>
        </p:nvSpPr>
        <p:spPr>
          <a:xfrm>
            <a:off x="1314450" y="3790950"/>
            <a:ext cx="1000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為什麼還沒被解掉：既有解法與業者不用的原因。0 分＝「沒人想到」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DEB3D928-9103-48FE-BEB9-AAB525A3D489}"/>
              </a:ext>
            </a:extLst>
          </p:cNvPr>
          <p:cNvSpPr>
            <a:spLocks noGrp="1"/>
          </p:cNvSpPr>
          <p:nvPr/>
        </p:nvSpPr>
        <p:spPr>
          <a:xfrm>
            <a:off x="1314450" y="4391025"/>
            <a:ext cx="1026795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64F0CAE7-2608-421F-AC71-1C3BD9D7FAC5}"/>
              </a:ext>
            </a:extLst>
          </p:cNvPr>
          <p:cNvSpPr>
            <a:spLocks noGrp="1"/>
          </p:cNvSpPr>
          <p:nvPr/>
        </p:nvSpPr>
        <p:spPr>
          <a:xfrm>
            <a:off x="609600" y="4505325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E18ACF16-432E-46DF-87CC-66362180CB2E}"/>
              </a:ext>
            </a:extLst>
          </p:cNvPr>
          <p:cNvSpPr>
            <a:spLocks noGrp="1"/>
          </p:cNvSpPr>
          <p:nvPr/>
        </p:nvSpPr>
        <p:spPr>
          <a:xfrm>
            <a:off x="704850" y="4543425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4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B137A801-4ABA-4B34-BD43-FC43FB34239B}"/>
              </a:ext>
            </a:extLst>
          </p:cNvPr>
          <p:cNvSpPr>
            <a:spLocks noGrp="1"/>
          </p:cNvSpPr>
          <p:nvPr/>
        </p:nvSpPr>
        <p:spPr>
          <a:xfrm>
            <a:off x="1314450" y="4524375"/>
            <a:ext cx="1000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第一個客戶是誰：叫得出店名、一週內見得到。0 分＝「校園周邊的店家」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60CCA0F-4155-48B3-A5CC-FFF42E1F5ED8}"/>
              </a:ext>
            </a:extLst>
          </p:cNvPr>
          <p:cNvSpPr>
            <a:spLocks noGrp="1"/>
          </p:cNvSpPr>
          <p:nvPr/>
        </p:nvSpPr>
        <p:spPr>
          <a:xfrm>
            <a:off x="1314450" y="5124450"/>
            <a:ext cx="1026795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6E6D5A3E-E75B-40B7-AAB1-3CE42A6B2414}"/>
              </a:ext>
            </a:extLst>
          </p:cNvPr>
          <p:cNvSpPr>
            <a:spLocks noGrp="1"/>
          </p:cNvSpPr>
          <p:nvPr/>
        </p:nvSpPr>
        <p:spPr>
          <a:xfrm>
            <a:off x="609600" y="5238750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8ADF3A3C-87F9-4C2A-9441-2C7823A33019}"/>
              </a:ext>
            </a:extLst>
          </p:cNvPr>
          <p:cNvSpPr>
            <a:spLocks noGrp="1"/>
          </p:cNvSpPr>
          <p:nvPr/>
        </p:nvSpPr>
        <p:spPr>
          <a:xfrm>
            <a:off x="704850" y="52768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5</a:t>
            </a:r>
          </a:p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EE853A51-FB7E-4696-B708-F309D4B83B99}"/>
              </a:ext>
            </a:extLst>
          </p:cNvPr>
          <p:cNvSpPr>
            <a:spLocks noGrp="1"/>
          </p:cNvSpPr>
          <p:nvPr/>
        </p:nvSpPr>
        <p:spPr>
          <a:xfrm>
            <a:off x="1314450" y="5257800"/>
            <a:ext cx="1000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八週切得了一段嗎：一個流程、明天就能用。0 分＝雙邊平台、要人先改習慣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18" name="">
            <a:extLst>
              <a:ext uri="{FF2B5EF4-FFF2-40B4-BE49-F238E27FC236}">
                <a16:creationId xmlns:a16="http://schemas.microsoft.com/office/drawing/2014/main" id="{D1FF9B12-42DF-4CE9-BF0D-741F41A8CDF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A5381029-2582-4954-BADA-5AC2133D493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過關的第 ③ 格 vs 不過關的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D6027C06-BE95-40B4-8221-2F0AF12260A3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商業燈看的就是這一格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99C9D1FA-BBBD-4DCF-865A-F25A23A281C8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A0C117AE-379A-41E5-8F5C-334AB9BEFB5D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5A6B6E40-3AD0-44CE-BE66-94CF93864EF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16 / 21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FE5F87A7-5C09-4184-9C9E-5072096B7FFD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5372100" cy="29337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219235E3-A4B4-4386-9211-141AF1C6C79F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5372100" cy="600075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B97E1725-E6E1-4C0B-90A6-0AE7474D1471}"/>
              </a:ext>
            </a:extLst>
          </p:cNvPr>
          <p:cNvSpPr>
            <a:spLocks noGrp="1"/>
          </p:cNvSpPr>
          <p:nvPr/>
        </p:nvSpPr>
        <p:spPr>
          <a:xfrm>
            <a:off x="847725" y="2447925"/>
            <a:ext cx="48577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過關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29C3086-7718-47B4-AB17-A75CAE41CE55}"/>
              </a:ext>
            </a:extLst>
          </p:cNvPr>
          <p:cNvSpPr>
            <a:spLocks noGrp="1"/>
          </p:cNvSpPr>
          <p:nvPr/>
        </p:nvSpPr>
        <p:spPr>
          <a:xfrm>
            <a:off x="847725" y="3267075"/>
            <a:ext cx="4886325" cy="1095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「民宿老闆每筆訂房付 Booking 約 15%、Agoda 約 20%，/旺季一個月付出兩萬多（來源：Smart Order OTA 佣金指南 2026）」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3E6DD5C0-71D2-499D-BFCE-51756BB46D48}"/>
              </a:ext>
            </a:extLst>
          </p:cNvPr>
          <p:cNvSpPr>
            <a:spLocks noGrp="1"/>
          </p:cNvSpPr>
          <p:nvPr/>
        </p:nvSpPr>
        <p:spPr>
          <a:xfrm>
            <a:off x="847725" y="4657725"/>
            <a:ext cx="4886325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有人、有金額、有頻率、有來源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40365797-818B-4385-9DF7-D37377C44469}"/>
              </a:ext>
            </a:extLst>
          </p:cNvPr>
          <p:cNvSpPr>
            <a:spLocks noGrp="1"/>
          </p:cNvSpPr>
          <p:nvPr/>
        </p:nvSpPr>
        <p:spPr>
          <a:xfrm>
            <a:off x="6210300" y="2362200"/>
            <a:ext cx="5372100" cy="29337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892F980E-26CA-487C-A734-C04546AC0497}"/>
              </a:ext>
            </a:extLst>
          </p:cNvPr>
          <p:cNvSpPr>
            <a:spLocks noGrp="1"/>
          </p:cNvSpPr>
          <p:nvPr/>
        </p:nvSpPr>
        <p:spPr>
          <a:xfrm>
            <a:off x="6210300" y="2362200"/>
            <a:ext cx="5372100" cy="60007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B6C4D193-36DB-428B-98D3-173C23A294AC}"/>
              </a:ext>
            </a:extLst>
          </p:cNvPr>
          <p:cNvSpPr>
            <a:spLocks noGrp="1"/>
          </p:cNvSpPr>
          <p:nvPr/>
        </p:nvSpPr>
        <p:spPr>
          <a:xfrm>
            <a:off x="6448425" y="2447925"/>
            <a:ext cx="48577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不過關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01A9483F-8891-4CB3-B394-A511CCCC90A6}"/>
              </a:ext>
            </a:extLst>
          </p:cNvPr>
          <p:cNvSpPr>
            <a:spLocks noGrp="1"/>
          </p:cNvSpPr>
          <p:nvPr/>
        </p:nvSpPr>
        <p:spPr>
          <a:xfrm>
            <a:off x="6448425" y="3267075"/>
            <a:ext cx="4886325" cy="1095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「使用者會願意付費使用我們的平台」/「學生很需要這個服務」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4E6C33FC-D249-4056-B1D5-01C7E06142C6}"/>
              </a:ext>
            </a:extLst>
          </p:cNvPr>
          <p:cNvSpPr>
            <a:spLocks noGrp="1"/>
          </p:cNvSpPr>
          <p:nvPr/>
        </p:nvSpPr>
        <p:spPr>
          <a:xfrm>
            <a:off x="6448425" y="4657725"/>
            <a:ext cx="4886325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沒有具名付費者；是你的希望，不是現在的錢流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E098819-560F-4917-967E-74B954010B31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寫不出過關的第 ③ 格，不是你不會寫，是這條線沒有錢流——換線。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F77635BE-3EC3-46CF-8521-D60667B00C10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CEAC87ED-DFF8-45BD-AB94-149DA64F18A8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一條證據，勝過十句 AI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138B84B-9BC9-4C52-A25B-2F1FF446588A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證據表裡的一列長這樣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A123D2D0-F2B6-4AEA-9D63-2E807A9450C9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8BEC693C-BC4D-46F8-BE93-FD68E474CDD2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09A81695-5675-4D2C-A0AD-57CB062FAA94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17 / 21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C12E9758-1074-4800-BC68-A8EA75463380}"/>
              </a:ext>
            </a:extLst>
          </p:cNvPr>
          <p:cNvSpPr>
            <a:spLocks noGrp="1"/>
          </p:cNvSpPr>
          <p:nvPr/>
        </p:nvSpPr>
        <p:spPr>
          <a:xfrm>
            <a:off x="609600" y="2381250"/>
            <a:ext cx="6924675" cy="27241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9FC3A0D5-2350-4792-9DCE-EFB72089E204}"/>
              </a:ext>
            </a:extLst>
          </p:cNvPr>
          <p:cNvSpPr>
            <a:spLocks noGrp="1"/>
          </p:cNvSpPr>
          <p:nvPr/>
        </p:nvSpPr>
        <p:spPr>
          <a:xfrm>
            <a:off x="609600" y="2381250"/>
            <a:ext cx="76200" cy="27241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D8851EDB-7E14-4C4F-B67B-5D5501CA48D1}"/>
              </a:ext>
            </a:extLst>
          </p:cNvPr>
          <p:cNvSpPr>
            <a:spLocks noGrp="1"/>
          </p:cNvSpPr>
          <p:nvPr/>
        </p:nvSpPr>
        <p:spPr>
          <a:xfrm>
            <a:off x="933450" y="2686050"/>
            <a:ext cx="6229350" cy="1314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31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「2025 年批發零售餐飲/解散逾 5,000 家，/近兩成。」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F315FBF1-E297-4C20-A32E-F2F959A013CF}"/>
              </a:ext>
            </a:extLst>
          </p:cNvPr>
          <p:cNvSpPr>
            <a:spLocks noGrp="1"/>
          </p:cNvSpPr>
          <p:nvPr/>
        </p:nvSpPr>
        <p:spPr>
          <a:xfrm>
            <a:off x="952500" y="4362450"/>
            <a:ext cx="61531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主張：小店在倒  /  數字：5,000 家、近 20%  /  來源：中國時報 2026-04-06（二手，引經濟部）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CECDC5E7-8CDE-4F33-92F6-656640CF83CB}"/>
              </a:ext>
            </a:extLst>
          </p:cNvPr>
          <p:cNvSpPr>
            <a:spLocks noGrp="1"/>
          </p:cNvSpPr>
          <p:nvPr/>
        </p:nvSpPr>
        <p:spPr>
          <a:xfrm>
            <a:off x="8105775" y="2771775"/>
            <a:ext cx="3305175" cy="381000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092DE6FE-4084-4883-825E-FECA9C493982}"/>
              </a:ext>
            </a:extLst>
          </p:cNvPr>
          <p:cNvSpPr>
            <a:spLocks noGrp="1"/>
          </p:cNvSpPr>
          <p:nvPr/>
        </p:nvSpPr>
        <p:spPr>
          <a:xfrm>
            <a:off x="8763000" y="2800350"/>
            <a:ext cx="24288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佐證：經濟部公司解散統計（一手）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58AAD12A-7A09-46C5-996C-CEFF3D7EB20E}"/>
              </a:ext>
            </a:extLst>
          </p:cNvPr>
          <p:cNvSpPr>
            <a:spLocks noGrp="1"/>
          </p:cNvSpPr>
          <p:nvPr/>
        </p:nvSpPr>
        <p:spPr>
          <a:xfrm>
            <a:off x="8305800" y="3562350"/>
            <a:ext cx="247650" cy="247650"/>
          </a:xfrm>
          <a:prstGeom prst="ellipse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4770AC28-8FB7-4957-A9C4-85B78606117F}"/>
              </a:ext>
            </a:extLst>
          </p:cNvPr>
          <p:cNvSpPr>
            <a:spLocks noGrp="1"/>
          </p:cNvSpPr>
          <p:nvPr/>
        </p:nvSpPr>
        <p:spPr>
          <a:xfrm>
            <a:off x="8191500" y="3886200"/>
            <a:ext cx="476250" cy="609600"/>
          </a:xfrm>
          <a:prstGeom prst="roundRect">
            <a:avLst>
              <a:gd name="adj" fmla="val 16000"/>
            </a:avLst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46CCC67B-F573-4E95-AD9C-24E912E9E0E2}"/>
              </a:ext>
            </a:extLst>
          </p:cNvPr>
          <p:cNvSpPr>
            <a:spLocks noGrp="1"/>
          </p:cNvSpPr>
          <p:nvPr/>
        </p:nvSpPr>
        <p:spPr>
          <a:xfrm>
            <a:off x="8239125" y="4419600"/>
            <a:ext cx="133350" cy="400050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4A1BA32B-F350-4B1F-AF92-2DAB16270BE2}"/>
              </a:ext>
            </a:extLst>
          </p:cNvPr>
          <p:cNvSpPr>
            <a:spLocks noGrp="1"/>
          </p:cNvSpPr>
          <p:nvPr/>
        </p:nvSpPr>
        <p:spPr>
          <a:xfrm>
            <a:off x="8486775" y="4419600"/>
            <a:ext cx="133350" cy="400050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9B7B3D5E-3E31-46DE-8AA8-7D8C218371D7}"/>
              </a:ext>
            </a:extLst>
          </p:cNvPr>
          <p:cNvSpPr>
            <a:spLocks noGrp="1"/>
          </p:cNvSpPr>
          <p:nvPr/>
        </p:nvSpPr>
        <p:spPr>
          <a:xfrm>
            <a:off x="8991600" y="3562350"/>
            <a:ext cx="247650" cy="247650"/>
          </a:xfrm>
          <a:prstGeom prst="ellipse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87A4CD36-EC97-485D-92FD-6C370881848C}"/>
              </a:ext>
            </a:extLst>
          </p:cNvPr>
          <p:cNvSpPr>
            <a:spLocks noGrp="1"/>
          </p:cNvSpPr>
          <p:nvPr/>
        </p:nvSpPr>
        <p:spPr>
          <a:xfrm>
            <a:off x="8877300" y="3886200"/>
            <a:ext cx="476250" cy="609600"/>
          </a:xfrm>
          <a:prstGeom prst="roundRect">
            <a:avLst>
              <a:gd name="adj" fmla="val 16000"/>
            </a:avLst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A227CC69-72DE-4E07-878B-3ECE8A596053}"/>
              </a:ext>
            </a:extLst>
          </p:cNvPr>
          <p:cNvSpPr>
            <a:spLocks noGrp="1"/>
          </p:cNvSpPr>
          <p:nvPr/>
        </p:nvSpPr>
        <p:spPr>
          <a:xfrm>
            <a:off x="8924925" y="4419600"/>
            <a:ext cx="133350" cy="400050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BD89A704-B3C7-4122-8AA3-C065310F3D59}"/>
              </a:ext>
            </a:extLst>
          </p:cNvPr>
          <p:cNvSpPr>
            <a:spLocks noGrp="1"/>
          </p:cNvSpPr>
          <p:nvPr/>
        </p:nvSpPr>
        <p:spPr>
          <a:xfrm>
            <a:off x="9172575" y="4419600"/>
            <a:ext cx="133350" cy="400050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15ECD60C-D707-4FC2-BE2F-55B296BD0CCD}"/>
              </a:ext>
            </a:extLst>
          </p:cNvPr>
          <p:cNvSpPr>
            <a:spLocks noGrp="1"/>
          </p:cNvSpPr>
          <p:nvPr/>
        </p:nvSpPr>
        <p:spPr>
          <a:xfrm>
            <a:off x="9677400" y="3562350"/>
            <a:ext cx="247650" cy="24765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2F2458D7-8388-4F60-B024-A8249B1BECF6}"/>
              </a:ext>
            </a:extLst>
          </p:cNvPr>
          <p:cNvSpPr>
            <a:spLocks noGrp="1"/>
          </p:cNvSpPr>
          <p:nvPr/>
        </p:nvSpPr>
        <p:spPr>
          <a:xfrm>
            <a:off x="9563100" y="3886200"/>
            <a:ext cx="476250" cy="609600"/>
          </a:xfrm>
          <a:prstGeom prst="roundRect">
            <a:avLst>
              <a:gd name="adj" fmla="val 16000"/>
            </a:avLst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60E7161A-F112-4D15-A01F-1AA4C300DA56}"/>
              </a:ext>
            </a:extLst>
          </p:cNvPr>
          <p:cNvSpPr>
            <a:spLocks noGrp="1"/>
          </p:cNvSpPr>
          <p:nvPr/>
        </p:nvSpPr>
        <p:spPr>
          <a:xfrm>
            <a:off x="9610725" y="4419600"/>
            <a:ext cx="133350" cy="4000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4D060602-FDDD-401C-9ACA-59F2625BE2F3}"/>
              </a:ext>
            </a:extLst>
          </p:cNvPr>
          <p:cNvSpPr>
            <a:spLocks noGrp="1"/>
          </p:cNvSpPr>
          <p:nvPr/>
        </p:nvSpPr>
        <p:spPr>
          <a:xfrm>
            <a:off x="9858375" y="4419600"/>
            <a:ext cx="133350" cy="4000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F2D23766-27D3-4D4D-BFE5-010DE82E5098}"/>
              </a:ext>
            </a:extLst>
          </p:cNvPr>
          <p:cNvSpPr>
            <a:spLocks noGrp="1"/>
          </p:cNvSpPr>
          <p:nvPr/>
        </p:nvSpPr>
        <p:spPr>
          <a:xfrm>
            <a:off x="10477500" y="3486150"/>
            <a:ext cx="742950" cy="742950"/>
          </a:xfrm>
          <a:prstGeom prst="ellipse">
            <a:avLst/>
          </a:prstGeom>
          <a:noFill/>
          <a:ln w="19050">
            <a:solidFill>
              <a:srgbClr val="121212"/>
            </a:solidFill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9999209A-0562-4EAE-B62C-A545A6EA2460}"/>
              </a:ext>
            </a:extLst>
          </p:cNvPr>
          <p:cNvSpPr>
            <a:spLocks noGrp="1"/>
          </p:cNvSpPr>
          <p:nvPr/>
        </p:nvSpPr>
        <p:spPr>
          <a:xfrm>
            <a:off x="10829925" y="3638550"/>
            <a:ext cx="38100" cy="266700"/>
          </a:xfrm>
          <a:prstGeom prst="rect">
            <a:avLst/>
          </a:prstGeom>
          <a:solidFill>
            <a:srgbClr val="121212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2F6FC0D9-77BD-448C-B77B-E04A3351E19D}"/>
              </a:ext>
            </a:extLst>
          </p:cNvPr>
          <p:cNvSpPr>
            <a:spLocks noGrp="1"/>
          </p:cNvSpPr>
          <p:nvPr/>
        </p:nvSpPr>
        <p:spPr>
          <a:xfrm>
            <a:off x="10829925" y="3876675"/>
            <a:ext cx="209550" cy="38100"/>
          </a:xfrm>
          <a:prstGeom prst="rect">
            <a:avLst/>
          </a:prstGeom>
          <a:solidFill>
            <a:srgbClr val="121212"/>
          </a:solidFill>
          <a:ln w="0">
            <a:noFill/>
          </a:ln>
        </p:spPr>
        <p:txBody>
          <a:bodyPr/>
          <a:p/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0D1B356F-5F7B-4013-B995-09FAE01A0616}"/>
              </a:ext>
            </a:extLst>
          </p:cNvPr>
          <p:cNvSpPr>
            <a:spLocks noGrp="1"/>
          </p:cNvSpPr>
          <p:nvPr/>
        </p:nvSpPr>
        <p:spPr>
          <a:xfrm>
            <a:off x="7981950" y="5029200"/>
            <a:ext cx="3495675" cy="19050"/>
          </a:xfrm>
          <a:prstGeom prst="rect">
            <a:avLst/>
          </a:prstGeom>
          <a:solidFill>
            <a:srgbClr val="626262"/>
          </a:solidFill>
          <a:ln w="0">
            <a:noFill/>
          </a:ln>
        </p:spPr>
        <p:txBody>
          <a:bodyPr/>
          <a:p/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35E11BE-F545-4D47-A7F8-F63D275278A4}"/>
              </a:ext>
            </a:extLst>
          </p:cNvPr>
          <p:cNvSpPr>
            <a:spLocks noGrp="1"/>
          </p:cNvSpPr>
          <p:nvPr/>
        </p:nvSpPr>
        <p:spPr>
          <a:xfrm>
            <a:off x="609600" y="5381625"/>
            <a:ext cx="1097280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待追問：校園週邊這一區倒了幾家？問第一餐廳的店家。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91647F41-F816-4276-ABEC-7015C8FDB299}"/>
              </a:ext>
            </a:extLst>
          </p:cNvPr>
          <p:cNvSpPr>
            <a:spLocks noGrp="1"/>
          </p:cNvSpPr>
          <p:nvPr/>
        </p:nvSpPr>
        <p:spPr>
          <a:xfrm>
            <a:off x="9906000" y="5381625"/>
            <a:ext cx="16764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教學範例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/>
      <p:sp>
        <p:nvSpPr>
          <p:cNvPr id="16" name="">
            <a:extLst>
              <a:ext uri="{FF2B5EF4-FFF2-40B4-BE49-F238E27FC236}">
                <a16:creationId xmlns:a16="http://schemas.microsoft.com/office/drawing/2014/main" id="{D1F28F05-7C65-4498-B38D-E705A99AD54A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B4F577F5-BFBD-4B0C-9DC2-8068A84186A8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原題找不到付錢的人怎麼辦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9F7C534-3C74-43B6-913C-16C12461888B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這是研究的結果，不是你的失敗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E5A1133-4200-4B6F-9CEE-5722164331F1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404040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4EDF5D04-D424-463C-A3C0-24F671ACC65A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9D382062-99BC-4CC4-96B2-29A720198973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18 / 21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1EDAA4CA-17E2-4DD5-B9C6-C1A6B9B08067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429375" cy="3019425"/>
          </a:xfrm>
          <a:prstGeom prst="rect">
            <a:avLst/>
          </a:prstGeom>
          <a:solidFill>
            <a:srgbClr val="242424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ED316438-45F4-42A9-9F1D-A85AC0AE668F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6675" cy="301942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FE28CDEF-17FE-4567-8A90-8165A121B6C0}"/>
              </a:ext>
            </a:extLst>
          </p:cNvPr>
          <p:cNvSpPr>
            <a:spLocks noGrp="1"/>
          </p:cNvSpPr>
          <p:nvPr/>
        </p:nvSpPr>
        <p:spPr>
          <a:xfrm>
            <a:off x="904875" y="2590800"/>
            <a:ext cx="581025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0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app 會這樣告訴你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8739A299-D7C3-4772-9E83-544E07DA1D98}"/>
              </a:ext>
            </a:extLst>
          </p:cNvPr>
          <p:cNvSpPr>
            <a:spLocks noGrp="1"/>
          </p:cNvSpPr>
          <p:nvPr/>
        </p:nvSpPr>
        <p:spPr>
          <a:xfrm>
            <a:off x="904875" y="3162300"/>
            <a:ext cx="5857875" cy="1962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7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「早八起不來：目前找不到願意付錢的人，/無法轉成商業機會。請從下面選一條線繼續。」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0BAB7223-C1B6-443D-A09E-BC25CA8A4617}"/>
              </a:ext>
            </a:extLst>
          </p:cNvPr>
          <p:cNvSpPr>
            <a:spLocks noGrp="1"/>
          </p:cNvSpPr>
          <p:nvPr/>
        </p:nvSpPr>
        <p:spPr>
          <a:xfrm>
            <a:off x="7620000" y="2428875"/>
            <a:ext cx="37909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一起看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B07B3A6D-F741-4453-8E90-956BE00FA916}"/>
              </a:ext>
            </a:extLst>
          </p:cNvPr>
          <p:cNvSpPr>
            <a:spLocks noGrp="1"/>
          </p:cNvSpPr>
          <p:nvPr/>
        </p:nvSpPr>
        <p:spPr>
          <a:xfrm>
            <a:off x="7620000" y="3019425"/>
            <a:ext cx="37719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最相關的 2 條線是哪兩條？為什麼？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A9DE581B-F7EA-41C0-933A-86CADDDAB0AD}"/>
              </a:ext>
            </a:extLst>
          </p:cNvPr>
          <p:cNvSpPr>
            <a:spLocks noGrp="1"/>
          </p:cNvSpPr>
          <p:nvPr/>
        </p:nvSpPr>
        <p:spPr>
          <a:xfrm>
            <a:off x="7620000" y="3695700"/>
            <a:ext cx="3810000" cy="19050"/>
          </a:xfrm>
          <a:prstGeom prst="rect">
            <a:avLst/>
          </a:prstGeom>
          <a:solidFill>
            <a:srgbClr val="444444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F5F8E166-5CED-4A9A-A28D-4B61ECEBD9D2}"/>
              </a:ext>
            </a:extLst>
          </p:cNvPr>
          <p:cNvSpPr>
            <a:spLocks noGrp="1"/>
          </p:cNvSpPr>
          <p:nvPr/>
        </p:nvSpPr>
        <p:spPr>
          <a:xfrm>
            <a:off x="7620000" y="3990975"/>
            <a:ext cx="3781425" cy="1104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100" b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Week 3 的三次訪談，哪一句原話可以帶到新的線上？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E3555943-4972-48DF-9A48-1C155A9226C5}"/>
              </a:ext>
            </a:extLst>
          </p:cNvPr>
          <p:cNvSpPr>
            <a:spLocks noGrp="1"/>
          </p:cNvSpPr>
          <p:nvPr/>
        </p:nvSpPr>
        <p:spPr>
          <a:xfrm>
            <a:off x="609600" y="5638800"/>
            <a:ext cx="10715625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DDD9D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DDD9D2"/>
                </a:solidFill>
                <a:latin typeface="PingFang TC"/>
                <a:ea typeface="PingFang TC"/>
                <a:cs typeface="PingFang TC"/>
              </a:rPr>
              <a:t>改選的人跟原題的人一樣，期中看的是證據和體檢，不是題目從哪來。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/>
      <p:sp>
        <p:nvSpPr>
          <p:cNvPr id="11" name="">
            <a:extLst>
              <a:ext uri="{FF2B5EF4-FFF2-40B4-BE49-F238E27FC236}">
                <a16:creationId xmlns:a16="http://schemas.microsoft.com/office/drawing/2014/main" id="{C6D0CAD6-B885-41E3-AC59-A87FF78723F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70BFE92-9CDB-41C8-93AD-15AA964A3D8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期中報告：app 自動串成一頁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636A6F80-9E9B-47FA-A237-6F0029F534F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10/29 Week 5 課前交；11/2 前可補證據，版本都留著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FA9FE16B-105F-4D22-B84C-4EEB432A1492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404040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E034F5BE-21E8-4AD0-85E5-C46B2C6A6E17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388EC3A3-0BCA-4476-BE5D-09FF55247BCC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19 / 21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4015D264-51A9-4F59-BB80-F22B14549689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76200" cy="198120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96DD6C3B-65F4-4D75-95BD-1A5C4AC6B697}"/>
              </a:ext>
            </a:extLst>
          </p:cNvPr>
          <p:cNvSpPr>
            <a:spLocks noGrp="1"/>
          </p:cNvSpPr>
          <p:nvPr/>
        </p:nvSpPr>
        <p:spPr>
          <a:xfrm>
            <a:off x="914400" y="2419350"/>
            <a:ext cx="10287000" cy="2076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六段：1 我的起點（第 ① 格＋產業線）／2 這一行的挑戰（第 ② 格＋證據表）／3 錢流（第 ③ 格）／4 契機（第 ④ 格＋夠小四問）／5 體檢（分數＋每題一句理由）／6 我怎麼用 AI（兩段 prompt、兩段回答、來源標記、AI 說錯或沒來源的一句）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CB609C82-52E6-4AA5-82EA-559E40CBB310}"/>
              </a:ext>
            </a:extLst>
          </p:cNvPr>
          <p:cNvSpPr>
            <a:spLocks noGrp="1"/>
          </p:cNvSpPr>
          <p:nvPr/>
        </p:nvSpPr>
        <p:spPr>
          <a:xfrm>
            <a:off x="914400" y="4886325"/>
            <a:ext cx="1028700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評分比重：證據 30／錢流 20／契機與夠小 20／體檢理由 15／AI 使用與查證 15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018494B6-3A89-4418-8951-FB3F9528344E}"/>
              </a:ext>
            </a:extLst>
          </p:cNvPr>
          <p:cNvSpPr>
            <a:spLocks noGrp="1"/>
          </p:cNvSpPr>
          <p:nvPr/>
        </p:nvSpPr>
        <p:spPr>
          <a:xfrm>
            <a:off x="914400" y="5676900"/>
            <a:ext cx="10287000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題目＝產業線 × 切哪一段 × 第一個客戶；可以同線，但第一個客戶不能是同一家店。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1" name="">
            <a:extLst>
              <a:ext uri="{FF2B5EF4-FFF2-40B4-BE49-F238E27FC236}">
                <a16:creationId xmlns:a16="http://schemas.microsoft.com/office/drawing/2014/main" id="{8814B1AB-A708-463D-BCA9-62BBF766B05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C0E469DC-8B6A-455A-8544-6038EB372150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離堂前與本週內的清單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987ED678-6582-47CC-8ECE-D90184EAB85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課堂上先完成前三項，一週內完成後四項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53FB0A49-91F3-4CAC-A9A3-15D1937610B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21EC846-19D4-4202-B8AD-BA33F7D1158E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997F8E8-68FD-4DA3-8C4D-0FEE0D6A0C23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20 / 21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F09DED1-3E9E-4B14-904B-7645F2EF77A9}"/>
              </a:ext>
            </a:extLst>
          </p:cNvPr>
          <p:cNvSpPr>
            <a:spLocks noGrp="1"/>
          </p:cNvSpPr>
          <p:nvPr/>
        </p:nvSpPr>
        <p:spPr>
          <a:xfrm>
            <a:off x="628650" y="231457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C9CCA19B-DA36-4E1C-AA16-5520D21E050D}"/>
              </a:ext>
            </a:extLst>
          </p:cNvPr>
          <p:cNvSpPr>
            <a:spLocks noGrp="1"/>
          </p:cNvSpPr>
          <p:nvPr/>
        </p:nvSpPr>
        <p:spPr>
          <a:xfrm>
            <a:off x="1085850" y="22383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已選一條產業線，寫了「我的痛在這條線的哪一段」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03F9287-4810-43E9-B75B-F3D6F55FB1F1}"/>
              </a:ext>
            </a:extLst>
          </p:cNvPr>
          <p:cNvSpPr>
            <a:spLocks noGrp="1"/>
          </p:cNvSpPr>
          <p:nvPr/>
        </p:nvSpPr>
        <p:spPr>
          <a:xfrm>
            <a:off x="628650" y="285750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D95D37CA-5A02-4321-BEC7-D57741D66A22}"/>
              </a:ext>
            </a:extLst>
          </p:cNvPr>
          <p:cNvSpPr>
            <a:spLocks noGrp="1"/>
          </p:cNvSpPr>
          <p:nvPr/>
        </p:nvSpPr>
        <p:spPr>
          <a:xfrm>
            <a:off x="1085850" y="27813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問 AI 1 做完，回答貼回、標「Gemini 說」，第 ②③ 格有草稿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5977A7AB-2E6D-4A61-8127-FEBF350790E8}"/>
              </a:ext>
            </a:extLst>
          </p:cNvPr>
          <p:cNvSpPr>
            <a:spLocks noGrp="1"/>
          </p:cNvSpPr>
          <p:nvPr/>
        </p:nvSpPr>
        <p:spPr>
          <a:xfrm>
            <a:off x="628650" y="340042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08A375F9-ED04-4364-B44C-40FCBDA24749}"/>
              </a:ext>
            </a:extLst>
          </p:cNvPr>
          <p:cNvSpPr>
            <a:spLocks noGrp="1"/>
          </p:cNvSpPr>
          <p:nvPr/>
        </p:nvSpPr>
        <p:spPr>
          <a:xfrm>
            <a:off x="1085850" y="332422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Gemini 擂台：本組找到一個產業的三個困難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A03FFED-24D3-4EA6-9F40-56F24BF5E4F0}"/>
              </a:ext>
            </a:extLst>
          </p:cNvPr>
          <p:cNvSpPr>
            <a:spLocks noGrp="1"/>
          </p:cNvSpPr>
          <p:nvPr/>
        </p:nvSpPr>
        <p:spPr>
          <a:xfrm>
            <a:off x="628650" y="394335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95014F-654E-4514-9F8B-AE80342684F5}"/>
              </a:ext>
            </a:extLst>
          </p:cNvPr>
          <p:cNvSpPr>
            <a:spLocks noGrp="1"/>
          </p:cNvSpPr>
          <p:nvPr/>
        </p:nvSpPr>
        <p:spPr>
          <a:xfrm>
            <a:off x="1085850" y="386715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NotebookLM 筆記本建好、5–10 份來源、六題問完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BA26016B-DE2B-4C47-9F38-B86019D4A583}"/>
              </a:ext>
            </a:extLst>
          </p:cNvPr>
          <p:cNvSpPr>
            <a:spLocks noGrp="1"/>
          </p:cNvSpPr>
          <p:nvPr/>
        </p:nvSpPr>
        <p:spPr>
          <a:xfrm>
            <a:off x="628650" y="4486275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60A61946-1B30-4F82-8020-4EB887FFFF31}"/>
              </a:ext>
            </a:extLst>
          </p:cNvPr>
          <p:cNvSpPr>
            <a:spLocks noGrp="1"/>
          </p:cNvSpPr>
          <p:nvPr/>
        </p:nvSpPr>
        <p:spPr>
          <a:xfrm>
            <a:off x="1085850" y="44100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第 ③ 格每一點標（來源：XX）；證據表至少 5 列、2 列有雙來源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093DA355-6759-43A9-A95D-4361AA6A47BF}"/>
              </a:ext>
            </a:extLst>
          </p:cNvPr>
          <p:cNvSpPr>
            <a:spLocks noGrp="1"/>
          </p:cNvSpPr>
          <p:nvPr/>
        </p:nvSpPr>
        <p:spPr>
          <a:xfrm>
            <a:off x="628650" y="5029200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7377CCEB-8EAD-44CB-B435-B378C176210E}"/>
              </a:ext>
            </a:extLst>
          </p:cNvPr>
          <p:cNvSpPr>
            <a:spLocks noGrp="1"/>
          </p:cNvSpPr>
          <p:nvPr/>
        </p:nvSpPr>
        <p:spPr>
          <a:xfrm>
            <a:off x="1085850" y="49530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問 AI 2 做完，第 ④ 格有切哪一段＋第一個客戶</a:t>
            </a:r>
          </a:p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72DB212D-DCE9-4747-B435-0D67F2CC0D5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485775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AFE6C6B1-030D-4F0E-8E52-EDA429C81544}"/>
              </a:ext>
            </a:extLst>
          </p:cNvPr>
          <p:cNvSpPr>
            <a:spLocks noGrp="1"/>
          </p:cNvSpPr>
          <p:nvPr/>
        </p:nvSpPr>
        <p:spPr>
          <a:xfrm>
            <a:off x="800100" y="5715000"/>
            <a:ext cx="1052512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體檢五題＋加分題打完分、每題一句理由；10/29 課前按「存」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894198F7-83D4-49B9-B014-ED1938DE842A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77D4656-B699-4AD3-93C2-8029CD16F4A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紀錄、保存與老師互動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0594E1D1-B418-4737-B5F9-AECD926DA88B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挑戰卡隨時可存；存了就算交，之後還能改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B30CD637-8467-4304-A625-2AEECA5B0D85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8C4DF5D-D4B6-4E69-BC4A-E5C5908A2BED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16930E8F-383A-4F8D-A549-AC52ED84849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21 / 21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E9E04D7-6B3D-4F5C-A3A9-6A8A9E4572BB}"/>
              </a:ext>
            </a:extLst>
          </p:cNvPr>
          <p:cNvSpPr>
            <a:spLocks noGrp="1"/>
          </p:cNvSpPr>
          <p:nvPr/>
        </p:nvSpPr>
        <p:spPr>
          <a:xfrm>
            <a:off x="609600" y="2533650"/>
            <a:ext cx="457200" cy="457200"/>
          </a:xfrm>
          <a:prstGeom prst="ellipse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2EC9061A-3CF6-412B-9BE4-5AEB8ACEC2B4}"/>
              </a:ext>
            </a:extLst>
          </p:cNvPr>
          <p:cNvSpPr>
            <a:spLocks noGrp="1"/>
          </p:cNvSpPr>
          <p:nvPr/>
        </p:nvSpPr>
        <p:spPr>
          <a:xfrm>
            <a:off x="704850" y="25717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599EA4C-FF67-4BCA-A109-6A5B6DE43B0A}"/>
              </a:ext>
            </a:extLst>
          </p:cNvPr>
          <p:cNvSpPr>
            <a:spLocks noGrp="1"/>
          </p:cNvSpPr>
          <p:nvPr/>
        </p:nvSpPr>
        <p:spPr>
          <a:xfrm>
            <a:off x="1381125" y="247650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邊查邊存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33F4DD03-9A6F-467F-A735-75DA093A6128}"/>
              </a:ext>
            </a:extLst>
          </p:cNvPr>
          <p:cNvSpPr>
            <a:spLocks noGrp="1"/>
          </p:cNvSpPr>
          <p:nvPr/>
        </p:nvSpPr>
        <p:spPr>
          <a:xfrm>
            <a:off x="4695825" y="238125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每貼回一段 AI 回答就按一次存；版本會留著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D0ABE812-9CCE-4771-B793-DEEF63DB334E}"/>
              </a:ext>
            </a:extLst>
          </p:cNvPr>
          <p:cNvSpPr>
            <a:spLocks noGrp="1"/>
          </p:cNvSpPr>
          <p:nvPr/>
        </p:nvSpPr>
        <p:spPr>
          <a:xfrm>
            <a:off x="4695825" y="285750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老師看得到你問了什麼、AI 答了什麼、你標的來源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6CFEF638-4578-4E18-A983-2CD7BBECE664}"/>
              </a:ext>
            </a:extLst>
          </p:cNvPr>
          <p:cNvSpPr>
            <a:spLocks noGrp="1"/>
          </p:cNvSpPr>
          <p:nvPr/>
        </p:nvSpPr>
        <p:spPr>
          <a:xfrm>
            <a:off x="1381125" y="3390900"/>
            <a:ext cx="102012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88DEDAB4-3410-4DFB-B45E-21093285DC29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457200" cy="457200"/>
          </a:xfrm>
          <a:prstGeom prst="ellipse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2F55AD4-312E-40BE-8405-29F4DBF3C7CD}"/>
              </a:ext>
            </a:extLst>
          </p:cNvPr>
          <p:cNvSpPr>
            <a:spLocks noGrp="1"/>
          </p:cNvSpPr>
          <p:nvPr/>
        </p:nvSpPr>
        <p:spPr>
          <a:xfrm>
            <a:off x="704850" y="377190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1CF083D0-1400-4ADC-BBBB-D83170A93F53}"/>
              </a:ext>
            </a:extLst>
          </p:cNvPr>
          <p:cNvSpPr>
            <a:spLocks noGrp="1"/>
          </p:cNvSpPr>
          <p:nvPr/>
        </p:nvSpPr>
        <p:spPr>
          <a:xfrm>
            <a:off x="1381125" y="367665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商業燈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5FF9CB42-8351-4870-83D3-39F83544CE1A}"/>
              </a:ext>
            </a:extLst>
          </p:cNvPr>
          <p:cNvSpPr>
            <a:spLocks noGrp="1"/>
          </p:cNvSpPr>
          <p:nvPr/>
        </p:nvSpPr>
        <p:spPr>
          <a:xfrm>
            <a:off x="4695825" y="358140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③ 有具名付費者、② 有（來源：）、兩段 AI 回答都貼了才會亮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E0780AF1-E146-481C-BBA1-1B66A161CC86}"/>
              </a:ext>
            </a:extLst>
          </p:cNvPr>
          <p:cNvSpPr>
            <a:spLocks noGrp="1"/>
          </p:cNvSpPr>
          <p:nvPr/>
        </p:nvSpPr>
        <p:spPr>
          <a:xfrm>
            <a:off x="4695825" y="405765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燈沒亮不能提交，但草稿一直都在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65F52A88-2729-4AA8-969A-05036BD3EC9D}"/>
              </a:ext>
            </a:extLst>
          </p:cNvPr>
          <p:cNvSpPr>
            <a:spLocks noGrp="1"/>
          </p:cNvSpPr>
          <p:nvPr/>
        </p:nvSpPr>
        <p:spPr>
          <a:xfrm>
            <a:off x="1381125" y="4591050"/>
            <a:ext cx="102012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22A1850A-3AA6-4697-82D3-07C737CCAC4E}"/>
              </a:ext>
            </a:extLst>
          </p:cNvPr>
          <p:cNvSpPr>
            <a:spLocks noGrp="1"/>
          </p:cNvSpPr>
          <p:nvPr/>
        </p:nvSpPr>
        <p:spPr>
          <a:xfrm>
            <a:off x="609600" y="4933950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6D381400-56EE-4745-832F-98B10DA7CE86}"/>
              </a:ext>
            </a:extLst>
          </p:cNvPr>
          <p:cNvSpPr>
            <a:spLocks noGrp="1"/>
          </p:cNvSpPr>
          <p:nvPr/>
        </p:nvSpPr>
        <p:spPr>
          <a:xfrm>
            <a:off x="704850" y="49720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DFE1E411-0E18-47D7-B903-0FC5796953C8}"/>
              </a:ext>
            </a:extLst>
          </p:cNvPr>
          <p:cNvSpPr>
            <a:spLocks noGrp="1"/>
          </p:cNvSpPr>
          <p:nvPr/>
        </p:nvSpPr>
        <p:spPr>
          <a:xfrm>
            <a:off x="1381125" y="487680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下週帶來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B0C933AB-3307-4C37-8E26-A9F979169F9A}"/>
              </a:ext>
            </a:extLst>
          </p:cNvPr>
          <p:cNvSpPr>
            <a:spLocks noGrp="1"/>
          </p:cNvSpPr>
          <p:nvPr/>
        </p:nvSpPr>
        <p:spPr>
          <a:xfrm>
            <a:off x="4695825" y="478155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一張燈亮的挑戰卡、體檢分數、一句「AI 說錯的話」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E1963D10-9201-4BF7-9F5D-46E0BE45C085}"/>
              </a:ext>
            </a:extLst>
          </p:cNvPr>
          <p:cNvSpPr>
            <a:spLocks noGrp="1"/>
          </p:cNvSpPr>
          <p:nvPr/>
        </p:nvSpPr>
        <p:spPr>
          <a:xfrm>
            <a:off x="4695825" y="525780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Week 5 用體檢分數排序全班、選段、組隊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2026-09-28T13:12:49.7880000Z</dcterms:created>
  <dcterms:modified xsi:type="dcterms:W3CDTF">2026-09-28T13:12:49.7880000Z</dcterms:modified>
</coreProperties>
</file>