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aa2c494ff6534158" Type="http://schemas.openxmlformats.org/package/2006/relationships/metadata/core-properties" Target="docProps/core.xml"/><Relationship Id="Rd7e0ccb774ee4da3" Type="http://schemas.openxmlformats.org/officeDocument/2006/relationships/officeDocument" Target="ppt/presentation.xml"/><Relationship Id="Red5eaeb31f1f489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d81ccdc3d4373"/>
  </p:sldMasterIdLst>
  <p:notesMasterIdLst>
    <p:notesMasterId xmlns:r="http://schemas.openxmlformats.org/officeDocument/2006/relationships" r:id="Rae5565e222f94311"/>
  </p:notesMasterIdLst>
  <p:sldIdLst>
    <p:sldId xmlns:ns0="http://schemas.openxmlformats.org/officeDocument/2006/relationships" id="281" ns0:id="rId31"/>
    <p:sldId xmlns:ns0="http://schemas.openxmlformats.org/officeDocument/2006/relationships" id="282" ns0:id="rId32"/>
    <p:sldId xmlns:ns0="http://schemas.openxmlformats.org/officeDocument/2006/relationships" id="283" ns0:id="rId33"/>
    <p:sldId xmlns:ns0="http://schemas.openxmlformats.org/officeDocument/2006/relationships" id="284" ns0:id="rId34"/>
    <p:sldId xmlns:ns0="http://schemas.openxmlformats.org/officeDocument/2006/relationships" id="285" ns0:id="rId35"/>
    <p:sldId xmlns:ns0="http://schemas.openxmlformats.org/officeDocument/2006/relationships" id="286" ns0:id="rId36"/>
    <p:sldId xmlns:ns0="http://schemas.openxmlformats.org/officeDocument/2006/relationships" id="287" ns0:id="rId37"/>
    <p:sldId xmlns:ns0="http://schemas.openxmlformats.org/officeDocument/2006/relationships" id="288" ns0:id="rId38"/>
    <p:sldId xmlns:ns0="http://schemas.openxmlformats.org/officeDocument/2006/relationships" id="289" ns0:id="rId39"/>
    <p:sldId xmlns:ns0="http://schemas.openxmlformats.org/officeDocument/2006/relationships" id="290" ns0:id="rId40"/>
    <p:sldId xmlns:ns0="http://schemas.openxmlformats.org/officeDocument/2006/relationships" id="291" ns0:id="rId41"/>
    <p:sldId xmlns:ns0="http://schemas.openxmlformats.org/officeDocument/2006/relationships" id="292" ns0:id="rId42"/>
    <p:sldId xmlns:ns0="http://schemas.openxmlformats.org/officeDocument/2006/relationships" id="293" ns0:id="rId43"/>
    <p:sldId xmlns:ns0="http://schemas.openxmlformats.org/officeDocument/2006/relationships" id="294" ns0:id="rId44"/>
    <p:sldId xmlns:ns0="http://schemas.openxmlformats.org/officeDocument/2006/relationships" id="295" ns0:id="rId45"/>
    <p:sldId xmlns:ns0="http://schemas.openxmlformats.org/officeDocument/2006/relationships" id="296" ns0:id="rId46"/>
    <p:sldId xmlns:ns0="http://schemas.openxmlformats.org/officeDocument/2006/relationships" id="297" ns0:id="rId47"/>
    <p:sldId xmlns:ns0="http://schemas.openxmlformats.org/officeDocument/2006/relationships" id="298" ns0:id="rId48"/>
    <p:sldId xmlns:ns0="http://schemas.openxmlformats.org/officeDocument/2006/relationships" id="299" ns0:id="rId49"/>
    <p:sldId xmlns:ns0="http://schemas.openxmlformats.org/officeDocument/2006/relationships" id="300" ns0:id="rId50"/>
    <p:sldId xmlns:ns0="http://schemas.openxmlformats.org/officeDocument/2006/relationships" id="301" ns0:id="rId51"/>
    <p:sldId xmlns:ns0="http://schemas.openxmlformats.org/officeDocument/2006/relationships" id="302" ns0:id="rId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ef9775db36e4347" Type="http://schemas.openxmlformats.org/officeDocument/2006/relationships/theme" Target="theme/theme1.xml"/><Relationship Id="R209d81ccdc3d4373" Type="http://schemas.openxmlformats.org/officeDocument/2006/relationships/slideMaster" Target="slideMasters/slideMaster1.xml"/><Relationship Id="Rae5565e222f94311" Type="http://schemas.openxmlformats.org/officeDocument/2006/relationships/notesMaster" Target="notesMasters/notesMaster1.xml"/><Relationship Id="Rc3130170706542df" Type="http://schemas.openxmlformats.org/officeDocument/2006/relationships/presProps" Target="presProps.xml"/><Relationship Id="Rdae1bc0b7b5049c6" Type="http://schemas.openxmlformats.org/officeDocument/2006/relationships/tableStyles" Target="tableStyles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4636b259947a4c7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a21de335dda5480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400e1906020446b" Type="http://schemas.openxmlformats.org/officeDocument/2006/relationships/slideLayout" Target="../slideLayouts/slideLayout1.xml"/><Relationship Id="R42e31e3cb9d9443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00e190602044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/>
      <p:sp>
        <p:nvSpPr>
          <p:cNvPr id="13" name="">
            <a:extLst>
              <a:ext uri="{FF2B5EF4-FFF2-40B4-BE49-F238E27FC236}">
                <a16:creationId xmlns:a16="http://schemas.microsoft.com/office/drawing/2014/main" id="{B610B403-B5AE-4645-BFCA-BCD615455D8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4F53071F-7357-4072-9247-7EBFB78BD22B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404040"/>
          </a:solidFill>
          <a:ln w="0">
            <a:noFill/>
          </a:ln>
        </p:spPr>
        <p:txBody>
          <a:bodyPr/>
          <a:p/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5B87038-7D87-4EF3-B380-7070A034192B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09B105CA-B3D7-4A85-B7E2-2F9A43F502C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01 / 22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BC0733B6-EB6B-43EB-877A-C39DF623DF80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8096250" cy="1866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5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從我的痛看產業：挑戰與機會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30DE52D0-9EC0-4155-9667-C91406C521CE}"/>
              </a:ext>
            </a:extLst>
          </p:cNvPr>
          <p:cNvSpPr>
            <a:spLocks noGrp="1"/>
          </p:cNvSpPr>
          <p:nvPr/>
        </p:nvSpPr>
        <p:spPr>
          <a:xfrm>
            <a:off x="609600" y="3505200"/>
            <a:ext cx="857250" cy="6667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4CCD487-64AF-492D-974A-CFA516763AC0}"/>
              </a:ext>
            </a:extLst>
          </p:cNvPr>
          <p:cNvSpPr>
            <a:spLocks noGrp="1"/>
          </p:cNvSpPr>
          <p:nvPr/>
        </p:nvSpPr>
        <p:spPr>
          <a:xfrm>
            <a:off x="609600" y="3848100"/>
            <a:ext cx="105727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33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把 Week 3 驗證過的痛翻到業者那一面，找出三個有人付錢的機會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57AE6CC-17D3-43F0-840B-ADD9C52C97A1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9525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DDD9D2"/>
                </a:solidFill>
                <a:latin typeface="PingFang TC"/>
                <a:ea typeface="PingFang TC"/>
                <a:cs typeface="PingFang TC"/>
              </a:rPr>
              <a:t>本週：課堂兩題＋選產業線＋三張問 AI 卡；課後研究筆記 v1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B7233630-81BE-42E3-99E0-8D1098FE04BD}"/>
              </a:ext>
            </a:extLst>
          </p:cNvPr>
          <p:cNvSpPr>
            <a:spLocks noGrp="1"/>
          </p:cNvSpPr>
          <p:nvPr/>
        </p:nvSpPr>
        <p:spPr>
          <a:xfrm>
            <a:off x="9848850" y="1219200"/>
            <a:ext cx="1524000" cy="1524000"/>
          </a:xfrm>
          <a:prstGeom prst="ellipse">
            <a:avLst/>
          </a:prstGeom>
          <a:noFill/>
          <a:ln w="19050">
            <a:solidFill>
              <a:srgbClr val="4B4B4B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4CC1D9C-10A4-485F-9F4A-496C98CD1B49}"/>
              </a:ext>
            </a:extLst>
          </p:cNvPr>
          <p:cNvSpPr>
            <a:spLocks noGrp="1"/>
          </p:cNvSpPr>
          <p:nvPr/>
        </p:nvSpPr>
        <p:spPr>
          <a:xfrm>
            <a:off x="10229850" y="1600200"/>
            <a:ext cx="762000" cy="7620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4E63A64-AA39-427E-8BEF-CAE4CF94631B}"/>
              </a:ext>
            </a:extLst>
          </p:cNvPr>
          <p:cNvSpPr>
            <a:spLocks noGrp="1"/>
          </p:cNvSpPr>
          <p:nvPr/>
        </p:nvSpPr>
        <p:spPr>
          <a:xfrm>
            <a:off x="10553700" y="1057275"/>
            <a:ext cx="114300" cy="184785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7F60DA69-ABAF-45C4-B82B-278A8483BC8F}"/>
              </a:ext>
            </a:extLst>
          </p:cNvPr>
          <p:cNvSpPr>
            <a:spLocks noGrp="1"/>
          </p:cNvSpPr>
          <p:nvPr/>
        </p:nvSpPr>
        <p:spPr>
          <a:xfrm>
            <a:off x="9658350" y="1924050"/>
            <a:ext cx="1924050" cy="1143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482E03A9-F1BB-408B-BE0F-61666E3C3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2821D0B-7BB9-4BEA-8568-4AEA506F821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ED7AA5C-1BBF-4A51-9587-BA5F6F04C78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先回顧：三次訪談後，你的痛怎麼了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98E7BB7-A40C-43D3-9FF0-18E046A8078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Week 3 的判斷是今天的起點，不是成績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CDDA15AF-D83A-474D-A456-43204758A811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B95A0A-8FD1-49B6-8553-75CAA5444E1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45994A-9DF8-4526-9B16-24CAE03C38D1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02 / 22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82371FE-697D-40E4-BB3A-4680C949211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320CB9-C3AD-46D4-B730-D814052F3DB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EF2220A-25C8-4436-884F-D94EFAE572B1}"/>
              </a:ext>
            </a:extLst>
          </p:cNvPr>
          <p:cNvSpPr>
            <a:spLocks noGrp="1"/>
          </p:cNvSpPr>
          <p:nvPr/>
        </p:nvSpPr>
        <p:spPr>
          <a:xfrm>
            <a:off x="1314450" y="2409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成立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C8C0427-9A41-4804-B115-6DB5C54BE26C}"/>
              </a:ext>
            </a:extLst>
          </p:cNvPr>
          <p:cNvSpPr>
            <a:spLocks noGrp="1"/>
          </p:cNvSpPr>
          <p:nvPr/>
        </p:nvSpPr>
        <p:spPr>
          <a:xfrm>
            <a:off x="4429125" y="2409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對方說得出上一次、代價、現在的做法。今天把它翻到業者那一面。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A4D9B320-DC9A-4954-BCBD-D1A12EBEB5F1}"/>
              </a:ext>
            </a:extLst>
          </p:cNvPr>
          <p:cNvSpPr>
            <a:spLocks noGrp="1"/>
          </p:cNvSpPr>
          <p:nvPr/>
        </p:nvSpPr>
        <p:spPr>
          <a:xfrm>
            <a:off x="1314450" y="3019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BF68F2A-63F8-4862-B27E-F8DF179D2DA6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34EE12-5C89-491C-8932-2A672F3E98D7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ED1200E-7BE2-4DD2-ADA0-7D30E6B0981B}"/>
              </a:ext>
            </a:extLst>
          </p:cNvPr>
          <p:cNvSpPr>
            <a:spLocks noGrp="1"/>
          </p:cNvSpPr>
          <p:nvPr/>
        </p:nvSpPr>
        <p:spPr>
          <a:xfrm>
            <a:off x="1314450" y="33623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部分成立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F22A966B-DF26-4D7E-8ECC-14591A3B9F8E}"/>
              </a:ext>
            </a:extLst>
          </p:cNvPr>
          <p:cNvSpPr>
            <a:spLocks noGrp="1"/>
          </p:cNvSpPr>
          <p:nvPr/>
        </p:nvSpPr>
        <p:spPr>
          <a:xfrm>
            <a:off x="4429125" y="33623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遇過，但卡的點跟你想的不同。用受訪者說的那個點往下走。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47ED41-C791-4EE4-9C69-652BD9AC2DE6}"/>
              </a:ext>
            </a:extLst>
          </p:cNvPr>
          <p:cNvSpPr>
            <a:spLocks noGrp="1"/>
          </p:cNvSpPr>
          <p:nvPr/>
        </p:nvSpPr>
        <p:spPr>
          <a:xfrm>
            <a:off x="1314450" y="39719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B36BABB-0E6E-4648-BB95-CCB3E591DDF3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A631708-CE6D-42BC-B460-B476022771E7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AE9068-2762-4A03-A15E-EE94A7A0CDF0}"/>
              </a:ext>
            </a:extLst>
          </p:cNvPr>
          <p:cNvSpPr>
            <a:spLocks noGrp="1"/>
          </p:cNvSpPr>
          <p:nvPr/>
        </p:nvSpPr>
        <p:spPr>
          <a:xfrm>
            <a:off x="1314450" y="4314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不成立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BD73FAB-8CB1-41D3-B640-715FEE6AF17E}"/>
              </a:ext>
            </a:extLst>
          </p:cNvPr>
          <p:cNvSpPr>
            <a:spLocks noGrp="1"/>
          </p:cNvSpPr>
          <p:nvPr/>
        </p:nvSpPr>
        <p:spPr>
          <a:xfrm>
            <a:off x="4429125" y="4314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沒人說得出上一次。不是失敗：訪談經驗跟著你，今天選產業線時直接換。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FA808F9-3FCE-4AFA-B8B7-2FF36A31D8F6}"/>
              </a:ext>
            </a:extLst>
          </p:cNvPr>
          <p:cNvSpPr>
            <a:spLocks noGrp="1"/>
          </p:cNvSpPr>
          <p:nvPr/>
        </p:nvSpPr>
        <p:spPr>
          <a:xfrm>
            <a:off x="1314450" y="4924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52391823-4577-41D5-B5F1-22EFE691E292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一句話把它寫成：〔誰〕在〔什麼時候〕因為〔什麼〕而〔付出什麼代價〕。這一句會自動帶進今天每一個 prompt。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">
            <a:extLst>
              <a:ext uri="{FF2B5EF4-FFF2-40B4-BE49-F238E27FC236}">
                <a16:creationId xmlns:a16="http://schemas.microsoft.com/office/drawing/2014/main" id="{F3FCDF75-2150-48E4-B56F-54EE85CB8E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B62117E7-3FEE-4F02-9D1B-FE1381C73976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3B93369F-C690-4E39-99F1-43A84D86102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本週共同成果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9723C0CB-9629-42A9-BAD8-A60726031031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每人一條產業線、三張有來源的卡；下週拿三個機會來比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CDD7C55-A052-46C0-87AF-EC4BB7EE3587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49BDE64-B47E-4B0D-A413-005295AA6EA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18BF7E24-C488-4726-A5FF-321EE84BADC9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03 / 22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095D2251-FE5C-4EEC-A522-725F6A0A6105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3143250" cy="838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4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3 張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68D357CF-B3B1-4D53-8508-4A38FEEE02DE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問 AI 卡：錢流 → 查證 → 機會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105E5CF5-D6FE-490E-B9A5-6F8A95CD06B6}"/>
              </a:ext>
            </a:extLst>
          </p:cNvPr>
          <p:cNvSpPr>
            <a:spLocks noGrp="1"/>
          </p:cNvSpPr>
          <p:nvPr/>
        </p:nvSpPr>
        <p:spPr>
          <a:xfrm>
            <a:off x="4333875" y="2476500"/>
            <a:ext cx="57150" cy="276225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F9524EDB-3A59-47EA-BB11-2F0D55356ABC}"/>
              </a:ext>
            </a:extLst>
          </p:cNvPr>
          <p:cNvSpPr>
            <a:spLocks noGrp="1"/>
          </p:cNvSpPr>
          <p:nvPr/>
        </p:nvSpPr>
        <p:spPr>
          <a:xfrm>
            <a:off x="4762500" y="24765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課堂兩題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6D7FCDB6-2A20-44EC-BA71-2375E21CE9DB}"/>
              </a:ext>
            </a:extLst>
          </p:cNvPr>
          <p:cNvSpPr>
            <a:spLocks noGrp="1"/>
          </p:cNvSpPr>
          <p:nvPr/>
        </p:nvSpPr>
        <p:spPr>
          <a:xfrm>
            <a:off x="4762500" y="2914650"/>
            <a:ext cx="61912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在研究頁最上面。上課時段內存檔＝出席；可以按「讓 AI 評我的答案」，選填、不計分。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4DED09D-724E-4EDF-A764-092D4FEF1F7C}"/>
              </a:ext>
            </a:extLst>
          </p:cNvPr>
          <p:cNvSpPr>
            <a:spLocks noGrp="1"/>
          </p:cNvSpPr>
          <p:nvPr/>
        </p:nvSpPr>
        <p:spPr>
          <a:xfrm>
            <a:off x="4762500" y="3762375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選一條產業線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4820CB8D-FACD-4040-B274-01B197A61A6B}"/>
              </a:ext>
            </a:extLst>
          </p:cNvPr>
          <p:cNvSpPr>
            <a:spLocks noGrp="1"/>
          </p:cNvSpPr>
          <p:nvPr/>
        </p:nvSpPr>
        <p:spPr>
          <a:xfrm>
            <a:off x="4762500" y="4200525"/>
            <a:ext cx="6191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app 依你的普查題號把最相關的兩張排前面；九張都可選，也可以自己填一個。選完按存。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D455EB71-7177-43A7-83A1-197F8F1C670B}"/>
              </a:ext>
            </a:extLst>
          </p:cNvPr>
          <p:cNvSpPr>
            <a:spLocks noGrp="1"/>
          </p:cNvSpPr>
          <p:nvPr/>
        </p:nvSpPr>
        <p:spPr>
          <a:xfrm>
            <a:off x="4762500" y="49530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103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三張問 AI 卡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4BCD5218-7EF4-4D85-AB21-A2BF59B8C003}"/>
              </a:ext>
            </a:extLst>
          </p:cNvPr>
          <p:cNvSpPr>
            <a:spLocks noGrp="1"/>
          </p:cNvSpPr>
          <p:nvPr/>
        </p:nvSpPr>
        <p:spPr>
          <a:xfrm>
            <a:off x="4762500" y="5391150"/>
            <a:ext cx="619125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一種形狀到處重複：一句要問什麼 → 按鈕複製問題、開工具 → 貼回 → 標來源。老師看來源比例。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" name="">
            <a:extLst>
              <a:ext uri="{FF2B5EF4-FFF2-40B4-BE49-F238E27FC236}">
                <a16:creationId xmlns:a16="http://schemas.microsoft.com/office/drawing/2014/main" id="{5531F714-86A9-41DF-AD33-70581D9C98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A6B808D6-018D-47D8-9ED1-E258414C863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FBFC5E8F-C9C1-4177-B8F6-345D5EAE0A5D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120 分鐘課堂流程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2E84BB7-4F61-40AE-A611-46F8EFD8B6C0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先講為什麼，再動手：選線、問 AI、查證、要機會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157C7377-C278-49DF-BE76-49263FE104B7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11D6D99-8225-4FBC-9CA5-6628D9A8E518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65ED00B1-C76C-4031-9373-985BE7591EA6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04 / 22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57B5694A-186D-4385-8D67-2E07E7CE303F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0–35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A1E3B43-C9CB-4B29-80A2-6C96B832E5B3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2381250" cy="66675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0179F13F-07E9-48B5-BE87-307165CEAF2F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回顧與講義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0ACA1704-15B0-460F-9117-A5F2DBF2B37C}"/>
              </a:ext>
            </a:extLst>
          </p:cNvPr>
          <p:cNvSpPr>
            <a:spLocks noGrp="1"/>
          </p:cNvSpPr>
          <p:nvPr/>
        </p:nvSpPr>
        <p:spPr>
          <a:xfrm>
            <a:off x="6096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0–10 回顧 Week 3 判斷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10–35 講義五頁：為什麼從個人痛開始、怎麼變產業痛、研究怎麼做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74765FF-AABC-4783-A111-0B879A99DC27}"/>
              </a:ext>
            </a:extLst>
          </p:cNvPr>
          <p:cNvSpPr>
            <a:spLocks noGrp="1"/>
          </p:cNvSpPr>
          <p:nvPr/>
        </p:nvSpPr>
        <p:spPr>
          <a:xfrm>
            <a:off x="33528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35–50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CD84D9D-1D7F-49AA-A3C8-C262DFA0BF81}"/>
              </a:ext>
            </a:extLst>
          </p:cNvPr>
          <p:cNvSpPr>
            <a:spLocks noGrp="1"/>
          </p:cNvSpPr>
          <p:nvPr/>
        </p:nvSpPr>
        <p:spPr>
          <a:xfrm>
            <a:off x="3352800" y="3028950"/>
            <a:ext cx="2381250" cy="66675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227B89E0-6965-4B71-9EAD-C9AC5A3753A0}"/>
              </a:ext>
            </a:extLst>
          </p:cNvPr>
          <p:cNvSpPr>
            <a:spLocks noGrp="1"/>
          </p:cNvSpPr>
          <p:nvPr/>
        </p:nvSpPr>
        <p:spPr>
          <a:xfrm>
            <a:off x="33528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選線＋兩題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D88ADD9B-7BEF-4514-8B56-96583D3706AF}"/>
              </a:ext>
            </a:extLst>
          </p:cNvPr>
          <p:cNvSpPr>
            <a:spLocks noGrp="1"/>
          </p:cNvSpPr>
          <p:nvPr/>
        </p:nvSpPr>
        <p:spPr>
          <a:xfrm>
            <a:off x="33528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35–45 選一條產業線、存檔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45–50 課堂兩題（出席）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3E6CEEB3-3205-4A53-B9AC-D7B5700A7E9F}"/>
              </a:ext>
            </a:extLst>
          </p:cNvPr>
          <p:cNvSpPr>
            <a:spLocks noGrp="1"/>
          </p:cNvSpPr>
          <p:nvPr/>
        </p:nvSpPr>
        <p:spPr>
          <a:xfrm>
            <a:off x="60960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C99827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C99827"/>
                </a:solidFill>
                <a:latin typeface="PingFang TC"/>
                <a:ea typeface="PingFang TC"/>
                <a:cs typeface="PingFang TC"/>
              </a:rPr>
              <a:t>50–100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DDC319AD-69AD-479E-B19E-FBD96DD46C11}"/>
              </a:ext>
            </a:extLst>
          </p:cNvPr>
          <p:cNvSpPr>
            <a:spLocks noGrp="1"/>
          </p:cNvSpPr>
          <p:nvPr/>
        </p:nvSpPr>
        <p:spPr>
          <a:xfrm>
            <a:off x="6096000" y="3028950"/>
            <a:ext cx="2381250" cy="66675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E54D6ADA-B64A-4DA4-8783-D3D9E9761224}"/>
              </a:ext>
            </a:extLst>
          </p:cNvPr>
          <p:cNvSpPr>
            <a:spLocks noGrp="1"/>
          </p:cNvSpPr>
          <p:nvPr/>
        </p:nvSpPr>
        <p:spPr>
          <a:xfrm>
            <a:off x="60960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卡 1 與卡 2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0BADEF1-F633-46E5-8E61-6A281FD20719}"/>
              </a:ext>
            </a:extLst>
          </p:cNvPr>
          <p:cNvSpPr>
            <a:spLocks noGrp="1"/>
          </p:cNvSpPr>
          <p:nvPr/>
        </p:nvSpPr>
        <p:spPr>
          <a:xfrm>
            <a:off x="60960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50–75 卡 1 問 AI：錢流與困難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75–100 卡 2 NotebookLM 查證（老師帶著做一次）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3E1DDD8-EC9C-418F-BCD1-ADF0F0A2639A}"/>
              </a:ext>
            </a:extLst>
          </p:cNvPr>
          <p:cNvSpPr>
            <a:spLocks noGrp="1"/>
          </p:cNvSpPr>
          <p:nvPr/>
        </p:nvSpPr>
        <p:spPr>
          <a:xfrm>
            <a:off x="8839200" y="2524125"/>
            <a:ext cx="23812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100–120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09E56B5-E7B9-4A5E-A980-C3280EEB9076}"/>
              </a:ext>
            </a:extLst>
          </p:cNvPr>
          <p:cNvSpPr>
            <a:spLocks noGrp="1"/>
          </p:cNvSpPr>
          <p:nvPr/>
        </p:nvSpPr>
        <p:spPr>
          <a:xfrm>
            <a:off x="8839200" y="3028950"/>
            <a:ext cx="2381250" cy="66675"/>
          </a:xfrm>
          <a:prstGeom prst="rect">
            <a:avLst/>
          </a:prstGeom>
          <a:solidFill>
            <a:srgbClr val="121212"/>
          </a:solidFill>
          <a:ln w="9525">
            <a:solidFill>
              <a:srgbClr val="121212"/>
            </a:solidFill>
          </a:ln>
        </p:spPr>
        <p:txBody>
          <a:bodyPr/>
          <a:p/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38C8F516-616B-4DBB-8CDA-B91EFD22AB35}"/>
              </a:ext>
            </a:extLst>
          </p:cNvPr>
          <p:cNvSpPr>
            <a:spLocks noGrp="1"/>
          </p:cNvSpPr>
          <p:nvPr/>
        </p:nvSpPr>
        <p:spPr>
          <a:xfrm>
            <a:off x="8839200" y="3295650"/>
            <a:ext cx="2381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卡 3 與課後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70207311-E971-4993-97A4-9C6CE29C1EB7}"/>
              </a:ext>
            </a:extLst>
          </p:cNvPr>
          <p:cNvSpPr>
            <a:spLocks noGrp="1"/>
          </p:cNvSpPr>
          <p:nvPr/>
        </p:nvSpPr>
        <p:spPr>
          <a:xfrm>
            <a:off x="8839200" y="3895725"/>
            <a:ext cx="2381250" cy="1381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100–115 卡 3 要三個機會</a:t>
            </a:r>
          </a:p>
          <a:p>
            <a:pPr algn="l">
              <a:buNone/>
              <a:def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115–120 課後任務：補來源、研究筆記 v1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D51E96A9-5429-4684-BD65-9D59AE5A04BC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整頁一直開著、沒有截止；每個欄位只記你實際存檔的時間（課中／課後）。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一、為什麼新事業從一個個人痛開始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講義第 1 頁；每個主張後面都有出處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05 / 22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Graham：點子是注意到的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「找點子的方法不是坐下來想點子。」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最好的題目從自己的經驗長出來。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Bhidé：七成來自親身經驗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訪談 Inc. 500 的 100 位創辦人：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約七成點子來自前一份工作碰到的問題。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Shane：知識走廊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同一項 MIT 專利，八個團隊看到八種機會。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先備知識決定你看得見什麼。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對你的意義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Week 1 記原句、時間地點，是在找你走廊裡的題目：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你排隊的那家店、你打工的那間店。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二、為什麼先弄具體、先去問人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講義第 2 頁：Week 2–3 的四個依據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06 / 22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Blank：大樓裡沒有事實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Customer Development 第一條規則。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顧客探索、顧客驗證都在大樓外面。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Ries：先驗證問題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新創最大的風險不是做不出來，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是做出來沒人要。用實證衡量進展。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Christensen：JTBD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顧客是「雇用」產品來完成一件事。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奶昔的競爭對手是香蕉和貝果。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Fitzpatrick：The Mom Test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問過去的具體事，不問未來的意見。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「你會不會用？」沒有人會說不會。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">
            <a:extLst>
              <a:ext uri="{FF2B5EF4-FFF2-40B4-BE49-F238E27FC236}">
                <a16:creationId xmlns:a16="http://schemas.microsoft.com/office/drawing/2014/main" id="{D99C096F-6EB5-41EA-B969-490BF1A5FE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F945F193-D6A2-4A5E-BD73-6B69757A382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E0DE06-5026-47E2-9F71-7631AE1BDAE2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三、同一件事翻過去看，就是產業痛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E0ED7F9D-7CE4-45F4-B7CB-9761EE5DF65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你手上的痛在使用者那一面；有人付錢的痛通常在業者那一面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2DC1420-12C3-4916-8E72-AE7443D5B25C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F07DDDE-8D75-462F-91D5-4B36B43575E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5FE7A55-B727-4B6F-9EE2-D39F3300B62E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07 / 22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E25F88BD-8320-4506-A81F-3D2EC6975FE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學生那一面（你的痛）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993229B-BD18-4B58-BFFD-54C5C43644DE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午休只有 50 分鐘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第一餐廳滷味攤排 20 分鐘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三成人放棄不吃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改買便利商店、忍耐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2A462A0-899F-4C1D-9C7C-25D4058895FB}"/>
              </a:ext>
            </a:extLst>
          </p:cNvPr>
          <p:cNvSpPr>
            <a:spLocks noGrp="1"/>
          </p:cNvSpPr>
          <p:nvPr/>
        </p:nvSpPr>
        <p:spPr>
          <a:xfrm>
            <a:off x="5953125" y="2428875"/>
            <a:ext cx="38100" cy="29527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B13E5783-0243-4D15-B1DC-FFBD06FE9F16}"/>
              </a:ext>
            </a:extLst>
          </p:cNvPr>
          <p:cNvSpPr>
            <a:spLocks noGrp="1"/>
          </p:cNvSpPr>
          <p:nvPr/>
        </p:nvSpPr>
        <p:spPr>
          <a:xfrm>
            <a:off x="657225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老闆那一面（產業痛）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204B0874-5189-41D9-9F8F-D809113B0CB0}"/>
              </a:ext>
            </a:extLst>
          </p:cNvPr>
          <p:cNvSpPr>
            <a:spLocks noGrp="1"/>
          </p:cNvSpPr>
          <p:nvPr/>
        </p:nvSpPr>
        <p:spPr>
          <a:xfrm>
            <a:off x="657225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尖峰 40 分鐘要出 120 份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人請不到、留不住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外送平台抽三成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靠 LINE 群接預訂常漏單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A63A13F-D1D5-4F06-BFE8-CD5525CCAD8B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後者才是老闆已經在花錢、花時間的地方。今天的三張卡都在問右邊這一欄。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三、把一個痛展開成一張產業地圖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講義第 3 頁：四個現成的框架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08 / 22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Porter：五力與價值鏈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問「這個痛沿路經過誰？」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誰供貨、誰競爭、誰替代、誰付錢。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Kim &amp; Mauborgne：六條路徑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替代產業、策略群、買方鏈、互補品、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功能／情感、時間趨勢。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Osterwalder：環境四區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市場力、產業力、趨勢、總體經濟用桌面研究填；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顧客的痛只能來自觀察與訪談。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Aulet：灘頭市場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列出所有有這個痛的族群，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選一個小而贏得了的區隔。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1" name="">
            <a:extLst>
              <a:ext uri="{FF2B5EF4-FFF2-40B4-BE49-F238E27FC236}">
                <a16:creationId xmlns:a16="http://schemas.microsoft.com/office/drawing/2014/main" id="{8814B1AB-A708-463D-BCA9-62BBF766B05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0E469DC-8B6A-455A-8544-6038EB372150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六條路徑：用排隊買餐走一次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987ED678-6582-47CC-8ECE-D90184EAB85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課堂第二題就是要你挑一條路徑，說出你的痛可能屬於的另一個產業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3FB0A49-91F3-4CAC-A9A3-15D1937610B3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121EC846-19D4-4202-B8AD-BA33F7D1158E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997F8E8-68FD-4DA3-8C4D-0FEE0D6A0C23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09 / 22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F09DED1-3E9E-4B14-904B-7645F2EF77A9}"/>
              </a:ext>
            </a:extLst>
          </p:cNvPr>
          <p:cNvSpPr>
            <a:spLocks noGrp="1"/>
          </p:cNvSpPr>
          <p:nvPr/>
        </p:nvSpPr>
        <p:spPr>
          <a:xfrm>
            <a:off x="628650" y="231457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C9CCA19B-DA36-4E1C-AA16-5520D21E050D}"/>
              </a:ext>
            </a:extLst>
          </p:cNvPr>
          <p:cNvSpPr>
            <a:spLocks noGrp="1"/>
          </p:cNvSpPr>
          <p:nvPr/>
        </p:nvSpPr>
        <p:spPr>
          <a:xfrm>
            <a:off x="1085850" y="22383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替代產業：不來這裡吃的人去了哪裡？→ 便利商店、外送、自己帶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03F9287-4810-43E9-B75B-F3D6F55FB1F1}"/>
              </a:ext>
            </a:extLst>
          </p:cNvPr>
          <p:cNvSpPr>
            <a:spLocks noGrp="1"/>
          </p:cNvSpPr>
          <p:nvPr/>
        </p:nvSpPr>
        <p:spPr>
          <a:xfrm>
            <a:off x="628650" y="285750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D95D37CA-5A02-4321-BEC7-D57741D66A22}"/>
              </a:ext>
            </a:extLst>
          </p:cNvPr>
          <p:cNvSpPr>
            <a:spLocks noGrp="1"/>
          </p:cNvSpPr>
          <p:nvPr/>
        </p:nvSpPr>
        <p:spPr>
          <a:xfrm>
            <a:off x="1085850" y="27813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策略群：同一行裡誰做法不同？→ 連鎖 vs 攤商 vs 團膳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5977A7AB-2E6D-4A61-8127-FEBF350790E8}"/>
              </a:ext>
            </a:extLst>
          </p:cNvPr>
          <p:cNvSpPr>
            <a:spLocks noGrp="1"/>
          </p:cNvSpPr>
          <p:nvPr/>
        </p:nvSpPr>
        <p:spPr>
          <a:xfrm>
            <a:off x="628650" y="340042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08A375F9-ED04-4364-B44C-40FCBDA24749}"/>
              </a:ext>
            </a:extLst>
          </p:cNvPr>
          <p:cNvSpPr>
            <a:spLocks noGrp="1"/>
          </p:cNvSpPr>
          <p:nvPr/>
        </p:nvSpPr>
        <p:spPr>
          <a:xfrm>
            <a:off x="1085850" y="332422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買方鏈：買的、用的、影響的各是誰？→ 學生用、家長給錢、學校招商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A03FFED-24D3-4EA6-9F40-56F24BF5E4F0}"/>
              </a:ext>
            </a:extLst>
          </p:cNvPr>
          <p:cNvSpPr>
            <a:spLocks noGrp="1"/>
          </p:cNvSpPr>
          <p:nvPr/>
        </p:nvSpPr>
        <p:spPr>
          <a:xfrm>
            <a:off x="628650" y="394335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95014F-654E-4514-9F8B-AE80342684F5}"/>
              </a:ext>
            </a:extLst>
          </p:cNvPr>
          <p:cNvSpPr>
            <a:spLocks noGrp="1"/>
          </p:cNvSpPr>
          <p:nvPr/>
        </p:nvSpPr>
        <p:spPr>
          <a:xfrm>
            <a:off x="1085850" y="386715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互補品：前後還需要什麼？→ 點餐系統、取餐櫃、外送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BA26016B-DE2B-4C47-9F38-B86019D4A583}"/>
              </a:ext>
            </a:extLst>
          </p:cNvPr>
          <p:cNvSpPr>
            <a:spLocks noGrp="1"/>
          </p:cNvSpPr>
          <p:nvPr/>
        </p:nvSpPr>
        <p:spPr>
          <a:xfrm>
            <a:off x="628650" y="4486275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0A61946-1B30-4F82-8020-4EB887FFFF31}"/>
              </a:ext>
            </a:extLst>
          </p:cNvPr>
          <p:cNvSpPr>
            <a:spLocks noGrp="1"/>
          </p:cNvSpPr>
          <p:nvPr/>
        </p:nvSpPr>
        <p:spPr>
          <a:xfrm>
            <a:off x="1085850" y="44100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功能／情感：是功能需求還是感受？→ 吃飽 vs 跟朋友一起吃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093DA355-6759-43A9-A95D-4361AA6A47BF}"/>
              </a:ext>
            </a:extLst>
          </p:cNvPr>
          <p:cNvSpPr>
            <a:spLocks noGrp="1"/>
          </p:cNvSpPr>
          <p:nvPr/>
        </p:nvSpPr>
        <p:spPr>
          <a:xfrm>
            <a:off x="628650" y="5029200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7377CCEB-8EAD-44CB-B435-B378C176210E}"/>
              </a:ext>
            </a:extLst>
          </p:cNvPr>
          <p:cNvSpPr>
            <a:spLocks noGrp="1"/>
          </p:cNvSpPr>
          <p:nvPr/>
        </p:nvSpPr>
        <p:spPr>
          <a:xfrm>
            <a:off x="1085850" y="49530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時間趨勢：三年來什麼變了？→ 缺工、外送普及、AI 點餐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72DB212D-DCE9-4747-B435-0D67F2CC0D5D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972800" cy="485775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FE6C6B1-030D-4F0E-8E52-EDA429C81544}"/>
              </a:ext>
            </a:extLst>
          </p:cNvPr>
          <p:cNvSpPr>
            <a:spLocks noGrp="1"/>
          </p:cNvSpPr>
          <p:nvPr/>
        </p:nvSpPr>
        <p:spPr>
          <a:xfrm>
            <a:off x="800100" y="5715000"/>
            <a:ext cx="105251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走完六條，你會得到六個它可能屬於的產業——這就是「選一條產業線」的來源。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四、研究怎麼做：兩個以上來源才算成立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講義第 4 頁：三角驗證與兩個工具的分工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10 / 22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Denzin：三角驗證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同一件事用兩個以上來源交叉檢驗：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訪談、公開資料、直接觀察三者之二。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AI 說的不算來源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AI 幫你找到的來源才算。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有數字 → 寫（來源：XX）或標「估計」。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發散：Gemini／GPT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快、廣、會舉例；但會編數字。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用在卡 1、卡 3。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收斂：NotebookLM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只根據你餵的來源回答、每句有引用。</a:t>
            </a:r>
          </a:p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用在卡 2。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6" name="">
            <a:extLst>
              <a:ext uri="{FF2B5EF4-FFF2-40B4-BE49-F238E27FC236}">
                <a16:creationId xmlns:a16="http://schemas.microsoft.com/office/drawing/2014/main" id="{5CE9112B-AF49-4586-9131-83605F2001E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BB81EBE-4B96-455F-82DC-5C98324B78C9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來源有五層，每一層至少一個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58E2160-BDA4-4FAA-BDED-9C0B2FFF3D5C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1、2 層講多大往哪走；3 層講最近什麼變了；4、5 層講老闆和客人自己怎麼說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17B2D190-0077-4042-95AB-07791A1C780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5A9E1B35-3DCA-4E0A-B4A3-1122D584974A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054C003F-1A5D-4AA1-926C-22C4C0DBD29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11 / 22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E82207E2-193A-4E03-AB6E-2237DBF9FACF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594566E-A6F3-4925-84AC-96F8CFEAE9B5}"/>
              </a:ext>
            </a:extLst>
          </p:cNvPr>
          <p:cNvSpPr>
            <a:spLocks noGrp="1"/>
          </p:cNvSpPr>
          <p:nvPr/>
        </p:nvSpPr>
        <p:spPr>
          <a:xfrm>
            <a:off x="704850" y="23431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B0045BDF-C77C-4A9F-9FA8-803082AA31D8}"/>
              </a:ext>
            </a:extLst>
          </p:cNvPr>
          <p:cNvSpPr>
            <a:spLocks noGrp="1"/>
          </p:cNvSpPr>
          <p:nvPr/>
        </p:nvSpPr>
        <p:spPr>
          <a:xfrm>
            <a:off x="1314450" y="23241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政府統計、公會報告：主計總處、經濟部統計處、勞動部——最可信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88DCA1C7-4208-48A0-9D4E-29C4759ACBD1}"/>
              </a:ext>
            </a:extLst>
          </p:cNvPr>
          <p:cNvSpPr>
            <a:spLocks noGrp="1"/>
          </p:cNvSpPr>
          <p:nvPr/>
        </p:nvSpPr>
        <p:spPr>
          <a:xfrm>
            <a:off x="1314450" y="2924175"/>
            <a:ext cx="1026795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E4991A01-EB57-49D8-9BBE-3FCEA17DEC54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12027EF0-505D-4AD9-971A-E8FDA3173F00}"/>
              </a:ext>
            </a:extLst>
          </p:cNvPr>
          <p:cNvSpPr>
            <a:spLocks noGrp="1"/>
          </p:cNvSpPr>
          <p:nvPr/>
        </p:nvSpPr>
        <p:spPr>
          <a:xfrm>
            <a:off x="704850" y="3076575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FCBDC3D4-0D4C-464F-A013-A471C5F5DB4E}"/>
              </a:ext>
            </a:extLst>
          </p:cNvPr>
          <p:cNvSpPr>
            <a:spLocks noGrp="1"/>
          </p:cNvSpPr>
          <p:nvPr/>
        </p:nvSpPr>
        <p:spPr>
          <a:xfrm>
            <a:off x="1314450" y="3057525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產業研究報告：資策會 MIC、商研院、數位時代——可信，看出資者</a:t>
            </a:r>
          </a:p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7A7C0E7E-6F84-4C90-A68C-645818E93D9A}"/>
              </a:ext>
            </a:extLst>
          </p:cNvPr>
          <p:cNvSpPr>
            <a:spLocks noGrp="1"/>
          </p:cNvSpPr>
          <p:nvPr/>
        </p:nvSpPr>
        <p:spPr>
          <a:xfrm>
            <a:off x="1314450" y="3657600"/>
            <a:ext cx="1026795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F606FA28-F89E-4384-9A74-EE4157BC4042}"/>
              </a:ext>
            </a:extLst>
          </p:cNvPr>
          <p:cNvSpPr>
            <a:spLocks noGrp="1"/>
          </p:cNvSpPr>
          <p:nvPr/>
        </p:nvSpPr>
        <p:spPr>
          <a:xfrm>
            <a:off x="609600" y="3771900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7182C62-A964-48F0-BBB7-4654FB345667}"/>
              </a:ext>
            </a:extLst>
          </p:cNvPr>
          <p:cNvSpPr>
            <a:spLocks noGrp="1"/>
          </p:cNvSpPr>
          <p:nvPr/>
        </p:nvSpPr>
        <p:spPr>
          <a:xfrm>
            <a:off x="704850" y="38100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1D2C8157-5EED-4972-84FA-3405219937E2}"/>
              </a:ext>
            </a:extLst>
          </p:cNvPr>
          <p:cNvSpPr>
            <a:spLocks noGrp="1"/>
          </p:cNvSpPr>
          <p:nvPr/>
        </p:nvSpPr>
        <p:spPr>
          <a:xfrm>
            <a:off x="1314450" y="379095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近一年新聞：搜「產業名＋2026」——看它引用了誰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DEB3D928-9103-48FE-BEB9-AAB525A3D489}"/>
              </a:ext>
            </a:extLst>
          </p:cNvPr>
          <p:cNvSpPr>
            <a:spLocks noGrp="1"/>
          </p:cNvSpPr>
          <p:nvPr/>
        </p:nvSpPr>
        <p:spPr>
          <a:xfrm>
            <a:off x="1314450" y="4391025"/>
            <a:ext cx="1026795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64F0CAE7-2608-421F-AC71-1C3BD9D7FAC5}"/>
              </a:ext>
            </a:extLst>
          </p:cNvPr>
          <p:cNvSpPr>
            <a:spLocks noGrp="1"/>
          </p:cNvSpPr>
          <p:nvPr/>
        </p:nvSpPr>
        <p:spPr>
          <a:xfrm>
            <a:off x="609600" y="4505325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E18ACF16-432E-46DF-87CC-66362180CB2E}"/>
              </a:ext>
            </a:extLst>
          </p:cNvPr>
          <p:cNvSpPr>
            <a:spLocks noGrp="1"/>
          </p:cNvSpPr>
          <p:nvPr/>
        </p:nvSpPr>
        <p:spPr>
          <a:xfrm>
            <a:off x="704850" y="4543425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B137A801-4ABA-4B34-BD43-FC43FB34239B}"/>
              </a:ext>
            </a:extLst>
          </p:cNvPr>
          <p:cNvSpPr>
            <a:spLocks noGrp="1"/>
          </p:cNvSpPr>
          <p:nvPr/>
        </p:nvSpPr>
        <p:spPr>
          <a:xfrm>
            <a:off x="1314450" y="4524375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業者訪談影片、Podcast：搜「老闆 訪談 產業名」——原話，樣本小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60CCA0F-4155-48B3-A5CC-FFF42E1F5ED8}"/>
              </a:ext>
            </a:extLst>
          </p:cNvPr>
          <p:cNvSpPr>
            <a:spLocks noGrp="1"/>
          </p:cNvSpPr>
          <p:nvPr/>
        </p:nvSpPr>
        <p:spPr>
          <a:xfrm>
            <a:off x="1314450" y="5124450"/>
            <a:ext cx="1026795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6E6D5A3E-E75B-40B7-AAB1-3CE42A6B2414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8ADF3A3C-87F9-4C2A-9441-2C7823A33019}"/>
              </a:ext>
            </a:extLst>
          </p:cNvPr>
          <p:cNvSpPr>
            <a:spLocks noGrp="1"/>
          </p:cNvSpPr>
          <p:nvPr/>
        </p:nvSpPr>
        <p:spPr>
          <a:xfrm>
            <a:off x="704850" y="52768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EE853A51-FB7E-4696-B708-F309D4B83B99}"/>
              </a:ext>
            </a:extLst>
          </p:cNvPr>
          <p:cNvSpPr>
            <a:spLocks noGrp="1"/>
          </p:cNvSpPr>
          <p:nvPr/>
        </p:nvSpPr>
        <p:spPr>
          <a:xfrm>
            <a:off x="1314450" y="52578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論壇抱怨文：PTT、Dcard、Google 評論——可信度低，但痛最真實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1" name="">
            <a:extLst>
              <a:ext uri="{FF2B5EF4-FFF2-40B4-BE49-F238E27FC236}">
                <a16:creationId xmlns:a16="http://schemas.microsoft.com/office/drawing/2014/main" id="{8814B1AB-A708-463D-BCA9-62BBF766B05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0E469DC-8B6A-455A-8544-6038EB372150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九張產業卡：都是有人在付錢的線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987ED678-6582-47CC-8ECE-D90184EAB85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app 依你 Week 3 普查的題號把最相關的兩張排前面；九張都可選，也可以自己填一個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3FB0A49-91F3-4CAC-A9A3-15D1937610B3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121EC846-19D4-4202-B8AD-BA33F7D1158E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997F8E8-68FD-4DA3-8C4D-0FEE0D6A0C23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12 / 22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F09DED1-3E9E-4B14-904B-7645F2EF77A9}"/>
              </a:ext>
            </a:extLst>
          </p:cNvPr>
          <p:cNvSpPr>
            <a:spLocks noGrp="1"/>
          </p:cNvSpPr>
          <p:nvPr/>
        </p:nvSpPr>
        <p:spPr>
          <a:xfrm>
            <a:off x="628650" y="231457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C9CCA19B-DA36-4E1C-AA16-5520D21E050D}"/>
              </a:ext>
            </a:extLst>
          </p:cNvPr>
          <p:cNvSpPr>
            <a:spLocks noGrp="1"/>
          </p:cNvSpPr>
          <p:nvPr/>
        </p:nvSpPr>
        <p:spPr>
          <a:xfrm>
            <a:off x="1085850" y="22383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1 餐飲小店　　2 零工與臨時人力　　3 網拍與小品牌電商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03F9287-4810-43E9-B75B-F3D6F55FB1F1}"/>
              </a:ext>
            </a:extLst>
          </p:cNvPr>
          <p:cNvSpPr>
            <a:spLocks noGrp="1"/>
          </p:cNvSpPr>
          <p:nvPr/>
        </p:nvSpPr>
        <p:spPr>
          <a:xfrm>
            <a:off x="628650" y="285750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D95D37CA-5A02-4321-BEC7-D57741D66A22}"/>
              </a:ext>
            </a:extLst>
          </p:cNvPr>
          <p:cNvSpPr>
            <a:spLocks noGrp="1"/>
          </p:cNvSpPr>
          <p:nvPr/>
        </p:nvSpPr>
        <p:spPr>
          <a:xfrm>
            <a:off x="1085850" y="27813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4 旅宿與空間出租　　5 健身與運動服務　　6 在地小型服務業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5977A7AB-2E6D-4A61-8127-FEBF350790E8}"/>
              </a:ext>
            </a:extLst>
          </p:cNvPr>
          <p:cNvSpPr>
            <a:spLocks noGrp="1"/>
          </p:cNvSpPr>
          <p:nvPr/>
        </p:nvSpPr>
        <p:spPr>
          <a:xfrm>
            <a:off x="628650" y="340042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08A375F9-ED04-4364-B44C-40FCBDA24749}"/>
              </a:ext>
            </a:extLst>
          </p:cNvPr>
          <p:cNvSpPr>
            <a:spLocks noGrp="1"/>
          </p:cNvSpPr>
          <p:nvPr/>
        </p:nvSpPr>
        <p:spPr>
          <a:xfrm>
            <a:off x="1085850" y="332422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7 長照與銀髮服務（家屬端）　　8 寵物服務　　9 二手與租借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A03FFED-24D3-4EA6-9F40-56F24BF5E4F0}"/>
              </a:ext>
            </a:extLst>
          </p:cNvPr>
          <p:cNvSpPr>
            <a:spLocks noGrp="1"/>
          </p:cNvSpPr>
          <p:nvPr/>
        </p:nvSpPr>
        <p:spPr>
          <a:xfrm>
            <a:off x="628650" y="394335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95014F-654E-4514-9F8B-AE80342684F5}"/>
              </a:ext>
            </a:extLst>
          </p:cNvPr>
          <p:cNvSpPr>
            <a:spLocks noGrp="1"/>
          </p:cNvSpPr>
          <p:nvPr/>
        </p:nvSpPr>
        <p:spPr>
          <a:xfrm>
            <a:off x="1085850" y="386715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選的標準只有兩條：這條線上已經有人在付錢；你接觸得到業者或客人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BA26016B-DE2B-4C47-9F38-B86019D4A583}"/>
              </a:ext>
            </a:extLst>
          </p:cNvPr>
          <p:cNvSpPr>
            <a:spLocks noGrp="1"/>
          </p:cNvSpPr>
          <p:nvPr/>
        </p:nvSpPr>
        <p:spPr>
          <a:xfrm>
            <a:off x="628650" y="4486275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0A61946-1B30-4F82-8020-4EB887FFFF31}"/>
              </a:ext>
            </a:extLst>
          </p:cNvPr>
          <p:cNvSpPr>
            <a:spLocks noGrp="1"/>
          </p:cNvSpPr>
          <p:nvPr/>
        </p:nvSpPr>
        <p:spPr>
          <a:xfrm>
            <a:off x="1085850" y="44100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原題在不可用名單（早八、記帳、抽菸場所、個人搶票）的同學直接改選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093DA355-6759-43A9-A95D-4361AA6A47BF}"/>
              </a:ext>
            </a:extLst>
          </p:cNvPr>
          <p:cNvSpPr>
            <a:spLocks noGrp="1"/>
          </p:cNvSpPr>
          <p:nvPr/>
        </p:nvSpPr>
        <p:spPr>
          <a:xfrm>
            <a:off x="628650" y="5029200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7377CCEB-8EAD-44CB-B435-B378C176210E}"/>
              </a:ext>
            </a:extLst>
          </p:cNvPr>
          <p:cNvSpPr>
            <a:spLocks noGrp="1"/>
          </p:cNvSpPr>
          <p:nvPr/>
        </p:nvSpPr>
        <p:spPr>
          <a:xfrm>
            <a:off x="1085850" y="49530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Week 3 的訪談經驗跟著你過去，不用重做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72DB212D-DCE9-4747-B435-0D67F2CC0D5D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972800" cy="485775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FE6C6B1-030D-4F0E-8E52-EDA429C81544}"/>
              </a:ext>
            </a:extLst>
          </p:cNvPr>
          <p:cNvSpPr>
            <a:spLocks noGrp="1"/>
          </p:cNvSpPr>
          <p:nvPr/>
        </p:nvSpPr>
        <p:spPr>
          <a:xfrm>
            <a:off x="800100" y="5715000"/>
            <a:ext cx="105251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選完按「存」。課後還可以改，但出席只看課堂兩題。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18" name="">
            <a:extLst>
              <a:ext uri="{FF2B5EF4-FFF2-40B4-BE49-F238E27FC236}">
                <a16:creationId xmlns:a16="http://schemas.microsoft.com/office/drawing/2014/main" id="{D1FF9B12-42DF-4CE9-BF0D-741F41A8CDF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A5381029-2582-4954-BADA-5AC2133D493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課堂兩題：上課時段內答完＝出席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D6027C06-BE95-40B4-8221-2F0AF12260A3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在研究頁最上面；上課日 13:30–18:00 內存檔才算課中，之後補答算課後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99C9D1FA-BBBD-4DCF-865A-F25A23A281C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0C117AE-379A-41E5-8F5C-334AB9BEFB5D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5A6B6E40-3AD0-44CE-BE66-94CF93864EF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13 / 22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FE5F87A7-5C09-4184-9C9E-5072096B7FFD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5372100" cy="2933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19235E3-A4B4-4386-9211-141AF1C6C79F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5372100" cy="600075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B97E1725-E6E1-4C0B-90A6-0AE7474D1471}"/>
              </a:ext>
            </a:extLst>
          </p:cNvPr>
          <p:cNvSpPr>
            <a:spLocks noGrp="1"/>
          </p:cNvSpPr>
          <p:nvPr/>
        </p:nvSpPr>
        <p:spPr>
          <a:xfrm>
            <a:off x="847725" y="2447925"/>
            <a:ext cx="48577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Q1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29C3086-7718-47B4-AB17-A75CAE41CE55}"/>
              </a:ext>
            </a:extLst>
          </p:cNvPr>
          <p:cNvSpPr>
            <a:spLocks noGrp="1"/>
          </p:cNvSpPr>
          <p:nvPr/>
        </p:nvSpPr>
        <p:spPr>
          <a:xfrm>
            <a:off x="847725" y="3267075"/>
            <a:ext cx="488632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Bhidé 訪談 Inc. 500 創辦人，</a:t>
            </a:r>
          </a:p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發現大多數點子從哪來？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3E6DD5C0-71D2-499D-BFCE-51756BB46D48}"/>
              </a:ext>
            </a:extLst>
          </p:cNvPr>
          <p:cNvSpPr>
            <a:spLocks noGrp="1"/>
          </p:cNvSpPr>
          <p:nvPr/>
        </p:nvSpPr>
        <p:spPr>
          <a:xfrm>
            <a:off x="847725" y="4657725"/>
            <a:ext cx="48863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一句話說這跟你 Week 1 的起點卡有什麼關係。（講義第 1 頁）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40365797-818B-4385-9DF7-D37377C44469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5372100" cy="29337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92F980E-26CA-487C-A734-C04546AC0497}"/>
              </a:ext>
            </a:extLst>
          </p:cNvPr>
          <p:cNvSpPr>
            <a:spLocks noGrp="1"/>
          </p:cNvSpPr>
          <p:nvPr/>
        </p:nvSpPr>
        <p:spPr>
          <a:xfrm>
            <a:off x="6210300" y="2362200"/>
            <a:ext cx="5372100" cy="60007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B6C4D193-36DB-428B-98D3-173C23A294AC}"/>
              </a:ext>
            </a:extLst>
          </p:cNvPr>
          <p:cNvSpPr>
            <a:spLocks noGrp="1"/>
          </p:cNvSpPr>
          <p:nvPr/>
        </p:nvSpPr>
        <p:spPr>
          <a:xfrm>
            <a:off x="6448425" y="2447925"/>
            <a:ext cx="48577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Q2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01A9483F-8891-4CB3-B394-A511CCCC90A6}"/>
              </a:ext>
            </a:extLst>
          </p:cNvPr>
          <p:cNvSpPr>
            <a:spLocks noGrp="1"/>
          </p:cNvSpPr>
          <p:nvPr/>
        </p:nvSpPr>
        <p:spPr>
          <a:xfrm>
            <a:off x="6448425" y="3267075"/>
            <a:ext cx="488632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用六條路徑裡的任何一條，</a:t>
            </a:r>
          </a:p>
          <a:p>
            <a:r>
              <a:rPr sz="24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說出你的痛可能屬於的另一個產業。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4E6C33FC-D249-4056-B1D5-01C7E06142C6}"/>
              </a:ext>
            </a:extLst>
          </p:cNvPr>
          <p:cNvSpPr>
            <a:spLocks noGrp="1"/>
          </p:cNvSpPr>
          <p:nvPr/>
        </p:nvSpPr>
        <p:spPr>
          <a:xfrm>
            <a:off x="6448425" y="4657725"/>
            <a:ext cx="48863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一句話就好。（講義第 3 頁的表）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E098819-560F-4917-967E-74B954010B31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答完可按「讓 AI 評我的答案」，貼回一句評語——選填、不計分。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16" name="">
            <a:extLst>
              <a:ext uri="{FF2B5EF4-FFF2-40B4-BE49-F238E27FC236}">
                <a16:creationId xmlns:a16="http://schemas.microsoft.com/office/drawing/2014/main" id="{5BB8D3BC-6F9C-4FF6-9408-22B5502B82D8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CDE94B8-638C-45EE-88C9-E792C8FC43C7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卡 1 問 AI：這一行的錢流與困難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DACACF9F-5FEB-48CE-B65C-931C79168A18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按「複製問題、開我的 AI 工具」，貼上送出；Gemini、ChatGPT、Claude、Copilot 都行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B18BBCC-0F37-4529-8B9C-0F6B5ADCE388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87DC4C18-141E-42C6-965D-54526F9A5CB3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B279D397-E385-497D-A18F-C21B86E8D38A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14 / 22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FE61CC-952C-4C65-A7AE-3F920868120B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429375" cy="30194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87147BF-0043-4F18-8B38-7B983C2F57C9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6675" cy="301942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78612AE4-051D-4B58-90C9-DD2C0CD26416}"/>
              </a:ext>
            </a:extLst>
          </p:cNvPr>
          <p:cNvSpPr>
            <a:spLocks noGrp="1"/>
          </p:cNvSpPr>
          <p:nvPr/>
        </p:nvSpPr>
        <p:spPr>
          <a:xfrm>
            <a:off x="904875" y="2590800"/>
            <a:ext cx="5810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問題長這樣（app 已填好，不用打字）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CE7E2415-B7F2-46A0-ABCC-812EFEFB1908}"/>
              </a:ext>
            </a:extLst>
          </p:cNvPr>
          <p:cNvSpPr>
            <a:spLocks noGrp="1"/>
          </p:cNvSpPr>
          <p:nvPr/>
        </p:nvSpPr>
        <p:spPr>
          <a:xfrm>
            <a:off x="904875" y="3162300"/>
            <a:ext cx="5857875" cy="1962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〔產業〕顧問，我觀察到〔那一句〕</a:t>
            </a:r>
          </a:p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(1) 誰付錢給誰、多久、多少</a:t>
            </a:r>
          </a:p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(2) 業者最常說的三到五個困難</a:t>
            </a:r>
          </a:p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(3) 現在用什麼撐著、花多少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24799F11-198E-4930-97B7-EF417B4A782E}"/>
              </a:ext>
            </a:extLst>
          </p:cNvPr>
          <p:cNvSpPr>
            <a:spLocks noGrp="1"/>
          </p:cNvSpPr>
          <p:nvPr/>
        </p:nvSpPr>
        <p:spPr>
          <a:xfrm>
            <a:off x="7620000" y="2428875"/>
            <a:ext cx="3790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追問一次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E5A198EC-FC68-4F5C-B41F-E58C672D19AA}"/>
              </a:ext>
            </a:extLst>
          </p:cNvPr>
          <p:cNvSpPr>
            <a:spLocks noGrp="1"/>
          </p:cNvSpPr>
          <p:nvPr/>
        </p:nvSpPr>
        <p:spPr>
          <a:xfrm>
            <a:off x="7620000" y="3019425"/>
            <a:ext cx="3771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哪一個困難是業者最常花錢想解決的？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964E6F1-EA1D-4F56-BAA8-5C25D5B60944}"/>
              </a:ext>
            </a:extLst>
          </p:cNvPr>
          <p:cNvSpPr>
            <a:spLocks noGrp="1"/>
          </p:cNvSpPr>
          <p:nvPr/>
        </p:nvSpPr>
        <p:spPr>
          <a:xfrm>
            <a:off x="7620000" y="3695700"/>
            <a:ext cx="38100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B1313E54-D23D-4157-9535-75F603A09CB7}"/>
              </a:ext>
            </a:extLst>
          </p:cNvPr>
          <p:cNvSpPr>
            <a:spLocks noGrp="1"/>
          </p:cNvSpPr>
          <p:nvPr/>
        </p:nvSpPr>
        <p:spPr>
          <a:xfrm>
            <a:off x="7620000" y="3990975"/>
            <a:ext cx="37814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數字寫出處或標「估計」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4E31BAE5-9506-44AE-9F47-956A8D560815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7156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貼回卡 1，來源選「Gemini 說」或「GPT 說」。先存，再做卡 2。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894198F7-83D4-49B9-B014-ED1938DE842A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77D4656-B699-4AD3-93C2-8029CD16F4A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卡 2 NotebookLM 查證：老師帶著做一次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0594E1D1-B418-4737-B5F9-AECD926DA88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這張卡只能用 NotebookLM；每一點後面留（來源：XX）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B30CD637-8467-4304-A625-2AEECA5B0D85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8C4DF5D-D4B6-4E69-BC4A-E5C5908A2BED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16930E8F-383A-4F8D-A549-AC52ED848497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15 / 22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E9E04D7-6B3D-4F5C-A3A9-6A8A9E4572BB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457200" cy="45720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2EC9061A-3CF6-412B-9BE4-5AEB8ACEC2B4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599EA4C-FF67-4BCA-A109-6A5B6DE43B0A}"/>
              </a:ext>
            </a:extLst>
          </p:cNvPr>
          <p:cNvSpPr>
            <a:spLocks noGrp="1"/>
          </p:cNvSpPr>
          <p:nvPr/>
        </p:nvSpPr>
        <p:spPr>
          <a:xfrm>
            <a:off x="1381125" y="24765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新建筆記本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33F4DD03-9A6F-467F-A735-75DA093A6128}"/>
              </a:ext>
            </a:extLst>
          </p:cNvPr>
          <p:cNvSpPr>
            <a:spLocks noGrp="1"/>
          </p:cNvSpPr>
          <p:nvPr/>
        </p:nvSpPr>
        <p:spPr>
          <a:xfrm>
            <a:off x="4695825" y="238125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notebooklm.google.com → 新建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D0ABE812-9CCE-4771-B793-DEEF63DB334E}"/>
              </a:ext>
            </a:extLst>
          </p:cNvPr>
          <p:cNvSpPr>
            <a:spLocks noGrp="1"/>
          </p:cNvSpPr>
          <p:nvPr/>
        </p:nvSpPr>
        <p:spPr>
          <a:xfrm>
            <a:off x="4695825" y="285750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取名「〔產業〕研究」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6CFEF638-4578-4E18-A983-2CD7BBECE664}"/>
              </a:ext>
            </a:extLst>
          </p:cNvPr>
          <p:cNvSpPr>
            <a:spLocks noGrp="1"/>
          </p:cNvSpPr>
          <p:nvPr/>
        </p:nvSpPr>
        <p:spPr>
          <a:xfrm>
            <a:off x="1381125" y="3390900"/>
            <a:ext cx="102012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88DEDAB4-3410-4DFB-B45E-21093285DC29}"/>
              </a:ext>
            </a:extLst>
          </p:cNvPr>
          <p:cNvSpPr>
            <a:spLocks noGrp="1"/>
          </p:cNvSpPr>
          <p:nvPr/>
        </p:nvSpPr>
        <p:spPr>
          <a:xfrm>
            <a:off x="609600" y="3733800"/>
            <a:ext cx="457200" cy="457200"/>
          </a:xfrm>
          <a:prstGeom prst="ellipse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2F55AD4-312E-40BE-8405-29F4DBF3C7CD}"/>
              </a:ext>
            </a:extLst>
          </p:cNvPr>
          <p:cNvSpPr>
            <a:spLocks noGrp="1"/>
          </p:cNvSpPr>
          <p:nvPr/>
        </p:nvSpPr>
        <p:spPr>
          <a:xfrm>
            <a:off x="704850" y="377190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1CF083D0-1400-4ADC-BBBB-D83170A93F53}"/>
              </a:ext>
            </a:extLst>
          </p:cNvPr>
          <p:cNvSpPr>
            <a:spLocks noGrp="1"/>
          </p:cNvSpPr>
          <p:nvPr/>
        </p:nvSpPr>
        <p:spPr>
          <a:xfrm>
            <a:off x="1381125" y="367665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加 5–8 個來源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5FF9CB42-8351-4870-83D3-39F83544CE1A}"/>
              </a:ext>
            </a:extLst>
          </p:cNvPr>
          <p:cNvSpPr>
            <a:spLocks noGrp="1"/>
          </p:cNvSpPr>
          <p:nvPr/>
        </p:nvSpPr>
        <p:spPr>
          <a:xfrm>
            <a:off x="4695825" y="358140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五層各至少一個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E0780AF1-E146-481C-BBA1-1B66A161CC86}"/>
              </a:ext>
            </a:extLst>
          </p:cNvPr>
          <p:cNvSpPr>
            <a:spLocks noGrp="1"/>
          </p:cNvSpPr>
          <p:nvPr/>
        </p:nvSpPr>
        <p:spPr>
          <a:xfrm>
            <a:off x="4695825" y="405765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貼網址、上傳 PDF、貼 YouTube 都行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65F52A88-2729-4AA8-969A-05036BD3EC9D}"/>
              </a:ext>
            </a:extLst>
          </p:cNvPr>
          <p:cNvSpPr>
            <a:spLocks noGrp="1"/>
          </p:cNvSpPr>
          <p:nvPr/>
        </p:nvSpPr>
        <p:spPr>
          <a:xfrm>
            <a:off x="1381125" y="4591050"/>
            <a:ext cx="102012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22A1850A-3AA6-4697-82D3-07C737CCAC4E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457200" cy="45720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6D381400-56EE-4745-832F-98B10DA7CE86}"/>
              </a:ext>
            </a:extLst>
          </p:cNvPr>
          <p:cNvSpPr>
            <a:spLocks noGrp="1"/>
          </p:cNvSpPr>
          <p:nvPr/>
        </p:nvSpPr>
        <p:spPr>
          <a:xfrm>
            <a:off x="704850" y="4972050"/>
            <a:ext cx="381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DFE1E411-0E18-47D7-B903-0FC5796953C8}"/>
              </a:ext>
            </a:extLst>
          </p:cNvPr>
          <p:cNvSpPr>
            <a:spLocks noGrp="1"/>
          </p:cNvSpPr>
          <p:nvPr/>
        </p:nvSpPr>
        <p:spPr>
          <a:xfrm>
            <a:off x="1381125" y="4876800"/>
            <a:ext cx="3000375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貼六題、要引用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B0C933AB-3307-4C37-8E26-A9F979169F9A}"/>
              </a:ext>
            </a:extLst>
          </p:cNvPr>
          <p:cNvSpPr>
            <a:spLocks noGrp="1"/>
          </p:cNvSpPr>
          <p:nvPr/>
        </p:nvSpPr>
        <p:spPr>
          <a:xfrm>
            <a:off x="4695825" y="4781550"/>
            <a:ext cx="6715125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一題一題問，每個答案要有引用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E1963D10-9201-4BF7-9F5D-46E0BE45C085}"/>
              </a:ext>
            </a:extLst>
          </p:cNvPr>
          <p:cNvSpPr>
            <a:spLocks noGrp="1"/>
          </p:cNvSpPr>
          <p:nvPr/>
        </p:nvSpPr>
        <p:spPr>
          <a:xfrm>
            <a:off x="4695825" y="5257800"/>
            <a:ext cx="67151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沒引用＝回去補來源，不是抄下來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1" name="">
            <a:extLst>
              <a:ext uri="{FF2B5EF4-FFF2-40B4-BE49-F238E27FC236}">
                <a16:creationId xmlns:a16="http://schemas.microsoft.com/office/drawing/2014/main" id="{8814B1AB-A708-463D-BCA9-62BBF766B05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0E469DC-8B6A-455A-8544-6038EB372150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NotebookLM 的六題階梯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987ED678-6582-47CC-8ECE-D90184EAB85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從大到小、從現況到變化；答案貼回卡 2 時每點留（來源：XX）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3FB0A49-91F3-4CAC-A9A3-15D1937610B3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121EC846-19D4-4202-B8AD-BA33F7D1158E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997F8E8-68FD-4DA3-8C4D-0FEE0D6A0C23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16 / 22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F09DED1-3E9E-4B14-904B-7645F2EF77A9}"/>
              </a:ext>
            </a:extLst>
          </p:cNvPr>
          <p:cNvSpPr>
            <a:spLocks noGrp="1"/>
          </p:cNvSpPr>
          <p:nvPr/>
        </p:nvSpPr>
        <p:spPr>
          <a:xfrm>
            <a:off x="628650" y="231457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C9CCA19B-DA36-4E1C-AA16-5520D21E050D}"/>
              </a:ext>
            </a:extLst>
          </p:cNvPr>
          <p:cNvSpPr>
            <a:spLocks noGrp="1"/>
          </p:cNvSpPr>
          <p:nvPr/>
        </p:nvSpPr>
        <p:spPr>
          <a:xfrm>
            <a:off x="1085850" y="22383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① 這一行在台灣有多大？多少家、多少人、多少錢？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03F9287-4810-43E9-B75B-F3D6F55FB1F1}"/>
              </a:ext>
            </a:extLst>
          </p:cNvPr>
          <p:cNvSpPr>
            <a:spLocks noGrp="1"/>
          </p:cNvSpPr>
          <p:nvPr/>
        </p:nvSpPr>
        <p:spPr>
          <a:xfrm>
            <a:off x="628650" y="285750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D95D37CA-5A02-4321-BEC7-D57741D66A22}"/>
              </a:ext>
            </a:extLst>
          </p:cNvPr>
          <p:cNvSpPr>
            <a:spLocks noGrp="1"/>
          </p:cNvSpPr>
          <p:nvPr/>
        </p:nvSpPr>
        <p:spPr>
          <a:xfrm>
            <a:off x="1085850" y="27813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② 誰在賺錢？錢從誰手上流到誰手上？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5977A7AB-2E6D-4A61-8127-FEBF350790E8}"/>
              </a:ext>
            </a:extLst>
          </p:cNvPr>
          <p:cNvSpPr>
            <a:spLocks noGrp="1"/>
          </p:cNvSpPr>
          <p:nvPr/>
        </p:nvSpPr>
        <p:spPr>
          <a:xfrm>
            <a:off x="628650" y="340042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08A375F9-ED04-4364-B44C-40FCBDA24749}"/>
              </a:ext>
            </a:extLst>
          </p:cNvPr>
          <p:cNvSpPr>
            <a:spLocks noGrp="1"/>
          </p:cNvSpPr>
          <p:nvPr/>
        </p:nvSpPr>
        <p:spPr>
          <a:xfrm>
            <a:off x="1085850" y="332422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③ 業者最常被抱怨、自己最常抱怨的三件事？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A03FFED-24D3-4EA6-9F40-56F24BF5E4F0}"/>
              </a:ext>
            </a:extLst>
          </p:cNvPr>
          <p:cNvSpPr>
            <a:spLocks noGrp="1"/>
          </p:cNvSpPr>
          <p:nvPr/>
        </p:nvSpPr>
        <p:spPr>
          <a:xfrm>
            <a:off x="628650" y="394335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95014F-654E-4514-9F8B-AE80342684F5}"/>
              </a:ext>
            </a:extLst>
          </p:cNvPr>
          <p:cNvSpPr>
            <a:spLocks noGrp="1"/>
          </p:cNvSpPr>
          <p:nvPr/>
        </p:nvSpPr>
        <p:spPr>
          <a:xfrm>
            <a:off x="1085850" y="386715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④ 過去三年什麼變了？（缺工、平台、法規、AI）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BA26016B-DE2B-4C47-9F38-B86019D4A583}"/>
              </a:ext>
            </a:extLst>
          </p:cNvPr>
          <p:cNvSpPr>
            <a:spLocks noGrp="1"/>
          </p:cNvSpPr>
          <p:nvPr/>
        </p:nvSpPr>
        <p:spPr>
          <a:xfrm>
            <a:off x="628650" y="4486275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0A61946-1B30-4F82-8020-4EB887FFFF31}"/>
              </a:ext>
            </a:extLst>
          </p:cNvPr>
          <p:cNvSpPr>
            <a:spLocks noGrp="1"/>
          </p:cNvSpPr>
          <p:nvPr/>
        </p:nvSpPr>
        <p:spPr>
          <a:xfrm>
            <a:off x="1085850" y="44100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⑤ 有人試過解決嗎？結果如何？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093DA355-6759-43A9-A95D-4361AA6A47BF}"/>
              </a:ext>
            </a:extLst>
          </p:cNvPr>
          <p:cNvSpPr>
            <a:spLocks noGrp="1"/>
          </p:cNvSpPr>
          <p:nvPr/>
        </p:nvSpPr>
        <p:spPr>
          <a:xfrm>
            <a:off x="628650" y="5029200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7377CCEB-8EAD-44CB-B435-B378C176210E}"/>
              </a:ext>
            </a:extLst>
          </p:cNvPr>
          <p:cNvSpPr>
            <a:spLocks noGrp="1"/>
          </p:cNvSpPr>
          <p:nvPr/>
        </p:nvSpPr>
        <p:spPr>
          <a:xfrm>
            <a:off x="1085850" y="49530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⑥ 台灣跟國外差在哪？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72DB212D-DCE9-4747-B435-0D67F2CC0D5D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972800" cy="485775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FE6C6B1-030D-4F0E-8E52-EDA429C81544}"/>
              </a:ext>
            </a:extLst>
          </p:cNvPr>
          <p:cNvSpPr>
            <a:spLocks noGrp="1"/>
          </p:cNvSpPr>
          <p:nvPr/>
        </p:nvSpPr>
        <p:spPr>
          <a:xfrm>
            <a:off x="800100" y="5715000"/>
            <a:ext cx="105251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六題都有引用，卡 2 才算完成；卡 3 會自動把這些證據附在問題後面。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16" name="">
            <a:extLst>
              <a:ext uri="{FF2B5EF4-FFF2-40B4-BE49-F238E27FC236}">
                <a16:creationId xmlns:a16="http://schemas.microsoft.com/office/drawing/2014/main" id="{FAD2CC10-49A9-4B2F-A703-CFEEA1744905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5D6271D0-F42F-410F-8C54-D04BF509A81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卡 3 問 AI：要三個機會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CF9C021-668F-4EC2-B07A-968DC09FE65A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app 會把卡 2 有來源的困難自動附在問題後面；沒做卡 2 會被擋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7B432BB0-E85A-4B0B-9ED0-9F8DA0A12774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6F79744F-70CA-4C57-B905-36B2B1147498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E17F4AE-5BC6-4D0B-9AEF-89BB49383766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17 / 22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050C16C1-4F34-4C61-A4CE-D19D4A8D8522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429375" cy="30194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5EF92AF1-462B-4BBA-9616-A393CA3B2934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66675" cy="3019425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C1A52D7E-E401-4F1A-912A-DD72A311A838}"/>
              </a:ext>
            </a:extLst>
          </p:cNvPr>
          <p:cNvSpPr>
            <a:spLocks noGrp="1"/>
          </p:cNvSpPr>
          <p:nvPr/>
        </p:nvSpPr>
        <p:spPr>
          <a:xfrm>
            <a:off x="904875" y="2590800"/>
            <a:ext cx="5810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問題長這樣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C2659FCB-3F76-4A54-B0C6-739F0F74006E}"/>
              </a:ext>
            </a:extLst>
          </p:cNvPr>
          <p:cNvSpPr>
            <a:spLocks noGrp="1"/>
          </p:cNvSpPr>
          <p:nvPr/>
        </p:nvSpPr>
        <p:spPr>
          <a:xfrm>
            <a:off x="904875" y="3162300"/>
            <a:ext cx="5857875" cy="1962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根據以下有來源的困難，</a:t>
            </a:r>
          </a:p>
          <a:p>
            <a:r>
              <a:rPr sz="27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列三個適合小團隊切入的機會。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7C18F928-A58F-4CEC-B00E-8B67AECA04F5}"/>
              </a:ext>
            </a:extLst>
          </p:cNvPr>
          <p:cNvSpPr>
            <a:spLocks noGrp="1"/>
          </p:cNvSpPr>
          <p:nvPr/>
        </p:nvSpPr>
        <p:spPr>
          <a:xfrm>
            <a:off x="7620000" y="2428875"/>
            <a:ext cx="37909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每個機會要寫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A261E7D-3F50-4CDF-BA4D-9BDCEA023C9F}"/>
              </a:ext>
            </a:extLst>
          </p:cNvPr>
          <p:cNvSpPr>
            <a:spLocks noGrp="1"/>
          </p:cNvSpPr>
          <p:nvPr/>
        </p:nvSpPr>
        <p:spPr>
          <a:xfrm>
            <a:off x="7620000" y="3019425"/>
            <a:ext cx="37719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解誰的哪個困難？第一個會付錢的人是誰？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39D6E7C0-AA95-4301-9EC4-3A9BBA345C59}"/>
              </a:ext>
            </a:extLst>
          </p:cNvPr>
          <p:cNvSpPr>
            <a:spLocks noGrp="1"/>
          </p:cNvSpPr>
          <p:nvPr/>
        </p:nvSpPr>
        <p:spPr>
          <a:xfrm>
            <a:off x="7620000" y="3695700"/>
            <a:ext cx="38100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2BF70FB-348E-42A6-8EB7-2452D5ED2731}"/>
              </a:ext>
            </a:extLst>
          </p:cNvPr>
          <p:cNvSpPr>
            <a:spLocks noGrp="1"/>
          </p:cNvSpPr>
          <p:nvPr/>
        </p:nvSpPr>
        <p:spPr>
          <a:xfrm>
            <a:off x="7620000" y="3990975"/>
            <a:ext cx="378142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現在他付錢給誰？</a:t>
            </a:r>
          </a:p>
          <a:p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為什麼是現在（AI、法規、行為改變）？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9399EBA7-F7A6-4CBC-8E46-A7A6B884886E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715625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1D3A5F"/>
                </a:solidFill>
                <a:latin typeface="PingFang TC"/>
                <a:ea typeface="PingFang TC"/>
                <a:cs typeface="PingFang TC"/>
              </a:rPr>
              <a:t>不要給「做 App 或平台」的答案，除非你能說出第一個付錢的人。三個機會各寫一行 A／B／C 貼回。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">
            <a:extLst>
              <a:ext uri="{FF2B5EF4-FFF2-40B4-BE49-F238E27FC236}">
                <a16:creationId xmlns:a16="http://schemas.microsoft.com/office/drawing/2014/main" id="{D99C096F-6EB5-41EA-B969-490BF1A5FE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F945F193-D6A2-4A5E-BD73-6B69757A3820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E0DE06-5026-47E2-9F71-7631AE1BDAE2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Gemini 說 vs NotebookLM 查到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E0ED7F9D-7CE4-45F4-B7CB-9761EE5DF65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貼回 app 時一定要標來源；老師看的是來源比例，不是 AI 寫得多漂亮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A2DC1420-12C3-4916-8E72-AE7443D5B25C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2F07DDDE-8D75-462F-91D5-4B36B43575EE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C5FE7A55-B727-4B6F-9EE2-D39F3300B62E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18 / 22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E25F88BD-8320-4506-A81F-3D2EC6975FE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Gemini／GPT 說（發散）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993229B-BD18-4B58-BFFD-54C5C43644DE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快、廣、會舉例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會編數字、把猜測講得很肯定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用在卡 1、卡 3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有數字 → 寫出處或標「估計」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2A462A0-899F-4C1D-9C7C-25D4058895FB}"/>
              </a:ext>
            </a:extLst>
          </p:cNvPr>
          <p:cNvSpPr>
            <a:spLocks noGrp="1"/>
          </p:cNvSpPr>
          <p:nvPr/>
        </p:nvSpPr>
        <p:spPr>
          <a:xfrm>
            <a:off x="5953125" y="2428875"/>
            <a:ext cx="38100" cy="29527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B13E5783-0243-4D15-B1DC-FFBD06FE9F16}"/>
              </a:ext>
            </a:extLst>
          </p:cNvPr>
          <p:cNvSpPr>
            <a:spLocks noGrp="1"/>
          </p:cNvSpPr>
          <p:nvPr/>
        </p:nvSpPr>
        <p:spPr>
          <a:xfrm>
            <a:off x="6572250" y="2428875"/>
            <a:ext cx="4476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4395B"/>
                </a:solidFill>
                <a:latin typeface="PingFang TC"/>
                <a:ea typeface="PingFang TC"/>
                <a:cs typeface="PingFang TC"/>
              </a:rPr>
              <a:t>NotebookLM 查到（有引用）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204B0874-5189-41D9-9F8F-D809113B0CB0}"/>
              </a:ext>
            </a:extLst>
          </p:cNvPr>
          <p:cNvSpPr>
            <a:spLocks noGrp="1"/>
          </p:cNvSpPr>
          <p:nvPr/>
        </p:nvSpPr>
        <p:spPr>
          <a:xfrm>
            <a:off x="6572250" y="3000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只根據你餵的來源回答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每句點得回原文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用在卡 2</a:t>
            </a:r>
          </a:p>
          <a:p>
            <a:r>
              <a:rPr sz="165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• 沒餵來源就沒答案，慢但不編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5A63A13F-D1D5-4F06-BFE8-CD5525CCAD8B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一條有來源的證據，勝過十句 AI。期中看的是：每個主張有沒有來源。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31" name="">
            <a:extLst>
              <a:ext uri="{FF2B5EF4-FFF2-40B4-BE49-F238E27FC236}">
                <a16:creationId xmlns:a16="http://schemas.microsoft.com/office/drawing/2014/main" id="{68EB7237-7F7B-4EBB-8147-7D3116DA24B3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3A4D602-346A-48B7-AE99-FAAAA326895A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一個好機會要答得出四個問題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EB9EFF97-9BDD-4B70-A899-0F84C83E79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下週（Week 5）五問計分就從這四格開始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D12C4FFE-AA45-4E84-9A78-83B6155A0076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94862769-381A-4C7F-B6F8-66BEDA67D9A6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682FD63C-1A06-42CE-A2D4-A2173418FE75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19 / 22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27A1CCD5-B26A-4035-801D-C98F40910D30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00BA3D1-834E-4646-9683-131ABCF808E2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66F096E-6BFD-4B19-BFFC-76160372441F}"/>
              </a:ext>
            </a:extLst>
          </p:cNvPr>
          <p:cNvSpPr>
            <a:spLocks noGrp="1"/>
          </p:cNvSpPr>
          <p:nvPr/>
        </p:nvSpPr>
        <p:spPr>
          <a:xfrm>
            <a:off x="8191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9B2C30A9-4597-48FB-9C72-464F020DDEFA}"/>
              </a:ext>
            </a:extLst>
          </p:cNvPr>
          <p:cNvSpPr>
            <a:spLocks noGrp="1"/>
          </p:cNvSpPr>
          <p:nvPr/>
        </p:nvSpPr>
        <p:spPr>
          <a:xfrm>
            <a:off x="15240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解誰的哪個困難？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149FFC90-3B89-4B88-A159-F50282024610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例：早餐店老闆尖峰漏單，不是「餐飲業數位轉型」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C0389E3D-C56E-4707-A449-0AC32CA578CA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CE170350-F5E0-44DF-A0AD-00F684A3D9DC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AD3B1000-E290-49F8-9D0E-0C06A872F305}"/>
              </a:ext>
            </a:extLst>
          </p:cNvPr>
          <p:cNvSpPr>
            <a:spLocks noGrp="1"/>
          </p:cNvSpPr>
          <p:nvPr/>
        </p:nvSpPr>
        <p:spPr>
          <a:xfrm>
            <a:off x="6210300" y="2333625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639B8976-571E-4A1C-849D-D2C3FF78EED3}"/>
              </a:ext>
            </a:extLst>
          </p:cNvPr>
          <p:cNvSpPr>
            <a:spLocks noGrp="1"/>
          </p:cNvSpPr>
          <p:nvPr/>
        </p:nvSpPr>
        <p:spPr>
          <a:xfrm>
            <a:off x="6419850" y="25050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EBA0E952-AD26-4E31-89D8-0E17D9EBCC49}"/>
              </a:ext>
            </a:extLst>
          </p:cNvPr>
          <p:cNvSpPr>
            <a:spLocks noGrp="1"/>
          </p:cNvSpPr>
          <p:nvPr/>
        </p:nvSpPr>
        <p:spPr>
          <a:xfrm>
            <a:off x="7124700" y="2505075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第一個會付錢的人是誰？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27A6A621-6AE2-4020-9522-1EFCDF0C4D22}"/>
              </a:ext>
            </a:extLst>
          </p:cNvPr>
          <p:cNvSpPr>
            <a:spLocks noGrp="1"/>
          </p:cNvSpPr>
          <p:nvPr/>
        </p:nvSpPr>
        <p:spPr>
          <a:xfrm>
            <a:off x="6438900" y="3105150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例：三家分店以上的早餐店老闆，不是「所有餐飲業者」</a:t>
            </a:r>
          </a:p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D5E9FEA-7654-4EFA-8998-C77A9A4BA516}"/>
              </a:ext>
            </a:extLst>
          </p:cNvPr>
          <p:cNvSpPr>
            <a:spLocks noGrp="1"/>
          </p:cNvSpPr>
          <p:nvPr/>
        </p:nvSpPr>
        <p:spPr>
          <a:xfrm>
            <a:off x="6438900" y="3714750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E8F8ED3D-E01B-4FE2-8DDB-B2AFB41A9CE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4AB9F765-1955-4D41-9C88-83F376762D9E}"/>
              </a:ext>
            </a:extLst>
          </p:cNvPr>
          <p:cNvSpPr>
            <a:spLocks noGrp="1"/>
          </p:cNvSpPr>
          <p:nvPr/>
        </p:nvSpPr>
        <p:spPr>
          <a:xfrm>
            <a:off x="6096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45D78E31-998E-4BFA-A554-D824FA379782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DC700C09-5DC7-4A22-AA97-AC16015F50CC}"/>
              </a:ext>
            </a:extLst>
          </p:cNvPr>
          <p:cNvSpPr>
            <a:spLocks noGrp="1"/>
          </p:cNvSpPr>
          <p:nvPr/>
        </p:nvSpPr>
        <p:spPr>
          <a:xfrm>
            <a:off x="15240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現在他付錢給誰？</a:t>
            </a:r>
          </a:p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8668167D-14C4-4575-B53E-7AABB13896ED}"/>
              </a:ext>
            </a:extLst>
          </p:cNvPr>
          <p:cNvSpPr>
            <a:spLocks noGrp="1"/>
          </p:cNvSpPr>
          <p:nvPr/>
        </p:nvSpPr>
        <p:spPr>
          <a:xfrm>
            <a:off x="8382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例：LINE 群免費＋一個人工接單的工讀生；外送平台抽三成</a:t>
            </a:r>
          </a:p>
        </p:txBody>
      </p:sp>
      <p:sp>
        <p:nvSpPr>
          <p:cNvPr id="24" name="">
            <a:extLst>
              <a:ext uri="{FF2B5EF4-FFF2-40B4-BE49-F238E27FC236}">
                <a16:creationId xmlns:a16="http://schemas.microsoft.com/office/drawing/2014/main" id="{50382CE4-25B9-4F93-95EA-C2893B5516BB}"/>
              </a:ext>
            </a:extLst>
          </p:cNvPr>
          <p:cNvSpPr>
            <a:spLocks noGrp="1"/>
          </p:cNvSpPr>
          <p:nvPr/>
        </p:nvSpPr>
        <p:spPr>
          <a:xfrm>
            <a:off x="8382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25" name="">
            <a:extLst>
              <a:ext uri="{FF2B5EF4-FFF2-40B4-BE49-F238E27FC236}">
                <a16:creationId xmlns:a16="http://schemas.microsoft.com/office/drawing/2014/main" id="{0554D802-4E35-4493-A040-EBB9030F3F4E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5372100" cy="16573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p/>
        </p:txBody>
      </p:sp>
      <p:sp>
        <p:nvSpPr>
          <p:cNvPr id="26" name="">
            <a:extLst>
              <a:ext uri="{FF2B5EF4-FFF2-40B4-BE49-F238E27FC236}">
                <a16:creationId xmlns:a16="http://schemas.microsoft.com/office/drawing/2014/main" id="{42E7A137-3813-409A-95BC-2CF6A7879627}"/>
              </a:ext>
            </a:extLst>
          </p:cNvPr>
          <p:cNvSpPr>
            <a:spLocks noGrp="1"/>
          </p:cNvSpPr>
          <p:nvPr/>
        </p:nvSpPr>
        <p:spPr>
          <a:xfrm>
            <a:off x="6210300" y="4248150"/>
            <a:ext cx="47625" cy="165735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27" name="">
            <a:extLst>
              <a:ext uri="{FF2B5EF4-FFF2-40B4-BE49-F238E27FC236}">
                <a16:creationId xmlns:a16="http://schemas.microsoft.com/office/drawing/2014/main" id="{D015D6CB-B4CB-48C3-BF11-5D852A8D654C}"/>
              </a:ext>
            </a:extLst>
          </p:cNvPr>
          <p:cNvSpPr>
            <a:spLocks noGrp="1"/>
          </p:cNvSpPr>
          <p:nvPr/>
        </p:nvSpPr>
        <p:spPr>
          <a:xfrm>
            <a:off x="6419850" y="44196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8" name="">
            <a:extLst>
              <a:ext uri="{FF2B5EF4-FFF2-40B4-BE49-F238E27FC236}">
                <a16:creationId xmlns:a16="http://schemas.microsoft.com/office/drawing/2014/main" id="{6DA70BE6-B36E-447E-BB42-1ACF6D1DC1FE}"/>
              </a:ext>
            </a:extLst>
          </p:cNvPr>
          <p:cNvSpPr>
            <a:spLocks noGrp="1"/>
          </p:cNvSpPr>
          <p:nvPr/>
        </p:nvSpPr>
        <p:spPr>
          <a:xfrm>
            <a:off x="7124700" y="44196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為什麼是現在？</a:t>
            </a:r>
          </a:p>
        </p:txBody>
      </p:sp>
      <p:sp>
        <p:nvSpPr>
          <p:cNvPr id="29" name="">
            <a:extLst>
              <a:ext uri="{FF2B5EF4-FFF2-40B4-BE49-F238E27FC236}">
                <a16:creationId xmlns:a16="http://schemas.microsoft.com/office/drawing/2014/main" id="{70B6D5FA-EA01-4907-A6CB-D4041C18C5ED}"/>
              </a:ext>
            </a:extLst>
          </p:cNvPr>
          <p:cNvSpPr>
            <a:spLocks noGrp="1"/>
          </p:cNvSpPr>
          <p:nvPr/>
        </p:nvSpPr>
        <p:spPr>
          <a:xfrm>
            <a:off x="6438900" y="5019675"/>
            <a:ext cx="4867275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例：缺工、外送普及、AI 語音接單今年變便宜——三者之一要說得出</a:t>
            </a:r>
          </a:p>
        </p:txBody>
      </p:sp>
      <p:sp>
        <p:nvSpPr>
          <p:cNvPr id="30" name="">
            <a:extLst>
              <a:ext uri="{FF2B5EF4-FFF2-40B4-BE49-F238E27FC236}">
                <a16:creationId xmlns:a16="http://schemas.microsoft.com/office/drawing/2014/main" id="{DAE4AA41-CF0B-4EB5-871A-7FD226B0079B}"/>
              </a:ext>
            </a:extLst>
          </p:cNvPr>
          <p:cNvSpPr>
            <a:spLocks noGrp="1"/>
          </p:cNvSpPr>
          <p:nvPr/>
        </p:nvSpPr>
        <p:spPr>
          <a:xfrm>
            <a:off x="6438900" y="5629275"/>
            <a:ext cx="4905375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/>
      <p:sp>
        <p:nvSpPr>
          <p:cNvPr id="11" name="">
            <a:extLst>
              <a:ext uri="{FF2B5EF4-FFF2-40B4-BE49-F238E27FC236}">
                <a16:creationId xmlns:a16="http://schemas.microsoft.com/office/drawing/2014/main" id="{C6D0CAD6-B885-41E3-AC59-A87FF78723F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E70BFE92-9CDB-41C8-93AD-15AA964A3D86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課後：研究筆記 v1（五段）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636A6F80-9E9B-47FA-A237-6F0029F534F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研究頁上線前用 Word 範本寫；上線後直接貼進去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FA9FE16B-105F-4D22-B84C-4EEB432A1492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404040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E034F5BE-21E8-4AD0-85E5-C46B2C6A6E17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388EC3A3-0BCA-4476-BE5D-09FF55247BCC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20 / 22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4015D264-51A9-4F59-BB80-F22B14549689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76200" cy="198120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96DD6C3B-65F4-4D75-95BD-1A5C4AC6B697}"/>
              </a:ext>
            </a:extLst>
          </p:cNvPr>
          <p:cNvSpPr>
            <a:spLocks noGrp="1"/>
          </p:cNvSpPr>
          <p:nvPr/>
        </p:nvSpPr>
        <p:spPr>
          <a:xfrm>
            <a:off x="914400" y="2419350"/>
            <a:ext cx="10287000" cy="2076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① 產業一句話　② 錢流：誰付錢給誰、多少</a:t>
            </a:r>
          </a:p>
          <a:p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③ 三個挑戰（附來源）　④ 三個機會 A／B／C</a:t>
            </a:r>
          </a:p>
          <a:p>
            <a:r>
              <a:rPr sz="3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⑤ 我還不確定的事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CB609C82-52E6-4AA5-82EA-559E40CBB310}"/>
              </a:ext>
            </a:extLst>
          </p:cNvPr>
          <p:cNvSpPr>
            <a:spLocks noGrp="1"/>
          </p:cNvSpPr>
          <p:nvPr/>
        </p:nvSpPr>
        <p:spPr>
          <a:xfrm>
            <a:off x="914400" y="4886325"/>
            <a:ext cx="10287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defRPr>
            </a:pPr>
            <a:r>
              <a:rPr sz="2250" b="0">
                <a:solidFill>
                  <a:srgbClr val="E3B041"/>
                </a:solidFill>
                <a:latin typeface="PingFang TC"/>
                <a:ea typeface="PingFang TC"/>
                <a:cs typeface="PingFang TC"/>
              </a:rPr>
              <a:t>期中 PDF ＝ Week 4 筆記 ＋ Week 5 一頁「為什麼這是好的商業痛點」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018494B6-3A89-4418-8951-FB3F9528344E}"/>
              </a:ext>
            </a:extLst>
          </p:cNvPr>
          <p:cNvSpPr>
            <a:spLocks noGrp="1"/>
          </p:cNvSpPr>
          <p:nvPr/>
        </p:nvSpPr>
        <p:spPr>
          <a:xfrm>
            <a:off x="914400" y="5676900"/>
            <a:ext cx="102870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CBC7C1"/>
                </a:solidFill>
                <a:latin typeface="PingFang TC"/>
                <a:ea typeface="PingFang TC"/>
                <a:cs typeface="PingFang TC"/>
              </a:rPr>
              <a:t>11/13 期中：個人上台＋課前上傳 PDF。本週先把三個機會和來源寫出來，下週比較、選一個。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/>
      <p:sp>
        <p:nvSpPr>
          <p:cNvPr id="21" name="">
            <a:extLst>
              <a:ext uri="{FF2B5EF4-FFF2-40B4-BE49-F238E27FC236}">
                <a16:creationId xmlns:a16="http://schemas.microsoft.com/office/drawing/2014/main" id="{8814B1AB-A708-463D-BCA9-62BBF766B05D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C0E469DC-8B6A-455A-8544-6038EB372150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離堂前清單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987ED678-6582-47CC-8ECE-D90184EAB85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全部在研究頁上；整頁一直開著，沒做完的課後補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53FB0A49-91F3-4CAC-A9A3-15D1937610B3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9D5CF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121EC846-19D4-4202-B8AD-BA33F7D1158E}"/>
              </a:ext>
            </a:extLst>
          </p:cNvPr>
          <p:cNvSpPr>
            <a:spLocks noGrp="1"/>
          </p:cNvSpPr>
          <p:nvPr/>
        </p:nvSpPr>
        <p:spPr>
          <a:xfrm>
            <a:off x="609600" y="6410325"/>
            <a:ext cx="5238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997F8E8-68FD-4DA3-8C4D-0FEE0D6A0C23}"/>
              </a:ext>
            </a:extLst>
          </p:cNvPr>
          <p:cNvSpPr>
            <a:spLocks noGrp="1"/>
          </p:cNvSpPr>
          <p:nvPr/>
        </p:nvSpPr>
        <p:spPr>
          <a:xfrm>
            <a:off x="10668000" y="641032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21 / 22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DF09DED1-3E9E-4B14-904B-7645F2EF77A9}"/>
              </a:ext>
            </a:extLst>
          </p:cNvPr>
          <p:cNvSpPr>
            <a:spLocks noGrp="1"/>
          </p:cNvSpPr>
          <p:nvPr/>
        </p:nvSpPr>
        <p:spPr>
          <a:xfrm>
            <a:off x="628650" y="231457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C9CCA19B-DA36-4E1C-AA16-5520D21E050D}"/>
              </a:ext>
            </a:extLst>
          </p:cNvPr>
          <p:cNvSpPr>
            <a:spLocks noGrp="1"/>
          </p:cNvSpPr>
          <p:nvPr/>
        </p:nvSpPr>
        <p:spPr>
          <a:xfrm>
            <a:off x="1085850" y="22383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課堂兩題已存（上課時段內＝出席）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003F9287-4810-43E9-B75B-F3D6F55FB1F1}"/>
              </a:ext>
            </a:extLst>
          </p:cNvPr>
          <p:cNvSpPr>
            <a:spLocks noGrp="1"/>
          </p:cNvSpPr>
          <p:nvPr/>
        </p:nvSpPr>
        <p:spPr>
          <a:xfrm>
            <a:off x="628650" y="285750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D95D37CA-5A02-4321-BEC7-D57741D66A22}"/>
              </a:ext>
            </a:extLst>
          </p:cNvPr>
          <p:cNvSpPr>
            <a:spLocks noGrp="1"/>
          </p:cNvSpPr>
          <p:nvPr/>
        </p:nvSpPr>
        <p:spPr>
          <a:xfrm>
            <a:off x="1085850" y="27813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選了一條產業線並存檔；原題不可用的已改選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5977A7AB-2E6D-4A61-8127-FEBF350790E8}"/>
              </a:ext>
            </a:extLst>
          </p:cNvPr>
          <p:cNvSpPr>
            <a:spLocks noGrp="1"/>
          </p:cNvSpPr>
          <p:nvPr/>
        </p:nvSpPr>
        <p:spPr>
          <a:xfrm>
            <a:off x="628650" y="3400425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08A375F9-ED04-4364-B44C-40FCBDA24749}"/>
              </a:ext>
            </a:extLst>
          </p:cNvPr>
          <p:cNvSpPr>
            <a:spLocks noGrp="1"/>
          </p:cNvSpPr>
          <p:nvPr/>
        </p:nvSpPr>
        <p:spPr>
          <a:xfrm>
            <a:off x="1085850" y="332422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卡 1 貼回：錢流、三到五個困難、現在怎麼撐著；來源標 Gemini／GPT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9A03FFED-24D3-4EA6-9F40-56F24BF5E4F0}"/>
              </a:ext>
            </a:extLst>
          </p:cNvPr>
          <p:cNvSpPr>
            <a:spLocks noGrp="1"/>
          </p:cNvSpPr>
          <p:nvPr/>
        </p:nvSpPr>
        <p:spPr>
          <a:xfrm>
            <a:off x="628650" y="3943350"/>
            <a:ext cx="228600" cy="228600"/>
          </a:xfrm>
          <a:prstGeom prst="rect">
            <a:avLst/>
          </a:prstGeom>
          <a:noFill/>
          <a:ln w="19050">
            <a:solidFill>
              <a:srgbClr val="1D3A5F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95014F-654E-4514-9F8B-AE80342684F5}"/>
              </a:ext>
            </a:extLst>
          </p:cNvPr>
          <p:cNvSpPr>
            <a:spLocks noGrp="1"/>
          </p:cNvSpPr>
          <p:nvPr/>
        </p:nvSpPr>
        <p:spPr>
          <a:xfrm>
            <a:off x="1085850" y="386715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0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卡 2 貼回：六題都有（來源：XX）；NotebookLM 筆記本留著，下週還要用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BA26016B-DE2B-4C47-9F38-B86019D4A583}"/>
              </a:ext>
            </a:extLst>
          </p:cNvPr>
          <p:cNvSpPr>
            <a:spLocks noGrp="1"/>
          </p:cNvSpPr>
          <p:nvPr/>
        </p:nvSpPr>
        <p:spPr>
          <a:xfrm>
            <a:off x="628650" y="4486275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60A61946-1B30-4F82-8020-4EB887FFFF31}"/>
              </a:ext>
            </a:extLst>
          </p:cNvPr>
          <p:cNvSpPr>
            <a:spLocks noGrp="1"/>
          </p:cNvSpPr>
          <p:nvPr/>
        </p:nvSpPr>
        <p:spPr>
          <a:xfrm>
            <a:off x="1085850" y="4410075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卡 3 貼回：三個機會 A／B／C，各寫得出第一個付錢的人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093DA355-6759-43A9-A95D-4361AA6A47BF}"/>
              </a:ext>
            </a:extLst>
          </p:cNvPr>
          <p:cNvSpPr>
            <a:spLocks noGrp="1"/>
          </p:cNvSpPr>
          <p:nvPr/>
        </p:nvSpPr>
        <p:spPr>
          <a:xfrm>
            <a:off x="628650" y="5029200"/>
            <a:ext cx="228600" cy="228600"/>
          </a:xfrm>
          <a:prstGeom prst="rect">
            <a:avLst/>
          </a:prstGeom>
          <a:noFill/>
          <a:ln w="19050">
            <a:solidFill>
              <a:srgbClr val="E63946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7377CCEB-8EAD-44CB-B435-B378C176210E}"/>
              </a:ext>
            </a:extLst>
          </p:cNvPr>
          <p:cNvSpPr>
            <a:spLocks noGrp="1"/>
          </p:cNvSpPr>
          <p:nvPr/>
        </p:nvSpPr>
        <p:spPr>
          <a:xfrm>
            <a:off x="1085850" y="4953000"/>
            <a:ext cx="10382250" cy="4857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有數字的句子後面都有出處或「估計」</a:t>
            </a:r>
          </a:p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72DB212D-DCE9-4747-B435-0D67F2CC0D5D}"/>
              </a:ext>
            </a:extLst>
          </p:cNvPr>
          <p:cNvSpPr>
            <a:spLocks noGrp="1"/>
          </p:cNvSpPr>
          <p:nvPr/>
        </p:nvSpPr>
        <p:spPr>
          <a:xfrm>
            <a:off x="609600" y="5648325"/>
            <a:ext cx="10972800" cy="485775"/>
          </a:xfrm>
          <a:prstGeom prst="rect">
            <a:avLst/>
          </a:prstGeom>
          <a:solidFill>
            <a:srgbClr val="1D3A5F"/>
          </a:solidFill>
          <a:ln w="0">
            <a:noFill/>
          </a:ln>
        </p:spPr>
        <p:txBody>
          <a:bodyPr/>
          <a:p/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AFE6C6B1-030D-4F0E-8E52-EDA429C81544}"/>
              </a:ext>
            </a:extLst>
          </p:cNvPr>
          <p:cNvSpPr>
            <a:spLocks noGrp="1"/>
          </p:cNvSpPr>
          <p:nvPr/>
        </p:nvSpPr>
        <p:spPr>
          <a:xfrm>
            <a:off x="800100" y="5715000"/>
            <a:ext cx="10525125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課後：研究筆記 v1 五段；下週帶三個機會來比。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" name="">
            <a:extLst>
              <a:ext uri="{FF2B5EF4-FFF2-40B4-BE49-F238E27FC236}">
                <a16:creationId xmlns:a16="http://schemas.microsoft.com/office/drawing/2014/main" id="{482E03A9-F1BB-408B-BE0F-61666E3C36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 w="9525">
            <a:solidFill>
              <a:srgbClr val="F6F3EE"/>
            </a:solidFill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32821D0B-7BB9-4BEA-8568-4AEA506F821E}"/>
              </a:ext>
            </a:extLst>
          </p:cNvPr>
          <p:cNvSpPr>
            <a:spLocks noGrp="1"/>
          </p:cNvSpPr>
          <p:nvPr/>
        </p:nvSpPr>
        <p:spPr>
          <a:xfrm>
            <a:off x="609600" y="2857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63946"/>
                </a:solidFill>
                <a:latin typeface="PingFang TC"/>
                <a:ea typeface="PingFang TC"/>
                <a:cs typeface="PingFang TC"/>
              </a:rPr>
              <a:t>WEEK 4  /  從我的痛看產業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7ED7AA5C-1BBF-4A51-9587-BA5F6F04C78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34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接下來三週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698E7BB7-A40C-43D3-9FF0-18E046A8078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第一輪是個人研究：一個產業、三個機會、選一個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CDDA15AF-D83A-474D-A456-43204758A811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77B95A0A-8FD1-49B6-8553-75CAA5444E19}"/>
              </a:ext>
            </a:extLst>
          </p:cNvPr>
          <p:cNvSpPr>
            <a:spLocks noGrp="1"/>
          </p:cNvSpPr>
          <p:nvPr/>
        </p:nvSpPr>
        <p:spPr>
          <a:xfrm>
            <a:off x="609600" y="636270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l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Startup Journey Lab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9B45994A-9DF8-4526-9B16-24CAE03C38D1}"/>
              </a:ext>
            </a:extLst>
          </p:cNvPr>
          <p:cNvSpPr>
            <a:spLocks noGrp="1"/>
          </p:cNvSpPr>
          <p:nvPr/>
        </p:nvSpPr>
        <p:spPr>
          <a:xfrm>
            <a:off x="10477500" y="6362700"/>
            <a:ext cx="11049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r">
              <a:buNone/>
              <a:def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22 / 22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82371FE-697D-40E4-BB3A-4680C949211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solidFill>
            <a:srgbClr val="E63946"/>
          </a:solidFill>
          <a:ln w="9525">
            <a:solidFill>
              <a:srgbClr val="E63946"/>
            </a:solidFill>
          </a:ln>
        </p:spPr>
        <p:txBody>
          <a:bodyPr/>
          <a:p/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3C320CB9-C3AD-46D4-B730-D814052F3DBA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EF2220A-25C8-4436-884F-D94EFAE572B1}"/>
              </a:ext>
            </a:extLst>
          </p:cNvPr>
          <p:cNvSpPr>
            <a:spLocks noGrp="1"/>
          </p:cNvSpPr>
          <p:nvPr/>
        </p:nvSpPr>
        <p:spPr>
          <a:xfrm>
            <a:off x="1314450" y="2409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Week 5（10/30）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9C8C0427-9A41-4804-B115-6DB5C54BE26C}"/>
              </a:ext>
            </a:extLst>
          </p:cNvPr>
          <p:cNvSpPr>
            <a:spLocks noGrp="1"/>
          </p:cNvSpPr>
          <p:nvPr/>
        </p:nvSpPr>
        <p:spPr>
          <a:xfrm>
            <a:off x="4429125" y="2409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三個機會比一比：五問計分（各 0–2）、Gemini 反方、寫「為什麼這是好的商業痛點」。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A4D9B320-DC9A-4954-BCBD-D1A12EBEB5F1}"/>
              </a:ext>
            </a:extLst>
          </p:cNvPr>
          <p:cNvSpPr>
            <a:spLocks noGrp="1"/>
          </p:cNvSpPr>
          <p:nvPr/>
        </p:nvSpPr>
        <p:spPr>
          <a:xfrm>
            <a:off x="1314450" y="3019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EBF68F2A-63F8-4862-B27E-F8DF179D2DA6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solidFill>
            <a:srgbClr val="14395B"/>
          </a:solidFill>
          <a:ln w="9525">
            <a:solidFill>
              <a:srgbClr val="14395B"/>
            </a:solidFill>
          </a:ln>
        </p:spPr>
        <p:txBody>
          <a:bodyPr/>
          <a:p/>
        </p:txBody>
      </p:sp>
      <p:sp>
        <p:nvSpPr>
          <p:cNvPr id="14" name="">
            <a:extLst>
              <a:ext uri="{FF2B5EF4-FFF2-40B4-BE49-F238E27FC236}">
                <a16:creationId xmlns:a16="http://schemas.microsoft.com/office/drawing/2014/main" id="{E534EE12-5C89-491C-8932-2A672F3E98D7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5" name="">
            <a:extLst>
              <a:ext uri="{FF2B5EF4-FFF2-40B4-BE49-F238E27FC236}">
                <a16:creationId xmlns:a16="http://schemas.microsoft.com/office/drawing/2014/main" id="{AED1200E-7BE2-4DD2-ADA0-7D30E6B0981B}"/>
              </a:ext>
            </a:extLst>
          </p:cNvPr>
          <p:cNvSpPr>
            <a:spLocks noGrp="1"/>
          </p:cNvSpPr>
          <p:nvPr/>
        </p:nvSpPr>
        <p:spPr>
          <a:xfrm>
            <a:off x="1314450" y="33623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Week 6（11/6）</a:t>
            </a:r>
          </a:p>
        </p:txBody>
      </p:sp>
      <p:sp>
        <p:nvSpPr>
          <p:cNvPr id="16" name="">
            <a:extLst>
              <a:ext uri="{FF2B5EF4-FFF2-40B4-BE49-F238E27FC236}">
                <a16:creationId xmlns:a16="http://schemas.microsoft.com/office/drawing/2014/main" id="{F22A966B-DF26-4D7E-8ECC-14591A3B9F8E}"/>
              </a:ext>
            </a:extLst>
          </p:cNvPr>
          <p:cNvSpPr>
            <a:spLocks noGrp="1"/>
          </p:cNvSpPr>
          <p:nvPr/>
        </p:nvSpPr>
        <p:spPr>
          <a:xfrm>
            <a:off x="4429125" y="33623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AI 新創現況（老師講）：誰在做什麼、錢往哪流、台灣的位置。課堂兩題照常。</a:t>
            </a:r>
          </a:p>
        </p:txBody>
      </p:sp>
      <p:sp>
        <p:nvSpPr>
          <p:cNvPr id="17" name="">
            <a:extLst>
              <a:ext uri="{FF2B5EF4-FFF2-40B4-BE49-F238E27FC236}">
                <a16:creationId xmlns:a16="http://schemas.microsoft.com/office/drawing/2014/main" id="{4347ED41-C791-4EE4-9C69-652BD9AC2DE6}"/>
              </a:ext>
            </a:extLst>
          </p:cNvPr>
          <p:cNvSpPr>
            <a:spLocks noGrp="1"/>
          </p:cNvSpPr>
          <p:nvPr/>
        </p:nvSpPr>
        <p:spPr>
          <a:xfrm>
            <a:off x="1314450" y="39719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18" name="">
            <a:extLst>
              <a:ext uri="{FF2B5EF4-FFF2-40B4-BE49-F238E27FC236}">
                <a16:creationId xmlns:a16="http://schemas.microsoft.com/office/drawing/2014/main" id="{3B36BABB-0E6E-4648-BB95-CCB3E591DDF3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solidFill>
            <a:srgbClr val="C99827"/>
          </a:solidFill>
          <a:ln w="9525">
            <a:solidFill>
              <a:srgbClr val="C99827"/>
            </a:solidFill>
          </a:ln>
        </p:spPr>
        <p:txBody>
          <a:bodyPr/>
          <a:p/>
        </p:txBody>
      </p:sp>
      <p:sp>
        <p:nvSpPr>
          <p:cNvPr id="19" name="">
            <a:extLst>
              <a:ext uri="{FF2B5EF4-FFF2-40B4-BE49-F238E27FC236}">
                <a16:creationId xmlns:a16="http://schemas.microsoft.com/office/drawing/2014/main" id="{CA631708-CE6D-42BC-B460-B476022771E7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0" name="">
            <a:extLst>
              <a:ext uri="{FF2B5EF4-FFF2-40B4-BE49-F238E27FC236}">
                <a16:creationId xmlns:a16="http://schemas.microsoft.com/office/drawing/2014/main" id="{C7AE9068-2762-4A03-A15E-EE94A7A0CDF0}"/>
              </a:ext>
            </a:extLst>
          </p:cNvPr>
          <p:cNvSpPr>
            <a:spLocks noGrp="1"/>
          </p:cNvSpPr>
          <p:nvPr/>
        </p:nvSpPr>
        <p:spPr>
          <a:xfrm>
            <a:off x="1314450" y="4314825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436"/>
          </a:bodyPr>
          <a:lstStyle/>
          <a:p>
            <a:pPr algn="l">
              <a:buNone/>
              <a:def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950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Week 7（11/13）</a:t>
            </a:r>
          </a:p>
        </p:txBody>
      </p:sp>
      <p:sp>
        <p:nvSpPr>
          <p:cNvPr id="21" name="">
            <a:extLst>
              <a:ext uri="{FF2B5EF4-FFF2-40B4-BE49-F238E27FC236}">
                <a16:creationId xmlns:a16="http://schemas.microsoft.com/office/drawing/2014/main" id="{5BD73FAB-8CB1-41D3-B640-715FEE6AF17E}"/>
              </a:ext>
            </a:extLst>
          </p:cNvPr>
          <p:cNvSpPr>
            <a:spLocks noGrp="1"/>
          </p:cNvSpPr>
          <p:nvPr/>
        </p:nvSpPr>
        <p:spPr>
          <a:xfrm>
            <a:off x="4429125" y="4314825"/>
            <a:ext cx="69532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626262"/>
                </a:solidFill>
                <a:latin typeface="PingFang TC"/>
                <a:ea typeface="PingFang TC"/>
                <a:cs typeface="PingFang TC"/>
              </a:rPr>
              <a:t>期中：個人報告上台＋課前上傳 PDF。期中 PDF＝Week 4 筆記＋Week 5 那一頁。</a:t>
            </a:r>
          </a:p>
        </p:txBody>
      </p:sp>
      <p:sp>
        <p:nvSpPr>
          <p:cNvPr id="22" name="">
            <a:extLst>
              <a:ext uri="{FF2B5EF4-FFF2-40B4-BE49-F238E27FC236}">
                <a16:creationId xmlns:a16="http://schemas.microsoft.com/office/drawing/2014/main" id="{8FA808F9-3FCE-4AFA-B8B7-2FF36A31D8F6}"/>
              </a:ext>
            </a:extLst>
          </p:cNvPr>
          <p:cNvSpPr>
            <a:spLocks noGrp="1"/>
          </p:cNvSpPr>
          <p:nvPr/>
        </p:nvSpPr>
        <p:spPr>
          <a:xfrm>
            <a:off x="1314450" y="4924425"/>
            <a:ext cx="10267950" cy="19050"/>
          </a:xfrm>
          <a:prstGeom prst="rect">
            <a:avLst/>
          </a:prstGeom>
          <a:solidFill>
            <a:srgbClr val="D6D0C7"/>
          </a:solidFill>
          <a:ln w="9525">
            <a:solidFill>
              <a:srgbClr val="D6D0C7"/>
            </a:solidFill>
          </a:ln>
        </p:spPr>
        <p:txBody>
          <a:bodyPr/>
          <a:p/>
        </p:txBody>
      </p:sp>
      <p:sp>
        <p:nvSpPr>
          <p:cNvPr id="23" name="">
            <a:extLst>
              <a:ext uri="{FF2B5EF4-FFF2-40B4-BE49-F238E27FC236}">
                <a16:creationId xmlns:a16="http://schemas.microsoft.com/office/drawing/2014/main" id="{52391823-4577-41D5-B5F1-22EFE691E292}"/>
              </a:ext>
            </a:extLst>
          </p:cNvPr>
          <p:cNvSpPr>
            <a:spLocks noGrp="1"/>
          </p:cNvSpPr>
          <p:nvPr/>
        </p:nvSpPr>
        <p:spPr>
          <a:xfrm>
            <a:off x="609600" y="55721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00000"/>
          </a:bodyPr>
          <a:lstStyle/>
          <a:p>
            <a:pPr algn="l">
              <a:buNone/>
              <a:def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21212"/>
                </a:solidFill>
                <a:latin typeface="PingFang TC"/>
                <a:ea typeface="PingFang TC"/>
                <a:cs typeface="PingFang TC"/>
              </a:rPr>
              <a:t>評分原則：AI 的回答不是成績。期中看三件事——每個主張有沒有來源、錢流有沒有具體的付費者和金額、三個機會有沒有說出第一個付錢的人。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2026-09-28T13:12:49.7880000Z</dcterms:created>
  <dcterms:modified xsi:type="dcterms:W3CDTF">2026-09-28T13:12:49.7880000Z</dcterms:modified>
</coreProperties>
</file>