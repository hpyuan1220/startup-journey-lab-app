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  <p:sldId xmlns:ns0="http://schemas.openxmlformats.org/officeDocument/2006/relationships" id="297" ns0:id="rId47"/>
    <p:sldId xmlns:ns0="http://schemas.openxmlformats.org/officeDocument/2006/relationships" id="298" ns0:id="rId48"/>
    <p:sldId xmlns:ns0="http://schemas.openxmlformats.org/officeDocument/2006/relationships" id="299" ns0:id="rId49"/>
    <p:sldId xmlns:ns0="http://schemas.openxmlformats.org/officeDocument/2006/relationships" id="300" ns0:id="rId50"/>
    <p:sldId xmlns:ns0="http://schemas.openxmlformats.org/officeDocument/2006/relationships" id="301" ns0:id="rId51"/>
    <p:sldId xmlns:ns0="http://schemas.openxmlformats.org/officeDocument/2006/relationships" id="302" ns0:id="rId52"/>
    <p:sldId xmlns:ns0="http://schemas.openxmlformats.org/officeDocument/2006/relationships" id="303" ns0:id="rId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23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從我的痛看產業：挑戰與機會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把 Week 3 驗證過的痛翻到業者那一面，找出三個有人付錢的機會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本週：課堂兩題＋選產業線＋三張問 AI 卡；課後研究筆記 v1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先回顧：三次訪談後，你的痛怎麼了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3 的判斷是今天的起點，不是成績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成立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對方說得出上一次、代價、現在的做法。今天把它翻到業者那一面。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部分成立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遇過，但卡的點跟你想的不同。用受訪者說的那個點往下走。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不成立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沒人說得出上一次。不是失敗：訪談經驗跟著你，今天選產業線時直接換。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一句話把它寫成：〔誰〕在〔什麼時候〕因為〔什麼〕而〔付出什麼代價〕。這一句會自動帶進今天每一個 prompt。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每人一條產業線、三張有來源的卡；下週拿三個機會來比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張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卡：錢流 → 查證 → 機會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在研究頁最上面。上課時段內存檔＝出席；可以按「讓 AI 評我的答案」，選填、不計分。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選一條產業線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依你的普查題號把最相關的兩張排前面；九張都可選，也可以自己填一個。選完按存。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三張問 AI 卡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一種形狀到處重複：一句要問什麼 → 按鈕複製問題、開工具 → 貼回 → 標來源。老師看來源比例。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先講為什麼，再動手：選線、問 AI、查證、要機會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0–35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回顧與講義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0–10 回顧 Week 3 判斷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10–35 講義五頁：為什麼從個人痛開始、怎麼變產業痛、研究怎麼做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35–50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選線＋兩題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35–45 選一條產業線、存檔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45–50 課堂兩題（出席）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50–100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與卡 2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50–75 卡 1 問 AI：錢流與困難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75–100 卡 2 NotebookLM 查證（老師帶著做一次）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與課後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100–115 卡 3 要三個機會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115–120 課後任務：補來源、研究筆記 v1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整頁一直開著、沒有截止；每個欄位只記你實際存檔的時間（課中／課後）。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一、為什麼新事業從一個個人痛開始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1 頁；每個主張後面都有出處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Graham：點子是注意到的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「找點子的方法不是坐下來想點子。」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最好的題目從自己的經驗長出來。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Bhidé：七成來自親身經驗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 Inc. 500 的 100 位創辦人：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約七成點子來自前一份工作碰到的問題。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Shane：知識走廊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同一項 MIT 專利，八個團隊看到八種機會。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先備知識決定你看得見什麼。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對你的意義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1 記原句、時間地點，是在找你走廊裡的題目：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你排隊的那家店、你打工的那間店。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二、為什麼先弄具體、先去問人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2 頁：Week 2–3 的四個依據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Blank：大樓裡沒有事實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Customer Development 第一條規則。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顧客探索、顧客驗證都在大樓外面。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Ries：先驗證問題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新創最大的風險不是做不出來，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是做出來沒人要。用實證衡量進展。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Christensen：JTBD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顧客是「雇用」產品來完成一件事。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奶昔的競爭對手是香蕉和貝果。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Fitzpatrick：The Mom Test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問過去的具體事，不問未來的意見。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「你會不會用？」沒有人會說不會。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三、同一件事翻過去看，就是產業痛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你手上的痛在使用者那一面；有人付錢的痛通常在業者那一面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學生那一面（你的痛）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午休只有 50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第一餐廳滷味攤排 20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三成人放棄不吃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改買便利商店、忍耐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老闆那一面（產業痛）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尖峰 40 分鐘要出 120 份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人請不到、留不住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外送平台抽三成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靠 LINE 群接預訂常漏單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後者才是老闆已經在花錢、花時間的地方。今天的三張卡都在問右邊這一欄。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三、把一個痛展開成一張產業地圖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3 頁：四個現成的框架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Porter：五力與價值鏈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問「這個痛沿路經過誰？」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誰供貨、誰競爭、誰替代、誰付錢。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Kim &amp; Mauborgne：六條路徑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替代產業、策略群、買方鏈、互補品、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功能／情感、時間趨勢。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Osterwalder：環境四區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市場力、產業力、趨勢、總體經濟用桌面研究填；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顧客的痛只能來自觀察與訪談。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Aulet：灘頭市場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列出所有有這個痛的族群，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選一個小而贏得了的區隔。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六條路徑：用排隊買餐走一次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課堂第二題就是要你挑一條路徑，說出你的痛可能屬於的另一個產業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替代產業：不來這裡吃的人去了哪裡？→ 便利商店、外送、自己帶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策略群：同一行裡誰做法不同？→ 連鎖 vs 攤商 vs 團膳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買方鏈：買的、用的、影響的各是誰？→ 學生用、家長給錢、學校招商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互補品：前後還需要什麼？→ 點餐系統、取餐櫃、外送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功能／情感：是功能需求還是感受？→ 吃飽 vs 跟朋友一起吃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時間趨勢：三年來什麼變了？→ 缺工、外送普及、AI 點餐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走完六條，你會得到六個它可能屬於的產業——這就是「選一條產業線」的來源。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四、研究怎麼做：兩個以上來源才算成立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4 頁：三角驗證與兩個工具的分工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Denzin：三角驗證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同一件事用兩個以上來源交叉檢驗：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訪談、公開資料、直接觀察三者之二。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說的不算來源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幫你找到的來源才算。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有數字 → 寫（來源：XX）或標「估計」。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發散：Gemini／GPT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快、廣、會舉例；但會編數字。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用在卡 1、卡 3。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收斂：NotebookLM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只根據你餵的來源回答、每句有引用。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用在卡 2。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6" name="">
            <a:extLst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來源有五層，每一層至少一個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1、2 層講多大往哪走；3 層講最近什麼變了；4、5 層講老闆和客人自己怎麼說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noGrp="1"/>
          </p:cNvSpPr>
          <p:nvPr/>
        </p:nvSpPr>
        <p:spPr>
          <a:xfrm>
            <a:off x="704850" y="23431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noGrp="1"/>
          </p:cNvSpPr>
          <p:nvPr/>
        </p:nvSpPr>
        <p:spPr>
          <a:xfrm>
            <a:off x="1314450" y="23241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政府統計、公會報告：主計總處、經濟部統計處、勞動部——最可信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noGrp="1"/>
          </p:cNvSpPr>
          <p:nvPr/>
        </p:nvSpPr>
        <p:spPr>
          <a:xfrm>
            <a:off x="1314450" y="292417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noGrp="1"/>
          </p:cNvSpPr>
          <p:nvPr/>
        </p:nvSpPr>
        <p:spPr>
          <a:xfrm>
            <a:off x="704850" y="307657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noGrp="1"/>
          </p:cNvSpPr>
          <p:nvPr/>
        </p:nvSpPr>
        <p:spPr>
          <a:xfrm>
            <a:off x="1314450" y="305752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產業研究報告：資策會 MIC、商研院、數位時代——可信，看出資者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noGrp="1"/>
          </p:cNvSpPr>
          <p:nvPr/>
        </p:nvSpPr>
        <p:spPr>
          <a:xfrm>
            <a:off x="1314450" y="365760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noGrp="1"/>
          </p:cNvSpPr>
          <p:nvPr/>
        </p:nvSpPr>
        <p:spPr>
          <a:xfrm>
            <a:off x="704850" y="38100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noGrp="1"/>
          </p:cNvSpPr>
          <p:nvPr/>
        </p:nvSpPr>
        <p:spPr>
          <a:xfrm>
            <a:off x="1314450" y="379095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近一年新聞：搜「產業名＋2026」——看它引用了誰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noGrp="1"/>
          </p:cNvSpPr>
          <p:nvPr/>
        </p:nvSpPr>
        <p:spPr>
          <a:xfrm>
            <a:off x="1314450" y="439102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noGrp="1"/>
          </p:cNvSpPr>
          <p:nvPr/>
        </p:nvSpPr>
        <p:spPr>
          <a:xfrm>
            <a:off x="1314450" y="452437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業者訪談影片、Podcast：搜「老闆 訪談 產業名」——原話，樣本小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noGrp="1"/>
          </p:cNvSpPr>
          <p:nvPr/>
        </p:nvSpPr>
        <p:spPr>
          <a:xfrm>
            <a:off x="1314450" y="512445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noGrp="1"/>
          </p:cNvSpPr>
          <p:nvPr/>
        </p:nvSpPr>
        <p:spPr>
          <a:xfrm>
            <a:off x="704850" y="52768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noGrp="1"/>
          </p:cNvSpPr>
          <p:nvPr/>
        </p:nvSpPr>
        <p:spPr>
          <a:xfrm>
            <a:off x="1314450" y="52578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論壇抱怨文：PTT、Dcard、Google 評論——可信度低，但痛最真實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九張產業卡：都是有人在付錢的線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依你 Week 3 普查的題號把最相關的兩張排前面；九張都可選，也可以自己填一個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 餐飲小店　　2 零工與臨時人力　　3 網拍與小品牌電商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4 旅宿與空間出租　　5 健身與運動服務　　6 在地小型服務業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7 長照與銀髮服務（家屬端）　　8 寵物服務　　9 二手與租借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選的標準只有兩條：這條線上已經有人在付錢；你接觸得到業者或客人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原題在不可用名單（早八、記帳、抽菸場所、個人搶票）的同學直接改選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3 的訪談經驗跟著你過去，不用重做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選完按「存」。課後還可以改，但出席只看課堂兩題。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課堂兩題：上課時段內答完＝出席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在研究頁最上面；上課日 13:30–18:00 內存檔才算課中，之後補答算課後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Bhidé 訪談 Inc. 500 創辦人，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發現大多數點子從哪來？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一句話說這跟你 Week 1 的起點卡有什麼關係。（講義第 1 頁）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用六條路徑裡的任何一條，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說出你的痛可能屬於的另一個產業。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一句話就好。（講義第 3 頁的表）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答完可按「讓 AI 評我的答案」，貼回一句評語——選填、不計分。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卡怎麼用：按鈕做兩件事，你做三件事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三張卡都一樣。按鈕只會「複製問題＋開工具」，貼上、送出、貼回是你自己的動作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按按鈕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問題已複製到剪貼簿，AI 工具自動打開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Gemini／Copilot 打開是空的——正常；ChatGPT／Claude 會自動帶入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⌘V 貼上、送出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在工具的輸入框按 ⌘V（Windows：Ctrl+V）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手機：長按輸入框 → 貼上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貼回 app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把回答貼回卡片下面的框，選來源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有數字的句子寫出處或「估計」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問 AI：這一行的錢流與困難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按「複製問題、開我的 AI 工具」，貼上送出；Gemini、ChatGPT、Claude、Copilot 都行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問題長這樣（app 已填好，不用打字）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〔產業〕顧問，我觀察到〔那一句〕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(1) 誰付錢給誰、多久、多少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(2) 業者最常說的三到五個困難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(3) 現在用什麼撐著、花多少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追問一次（也是 ⌘V 貼上）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哪一個困難是業者最常花錢想解決的？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數字寫出處或標「估計」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貼回卡 1，來源選「Gemini 說」或「GPT 說」。先存，再做卡 2。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2 NotebookLM 查證：老師帶著做一次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這張卡只能用 NotebookLM；每一點後面留（來源：XX）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新建筆記本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notebooklm.google.com → 新建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取名「〔產業〕研究」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加 5–8 個來源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五層各至少一個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貼網址、上傳 PDF、貼 YouTube 都行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貼六題、要引用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按鈕複製六題 → 在對話框 ⌘V 貼上，一題一題問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沒引用＝回去補來源，不是抄下來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 的六題階梯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從大到小、從現況到變化；答案貼回卡 2 時每點留（來源：XX）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① 這一行在台灣有多大？多少家、多少人、多少錢？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② 誰在賺錢？錢從誰手上流到誰手上？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③ 業者最常被抱怨、自己最常抱怨的三件事？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④ 過去三年什麼變了？（缺工、平台、法規、AI）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⑤ 有人試過解決嗎？結果如何？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⑥ 台灣跟國外差在哪？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六題都有引用，卡 2 才算完成；卡 3 會自動把這些證據附在問題後面。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問 AI：要三個機會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會把卡 2 有來源的困難自動附在問題後面；沒做卡 2 會被擋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18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問題長這樣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根據以下有來源的困難，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列三個適合小團隊切入的機會。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每個機會要寫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解誰的哪個困難？第一個會付錢的人是誰？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現在他付錢給誰？</a:t>
            </a:r>
          </a:p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為什麼是現在（AI、法規、行為改變）？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按鈕複製「問題＋卡 2 證據」→ 到工具 ⌘V 貼上、送出。不要給「做 App」的答案，除非說得出第一個付錢的人。A／B／C 各一行貼回。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說 vs NotebookLM 查到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貼回 app 時一定要標來源；老師看的是來源比例，不是 AI 寫得多漂亮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19 / 23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Gemini／GPT 說（發散）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快、廣、會舉例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會編數字、把猜測講得很肯定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用在卡 1、卡 3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有數字 → 寫出處或標「估計」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NotebookLM 查到（有引用）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只根據你餵的來源回答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每句點得回原文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用在卡 2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沒餵來源就沒答案，慢但不編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一條有來源的證據，勝過十句 AI。期中看的是：每個主張有沒有來源。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一個好機會要答得出四個問題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下週（Week 5）五問計分就從這四格開始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解誰的哪個困難？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例：早餐店老闆尖峰漏單，不是「餐飲業數位轉型」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第一個會付錢的人是誰？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例：三家分店以上的早餐店老闆，不是「所有餐飲業者」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現在他付錢給誰？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例：LINE 群免費＋一個人工接單的工讀生；外送平台抽三成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為什麼是現在？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例：缺工、外送普及、AI 語音接單今年變便宜——三者之一要說得出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v1（五段）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研究頁上線前用 Word 範本寫；上線後直接貼進去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21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產業一句話　② 錢流：誰付錢給誰、多少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③ 三個挑戰（附來源）　④ 三個機會 A／B／C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⑤ 我還不確定的事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期中 PDF ＝ Week 4 筆記 ＋ Week 5 一頁「為什麼這是好的商業痛點」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11/13 期中：個人上台＋課前上傳 PDF。本週先把三個機會和來源寫出來，下週比較、選一個。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全部在研究頁上；整頁一直開著，沒做完的課後補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22 / 23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課堂兩題已存（上課時段內＝出席）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選了一條產業線並存檔；原題不可用的已改選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貼回：錢流、三到五個困難、現在怎麼撐著；來源標 Gemini／GPT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2 貼回：六題都有（來源：XX）；NotebookLM 筆記本留著，下週還要用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貼回：三個機會 A／B／C，各寫得出第一個付錢的人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有數字的句子後面都有出處或「估計」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v1 五段；下週帶三個機會來比。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接下來三週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第一輪是個人研究：一個產業、三個機會、選一個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23 / 23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5（10/30）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三個機會比一比：五問計分（各 0–2）、Gemini 反方、寫「為什麼這是好的商業痛點」。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6（11/6）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新創現況（老師講）：誰在做什麼、錢往哪流、台灣的位置。課堂兩題照常。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7（11/13）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期中：個人報告上台＋課前上傳 PDF。期中 PDF＝Week 4 筆記＋Week 5 那一頁。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評分原則：AI 的回答不是成績。期中看三件事——每個主張有沒有來源、錢流有沒有具體的付費者和金額、三個機會有沒有說出第一個付錢的人。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